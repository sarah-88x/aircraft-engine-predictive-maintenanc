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TITLE SLIDE (Easy Speaking Notes)</a:t>
            </a:r>
          </a:p>
          <a:p>
            <a:r>
              <a:t>• Hello everyone. Today I will present our Big Data project: Aircraft Engine Health Monitoring and Predictive Maintenance.</a:t>
            </a:r>
          </a:p>
          <a:p>
            <a:r>
              <a:t>• The main idea of this project is to monitor aircraft engine sensors, predict how many flights an engine has left before it needs maintenance, and send early alerts.</a:t>
            </a:r>
          </a:p>
          <a:p>
            <a:r>
              <a:t>• We built an end-to-end pipeline using NASA engine data, Apache Spark, Kafka, HDFS, Airflow, ClickHouse, and Superset.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PROBLEM STATEMENT (Easy Speaking Notes)</a:t>
            </a:r>
          </a:p>
          <a:p>
            <a:r>
              <a:t>• Why is this problem important? First, unexpected engine failures are dangerous and cause expensive flight delays.</a:t>
            </a:r>
          </a:p>
          <a:p>
            <a:r>
              <a:t>• Second, airlines face a cost trap: if they wait for a part to break, repairs are very expensive. If they replace parts on a fixed schedule, they throw away healthy parts too early.</a:t>
            </a:r>
          </a:p>
          <a:p>
            <a:r>
              <a:t>• Third, why is this a Big Data problem? Because aircraft sensors record 50 measurements every second, creating millions of rows and gigabytes of data that crash normal single-machine tools.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OBJECTIVES &amp; PROPOSED SOLUTION (Easy Speaking Notes)</a:t>
            </a:r>
          </a:p>
          <a:p>
            <a:r>
              <a:t>• Our solution predicts RUL, which stands for Remaining Useful Life. Importantly, RUL is an estimate of how many operating cycles remain before maintenance is needed—it is not a guaranteed failure date.</a:t>
            </a:r>
          </a:p>
          <a:p>
            <a:r>
              <a:t>• As you can see in the chart on the right, as the engine flies more cycles, its RUL goes down. Once RUL drops below 15 cycles, our system raises a red critical alert.</a:t>
            </a:r>
          </a:p>
          <a:p>
            <a:r>
              <a:t>• Our four objectives were: converting HDF5 data safely to Parquet, building both batch and streaming pipelines, training ML models in Spark MLlib, and showing the results in Superset.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SYSTEM ARCHITECTURE (Easy Speaking Notes)</a:t>
            </a:r>
          </a:p>
          <a:p>
            <a:r>
              <a:t>• This diagram shows how data moves through our system from left to right.</a:t>
            </a:r>
          </a:p>
          <a:p>
            <a:r>
              <a:t>• On the left, we start with NASA HDF5 files and convert them into Parquet format.</a:t>
            </a:r>
          </a:p>
          <a:p>
            <a:r>
              <a:t>• In the top blue path (Batch), we upload Parquet files to HDFS, run a Spark Batch summary job, and train our machine learning model in Spark MLlib.</a:t>
            </a:r>
          </a:p>
          <a:p>
            <a:r>
              <a:t>• In the bottom orange path (Streaming), a Python producer replays sensor data into Kafka. Spark Structured Streaming reads from Kafka, filters out bad messages into an HDFS quarantine folder, and calculates 30-second window averages.</a:t>
            </a:r>
          </a:p>
          <a:p>
            <a:r>
              <a:t>• On the right, both paths save their results into ClickHouse, which powers our Apache Superset dashboard.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DATASET AND DATA PREPARATION (Easy Speaking Notes)</a:t>
            </a:r>
          </a:p>
          <a:p>
            <a:r>
              <a:t>• We have two NASA N-CMAPSS files in our project: DS01-005 (2.68 GB, 7.64M rows) and DS03-012 (3.44 GB, 9.82M rows, where A_dev has 5,571,277 rows and 4 columns).</a:t>
            </a:r>
          </a:p>
          <a:p>
            <a:r>
              <a:t>• Each file contains 50 columns covering engine ID, flight cycle, operating conditions like altitude and speed, physical temperatures and pressures, and the target RUL column.</a:t>
            </a:r>
          </a:p>
          <a:p>
            <a:r>
              <a:t>• Why did we convert HDF5 to Parquet? Because Spark reads Parquet much faster, and Snappy compression reduces the file size. We convert the data in chunks of 50,000 rows so our computer memory never crashes.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DATA INGESTION: BATCH VS. STREAMING (Easy Speaking Notes)</a:t>
            </a:r>
          </a:p>
          <a:p>
            <a:r>
              <a:t>• We have two ways to bring data into our system: Batch and Streaming.</a:t>
            </a:r>
          </a:p>
          <a:p>
            <a:r>
              <a:t>• Batch ingestion uploads full Parquet files into HDFS so Spark can train machine learning models on complete flight histories.</a:t>
            </a:r>
          </a:p>
          <a:p>
            <a:r>
              <a:t>• Streaming ingestion uses `producer.py` to replay historical records into Apache Kafka at 200 messages per second. To be accurate, this is replayed historical data, not live telemetry from a flying aircraft.</a:t>
            </a:r>
          </a:p>
          <a:p>
            <a:r>
              <a:t>• On the right, our live Kafka UI screenshot proves that `engine-telemetry` received 41,010 messages (59 MB), `engine-health-results` has 60 window summaries, and `maintenance-alerts` captured 47 critical alerts.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BIG DATA PROCESSING AND STORAGE (Easy Speaking Notes)</a:t>
            </a:r>
          </a:p>
          <a:p>
            <a:r>
              <a:t>• Here we explain WHY we chose each processing and storage tool.</a:t>
            </a:r>
          </a:p>
          <a:p>
            <a:r>
              <a:t>• First, Apache Spark: we use it because one single engine can do batch summaries, real-time stream windows, and machine learning in memory.</a:t>
            </a:r>
          </a:p>
          <a:p>
            <a:r>
              <a:t>• Second, Hadoop HDFS: it gives us shared storage for Parquet data, checkpoints, and our trained ML model.</a:t>
            </a:r>
          </a:p>
          <a:p>
            <a:r>
              <a:t>• Third, Parquet: it is a columnar format that compresses data and lets Spark read only the columns it needs.</a:t>
            </a:r>
          </a:p>
          <a:p>
            <a:r>
              <a:t>• Fourth, ClickHouse: we used ClickHouse instead of PostgreSQL for the serving layer because it runs analytical dashboard queries on 600,000 rows in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WORKFLOW ORCHESTRATION (Easy Speaking Notes)</a:t>
            </a:r>
          </a:p>
          <a:p>
            <a:r>
              <a:t>• Instead of running Python scripts manually one by one, we used Apache Airflow to automate all 10 steps.</a:t>
            </a:r>
          </a:p>
          <a:p>
            <a:r>
              <a:t>• Why Airflow? Because it guarantees that each step only starts after the previous step succeeds, and it automatically retries if a task has a temporary delay.</a:t>
            </a:r>
          </a:p>
          <a:p>
            <a:r>
              <a:t>• Our Airflow logs show 16 pipeline runs. Multiple runs passed all 10 steps completely. In the most recent run on October 23, Steps 1 through 9 passed, and Step 10 showed a small Docker network name difference between Swarm mode and Compose mode.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MACHINE LEARNING AND RUL PREDICTION (Easy Speaking Notes)</a:t>
            </a:r>
          </a:p>
          <a:p>
            <a:r>
              <a:t>• To predict RUL fairly, we split the engines by Unit ID so readings from the same engine never mix between training and testing. Engines 2, 3, 4, and 5 were used for training, Engine 1 for validation, and Engine 6 for testing.</a:t>
            </a:r>
          </a:p>
          <a:p>
            <a:r>
              <a:t>• We trained three models in Spark MLlib using 44 numeric sensor features: Linear Regression, Random Forest, and GBT.</a:t>
            </a:r>
          </a:p>
          <a:p>
            <a:r>
              <a:t>• Random Forest won with the lowest validation RMSE of 7.94 cycles and an R² score of 92.6%.</a:t>
            </a:r>
          </a:p>
          <a:p>
            <a:r>
              <a:t>• On unseen Engine 6, Random Forest achieved an RMSE of 6.36 and R² of 94.5%. And when tested on the full 2.73 million rows of `test.parquet` (Engines 7 to 10), it achieved an RMSE of 7.51 and R² of 90.6%, clearly identifying Engine 10 as the most urgent engine needing maintenance.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RESULTS AND DASHBOARD (Easy Speaking Notes)</a:t>
            </a:r>
          </a:p>
          <a:p>
            <a:r>
              <a:t>• On the left, we show two real screenshots from our running Apache Superset dashboard on port 8088.</a:t>
            </a:r>
          </a:p>
          <a:p>
            <a:r>
              <a:t>• The top screenshot shows the average RUL for Engines 1 to 6 and the RUL degradation curve for Engine 10.</a:t>
            </a:r>
          </a:p>
          <a:p>
            <a:r>
              <a:t>• The bottom screenshot shows live T30 temperature readings, the Top At-Risk Engines table, and 15 active critical maintenance alerts.</a:t>
            </a:r>
          </a:p>
          <a:p>
            <a:r>
              <a:t>• On the right, we queried ClickHouse directly to verify the exact row counts: 600,000 rows in `engine_rul_predictions`, 12 rows in `engine_batch_summary`, 57 streaming window rows, and 15 critical alerts.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DEPLOYMENT, TESTING, AND LIMITATIONS (Easy Speaking Notes)</a:t>
            </a:r>
          </a:p>
          <a:p>
            <a:r>
              <a:t>• For deployment, we wrote a 3-node Docker Swarm configuration (`docker-stack-swarm.yml`) designed to connect 3 machines over Tailscale VPN.</a:t>
            </a:r>
          </a:p>
          <a:p>
            <a:r>
              <a:t>• Being 100% honest about our live status today: we are running on 1 local Docker Desktop machine with Tailscale stopped, and all 11 containers are running and healthy using Docker Compose.</a:t>
            </a:r>
          </a:p>
          <a:p>
            <a:r>
              <a:t>• On the right, we have automated GitHub Actions CI and 4 unit tests in `pytest` that verify our Parquet converter, JSON schema, anti-leakage split, and Dead-Letter Queue.</a:t>
            </a:r>
          </a:p>
          <a:p>
            <a:r>
              <a:t>• Finally, we list our 4 current limitations: using a 10% training sample and 50K ClickHouse batch size to save laptop RAM, the Step 10 network name difference, DS03 waiting to be added to the default DAG run, and using historical replay instead of a live aircraft.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CONCLUSION AND FUTURE WORK (Easy Speaking Notes)</a:t>
            </a:r>
          </a:p>
          <a:p>
            <a:r>
              <a:t>• In conclusion, we built and verified a complete Big Data pipeline for aircraft engine predictive maintenance.</a:t>
            </a:r>
          </a:p>
          <a:p>
            <a:r>
              <a:t>• We converted 17.46 million rows of NASA data into Parquet, trained a Random Forest model in Spark MLlib that achieved 94.5% R² on an unseen engine and 90.6% R² on 2.73 million test rows, tested Kafka and Spark Streaming with Dead-Letter Queue protection, and displayed the results in ClickHouse and Superset.</a:t>
            </a:r>
          </a:p>
          <a:p>
            <a:r>
              <a:t>• For future work, we plan to combine DS01 and DS03 in the DAG, run the ML model directly inside the live Spark stream, and fix the Step 10 network name check.</a:t>
            </a:r>
          </a:p>
          <a:p>
            <a:r>
              <a:t>• Thank you for listening, and I am happy to answer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502920"/>
            <a:ext cx="3931920" cy="310896"/>
          </a:xfrm>
          <a:prstGeom prst="roundRect">
            <a:avLst>
              <a:gd name="adj" fmla="val 2500"/>
            </a:avLst>
          </a:prstGeom>
          <a:solidFill>
            <a:srgbClr val="162440"/>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02920"/>
            <a:ext cx="3931920" cy="310896"/>
          </a:xfrm>
          <a:prstGeom prst="rect">
            <a:avLst/>
          </a:prstGeom>
          <a:noFill/>
        </p:spPr>
        <p:txBody>
          <a:bodyPr wrap="square" anchor="ctr" lIns="45720" rIns="45720" tIns="27432" bIns="27432">
            <a:spAutoFit/>
          </a:bodyPr>
          <a:lstStyle/>
          <a:p>
            <a:pPr algn="ctr"/>
            <a:r>
              <a:rPr sz="950" b="1" i="0">
                <a:solidFill>
                  <a:srgbClr val="00D4FF"/>
                </a:solidFill>
                <a:latin typeface="Segoe UI"/>
              </a:rPr>
              <a:t>BIG DATA ENGINEERING &amp; PREDICTIVE ANALYTICS</a:t>
            </a:r>
          </a:p>
        </p:txBody>
      </p:sp>
      <p:sp>
        <p:nvSpPr>
          <p:cNvPr id="5" name="TextBox 4"/>
          <p:cNvSpPr txBox="1"/>
          <p:nvPr/>
        </p:nvSpPr>
        <p:spPr>
          <a:xfrm>
            <a:off x="530352" y="960120"/>
            <a:ext cx="6766560" cy="1828800"/>
          </a:xfrm>
          <a:prstGeom prst="rect">
            <a:avLst/>
          </a:prstGeom>
          <a:noFill/>
        </p:spPr>
        <p:txBody>
          <a:bodyPr wrap="square" anchor="t" lIns="45720" rIns="45720" tIns="27432" bIns="27432">
            <a:spAutoFit/>
          </a:bodyPr>
          <a:lstStyle/>
          <a:p>
            <a:pPr algn="l"/>
            <a:r>
              <a:rPr sz="3400" b="1" i="0">
                <a:solidFill>
                  <a:srgbClr val="FFFFFF"/>
                </a:solidFill>
                <a:latin typeface="Segoe UI"/>
              </a:rPr>
              <a:t>Aircraft Engine Health
Monitoring &amp; Predictive
Maintenance</a:t>
            </a:r>
          </a:p>
        </p:txBody>
      </p:sp>
      <p:sp>
        <p:nvSpPr>
          <p:cNvPr id="6" name="TextBox 5"/>
          <p:cNvSpPr txBox="1"/>
          <p:nvPr/>
        </p:nvSpPr>
        <p:spPr>
          <a:xfrm>
            <a:off x="548640" y="2606040"/>
            <a:ext cx="6675120" cy="685800"/>
          </a:xfrm>
          <a:prstGeom prst="rect">
            <a:avLst/>
          </a:prstGeom>
          <a:noFill/>
        </p:spPr>
        <p:txBody>
          <a:bodyPr wrap="square" anchor="t" lIns="45720" rIns="45720" tIns="27432" bIns="27432">
            <a:spAutoFit/>
          </a:bodyPr>
          <a:lstStyle/>
          <a:p>
            <a:pPr algn="l"/>
            <a:r>
              <a:rPr sz="1350" b="0" i="0">
                <a:solidFill>
                  <a:srgbClr val="00D4FF"/>
                </a:solidFill>
                <a:latin typeface="Segoe UI"/>
              </a:rPr>
              <a:t>An End-to-End Big Data Pipeline Using NASA N-CMAPSS, Apache Spark,
Kafka, HDFS, Airflow, MLlib, ClickHouse &amp; Apache Superset</a:t>
            </a:r>
          </a:p>
        </p:txBody>
      </p:sp>
      <p:sp>
        <p:nvSpPr>
          <p:cNvPr id="7" name="Rounded Rectangle 6"/>
          <p:cNvSpPr/>
          <p:nvPr/>
        </p:nvSpPr>
        <p:spPr>
          <a:xfrm>
            <a:off x="548640" y="3493008"/>
            <a:ext cx="6720840" cy="1965960"/>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3493008"/>
            <a:ext cx="672084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547872"/>
            <a:ext cx="6720840"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3566160"/>
            <a:ext cx="6464807" cy="292608"/>
          </a:xfrm>
          <a:prstGeom prst="rect">
            <a:avLst/>
          </a:prstGeom>
          <a:noFill/>
        </p:spPr>
        <p:txBody>
          <a:bodyPr wrap="square" anchor="ctr" lIns="45720" rIns="45720" tIns="27432" bIns="27432">
            <a:spAutoFit/>
          </a:bodyPr>
          <a:lstStyle/>
          <a:p>
            <a:pPr algn="l"/>
            <a:r>
              <a:rPr sz="1150" b="1" i="0">
                <a:solidFill>
                  <a:srgbClr val="FFFFFF"/>
                </a:solidFill>
                <a:latin typeface="Segoe UI"/>
              </a:rPr>
              <a:t>WHAT THIS PROJECT DOES (SYSTEM SUMMARY)</a:t>
            </a:r>
          </a:p>
        </p:txBody>
      </p:sp>
      <p:sp>
        <p:nvSpPr>
          <p:cNvPr id="11" name="TextBox 10"/>
          <p:cNvSpPr txBox="1"/>
          <p:nvPr/>
        </p:nvSpPr>
        <p:spPr>
          <a:xfrm>
            <a:off x="685800" y="3950208"/>
            <a:ext cx="6446520" cy="1417320"/>
          </a:xfrm>
          <a:prstGeom prst="rect">
            <a:avLst/>
          </a:prstGeom>
          <a:noFill/>
        </p:spPr>
        <p:txBody>
          <a:bodyPr wrap="square" lIns="54864" rIns="54864" tIns="36576" bIns="36576">
            <a:spAutoFit/>
          </a:bodyPr>
          <a:lstStyle/>
          <a:p>
            <a:pPr algn="l">
              <a:spcAft>
                <a:spcPts val="600"/>
              </a:spcAft>
            </a:pPr>
            <a:r>
              <a:rPr sz="1150" b="1">
                <a:solidFill>
                  <a:srgbClr val="00D4FF"/>
                </a:solidFill>
                <a:latin typeface="Segoe UI"/>
              </a:rPr>
              <a:t>▸ </a:t>
            </a:r>
            <a:r>
              <a:rPr sz="1150" b="1">
                <a:solidFill>
                  <a:srgbClr val="FFFFFF"/>
                </a:solidFill>
                <a:latin typeface="Segoe UI"/>
              </a:rPr>
              <a:t>Goal: </a:t>
            </a:r>
            <a:r>
              <a:rPr sz="1100" b="0">
                <a:solidFill>
                  <a:srgbClr val="E2E8F0"/>
                </a:solidFill>
                <a:latin typeface="Segoe UI"/>
              </a:rPr>
              <a:t>Predict engine Remaining Useful Life (RUL) and detect high-temperature faults early.</a:t>
            </a:r>
          </a:p>
          <a:p>
            <a:pPr algn="l">
              <a:spcAft>
                <a:spcPts val="600"/>
              </a:spcAft>
            </a:pPr>
            <a:r>
              <a:rPr sz="1150" b="1">
                <a:solidFill>
                  <a:srgbClr val="00D4FF"/>
                </a:solidFill>
                <a:latin typeface="Segoe UI"/>
              </a:rPr>
              <a:t>▸ </a:t>
            </a:r>
            <a:r>
              <a:rPr sz="1150" b="1">
                <a:solidFill>
                  <a:srgbClr val="FFFFFF"/>
                </a:solidFill>
                <a:latin typeface="Segoe UI"/>
              </a:rPr>
              <a:t>Data Source: </a:t>
            </a:r>
            <a:r>
              <a:rPr sz="1100" b="0">
                <a:solidFill>
                  <a:srgbClr val="E2E8F0"/>
                </a:solidFill>
                <a:latin typeface="Segoe UI"/>
              </a:rPr>
              <a:t>NASA N-CMAPSS turbofan engine sensor data (17.46 million rows / 6.12 GB).</a:t>
            </a:r>
          </a:p>
          <a:p>
            <a:pPr algn="l">
              <a:spcAft>
                <a:spcPts val="600"/>
              </a:spcAft>
            </a:pPr>
            <a:r>
              <a:rPr sz="1150" b="1">
                <a:solidFill>
                  <a:srgbClr val="00D4FF"/>
                </a:solidFill>
                <a:latin typeface="Segoe UI"/>
              </a:rPr>
              <a:t>▸ </a:t>
            </a:r>
            <a:r>
              <a:rPr sz="1150" b="1">
                <a:solidFill>
                  <a:srgbClr val="FFFFFF"/>
                </a:solidFill>
                <a:latin typeface="Segoe UI"/>
              </a:rPr>
              <a:t>Two Processing Paths: </a:t>
            </a:r>
            <a:r>
              <a:rPr sz="1100" b="0">
                <a:solidFill>
                  <a:srgbClr val="E2E8F0"/>
                </a:solidFill>
                <a:latin typeface="Segoe UI"/>
              </a:rPr>
              <a:t>Historical Batch processing (HDFS + Spark) and Streaming replay (Kafka).</a:t>
            </a:r>
          </a:p>
          <a:p>
            <a:pPr algn="l">
              <a:spcAft>
                <a:spcPts val="600"/>
              </a:spcAft>
            </a:pPr>
            <a:r>
              <a:rPr sz="1150" b="1">
                <a:solidFill>
                  <a:srgbClr val="00D4FF"/>
                </a:solidFill>
                <a:latin typeface="Segoe UI"/>
              </a:rPr>
              <a:t>▸ </a:t>
            </a:r>
            <a:r>
              <a:rPr sz="1150" b="1">
                <a:solidFill>
                  <a:srgbClr val="FFFFFF"/>
                </a:solidFill>
                <a:latin typeface="Segoe UI"/>
              </a:rPr>
              <a:t>Final Output: </a:t>
            </a:r>
            <a:r>
              <a:rPr sz="1100" b="0">
                <a:solidFill>
                  <a:srgbClr val="E2E8F0"/>
                </a:solidFill>
                <a:latin typeface="Segoe UI"/>
              </a:rPr>
              <a:t>Machine learning predictions and real-time alerts in ClickHouse and Superset.</a:t>
            </a:r>
          </a:p>
        </p:txBody>
      </p:sp>
      <p:sp>
        <p:nvSpPr>
          <p:cNvPr id="12" name="Rounded Rectangle 11"/>
          <p:cNvSpPr/>
          <p:nvPr/>
        </p:nvSpPr>
        <p:spPr>
          <a:xfrm>
            <a:off x="7498079" y="502920"/>
            <a:ext cx="4251960" cy="3337560"/>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98079" y="502920"/>
            <a:ext cx="4251960"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98079" y="557784"/>
            <a:ext cx="4251960"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6096" y="576072"/>
            <a:ext cx="3995928" cy="292608"/>
          </a:xfrm>
          <a:prstGeom prst="rect">
            <a:avLst/>
          </a:prstGeom>
          <a:noFill/>
        </p:spPr>
        <p:txBody>
          <a:bodyPr wrap="square" anchor="ctr" lIns="45720" rIns="45720" tIns="27432" bIns="27432">
            <a:spAutoFit/>
          </a:bodyPr>
          <a:lstStyle/>
          <a:p>
            <a:pPr algn="l"/>
            <a:r>
              <a:rPr sz="1150" b="1" i="0">
                <a:solidFill>
                  <a:srgbClr val="FFFFFF"/>
                </a:solidFill>
                <a:latin typeface="Segoe UI"/>
              </a:rPr>
              <a:t>LIVE DASHBOARD PREVIEW (APACHE SUPERSET)</a:t>
            </a:r>
          </a:p>
        </p:txBody>
      </p:sp>
      <p:pic>
        <p:nvPicPr>
          <p:cNvPr id="16" name="Picture 15" descr="superset_top.png"/>
          <p:cNvPicPr>
            <a:picLocks noChangeAspect="1"/>
          </p:cNvPicPr>
          <p:nvPr/>
        </p:nvPicPr>
        <p:blipFill>
          <a:blip r:embed="rId2"/>
          <a:stretch>
            <a:fillRect/>
          </a:stretch>
        </p:blipFill>
        <p:spPr>
          <a:xfrm>
            <a:off x="7607808" y="960120"/>
            <a:ext cx="4032504" cy="1898112"/>
          </a:xfrm>
          <a:prstGeom prst="rect">
            <a:avLst/>
          </a:prstGeom>
        </p:spPr>
      </p:pic>
      <p:sp>
        <p:nvSpPr>
          <p:cNvPr id="17" name="Rounded Rectangle 16"/>
          <p:cNvSpPr/>
          <p:nvPr/>
        </p:nvSpPr>
        <p:spPr>
          <a:xfrm>
            <a:off x="7498079" y="3950208"/>
            <a:ext cx="4251960" cy="1508760"/>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98079" y="3950208"/>
            <a:ext cx="425196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98079" y="4005072"/>
            <a:ext cx="4251960"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4023360"/>
            <a:ext cx="3995928" cy="292608"/>
          </a:xfrm>
          <a:prstGeom prst="rect">
            <a:avLst/>
          </a:prstGeom>
          <a:noFill/>
        </p:spPr>
        <p:txBody>
          <a:bodyPr wrap="square" anchor="ctr" lIns="45720" rIns="45720" tIns="27432" bIns="27432">
            <a:spAutoFit/>
          </a:bodyPr>
          <a:lstStyle/>
          <a:p>
            <a:pPr algn="l"/>
            <a:r>
              <a:rPr sz="1150" b="1" i="0">
                <a:solidFill>
                  <a:srgbClr val="FFFFFF"/>
                </a:solidFill>
                <a:latin typeface="Segoe UI"/>
              </a:rPr>
              <a:t>KEY TECHNICAL FEATURES</a:t>
            </a:r>
          </a:p>
        </p:txBody>
      </p:sp>
      <p:sp>
        <p:nvSpPr>
          <p:cNvPr id="21" name="TextBox 20"/>
          <p:cNvSpPr txBox="1"/>
          <p:nvPr/>
        </p:nvSpPr>
        <p:spPr>
          <a:xfrm>
            <a:off x="7607808" y="4389120"/>
            <a:ext cx="4069080" cy="1005840"/>
          </a:xfrm>
          <a:prstGeom prst="rect">
            <a:avLst/>
          </a:prstGeom>
          <a:noFill/>
        </p:spPr>
        <p:txBody>
          <a:bodyPr wrap="square" lIns="54864" rIns="54864" tIns="36576" bIns="36576">
            <a:spAutoFit/>
          </a:bodyPr>
          <a:lstStyle/>
          <a:p>
            <a:pPr algn="l">
              <a:spcAft>
                <a:spcPts val="400"/>
              </a:spcAft>
            </a:pPr>
            <a:r>
              <a:rPr sz="1050" b="1">
                <a:solidFill>
                  <a:srgbClr val="00D4FF"/>
                </a:solidFill>
                <a:latin typeface="Segoe UI"/>
              </a:rPr>
              <a:t>▸ </a:t>
            </a:r>
            <a:r>
              <a:rPr sz="1050" b="1">
                <a:solidFill>
                  <a:srgbClr val="FFFFFF"/>
                </a:solidFill>
                <a:latin typeface="Segoe UI"/>
              </a:rPr>
              <a:t>Batch + Streaming: </a:t>
            </a:r>
            <a:r>
              <a:rPr sz="1000" b="0">
                <a:solidFill>
                  <a:srgbClr val="E2E8F0"/>
                </a:solidFill>
                <a:latin typeface="Segoe UI"/>
              </a:rPr>
              <a:t>Combines full history analysis with fast stream monitoring.</a:t>
            </a:r>
          </a:p>
          <a:p>
            <a:pPr algn="l">
              <a:spcAft>
                <a:spcPts val="400"/>
              </a:spcAft>
            </a:pPr>
            <a:r>
              <a:rPr sz="1050" b="1">
                <a:solidFill>
                  <a:srgbClr val="00D4FF"/>
                </a:solidFill>
                <a:latin typeface="Segoe UI"/>
              </a:rPr>
              <a:t>▸ </a:t>
            </a:r>
            <a:r>
              <a:rPr sz="1050" b="1">
                <a:solidFill>
                  <a:srgbClr val="FFFFFF"/>
                </a:solidFill>
                <a:latin typeface="Segoe UI"/>
              </a:rPr>
              <a:t>No Data Leakage: </a:t>
            </a:r>
            <a:r>
              <a:rPr sz="1000" b="0">
                <a:solidFill>
                  <a:srgbClr val="E2E8F0"/>
                </a:solidFill>
                <a:latin typeface="Segoe UI"/>
              </a:rPr>
              <a:t>Splits training and testing data by engine ID.</a:t>
            </a:r>
          </a:p>
          <a:p>
            <a:pPr algn="l">
              <a:spcAft>
                <a:spcPts val="400"/>
              </a:spcAft>
            </a:pPr>
            <a:r>
              <a:rPr sz="1050" b="1">
                <a:solidFill>
                  <a:srgbClr val="00D4FF"/>
                </a:solidFill>
                <a:latin typeface="Segoe UI"/>
              </a:rPr>
              <a:t>▸ </a:t>
            </a:r>
            <a:r>
              <a:rPr sz="1050" b="1">
                <a:solidFill>
                  <a:srgbClr val="FFFFFF"/>
                </a:solidFill>
                <a:latin typeface="Segoe UI"/>
              </a:rPr>
              <a:t>Docker Containers: </a:t>
            </a:r>
            <a:r>
              <a:rPr sz="1000" b="0">
                <a:solidFill>
                  <a:srgbClr val="E2E8F0"/>
                </a:solidFill>
                <a:latin typeface="Segoe UI"/>
              </a:rPr>
              <a:t>All 11 services run in isolated Docker containers.</a:t>
            </a:r>
          </a:p>
        </p:txBody>
      </p:sp>
      <p:sp>
        <p:nvSpPr>
          <p:cNvPr id="22" name="Rounded Rectangle 21"/>
          <p:cNvSpPr/>
          <p:nvPr/>
        </p:nvSpPr>
        <p:spPr>
          <a:xfrm>
            <a:off x="548640" y="5596128"/>
            <a:ext cx="2697480" cy="841248"/>
          </a:xfrm>
          <a:prstGeom prst="roundRect">
            <a:avLst>
              <a:gd name="adj" fmla="val 2500"/>
            </a:avLst>
          </a:prstGeom>
          <a:solidFill>
            <a:srgbClr val="111C33"/>
          </a:solidFill>
          <a:ln w="1524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5596128"/>
            <a:ext cx="73152" cy="841248"/>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4944" y="5669280"/>
            <a:ext cx="2478024" cy="384048"/>
          </a:xfrm>
          <a:prstGeom prst="rect">
            <a:avLst/>
          </a:prstGeom>
          <a:noFill/>
        </p:spPr>
        <p:txBody>
          <a:bodyPr wrap="square" anchor="t" lIns="45720" rIns="45720" tIns="27432" bIns="27432">
            <a:spAutoFit/>
          </a:bodyPr>
          <a:lstStyle/>
          <a:p>
            <a:pPr algn="l"/>
            <a:r>
              <a:rPr sz="2000" b="1" i="0">
                <a:solidFill>
                  <a:srgbClr val="00D4FF"/>
                </a:solidFill>
                <a:latin typeface="Segoe UI"/>
              </a:rPr>
              <a:t>17.46M Rows</a:t>
            </a:r>
          </a:p>
        </p:txBody>
      </p:sp>
      <p:sp>
        <p:nvSpPr>
          <p:cNvPr id="25" name="TextBox 24"/>
          <p:cNvSpPr txBox="1"/>
          <p:nvPr/>
        </p:nvSpPr>
        <p:spPr>
          <a:xfrm>
            <a:off x="694944" y="6035040"/>
            <a:ext cx="2478024" cy="237744"/>
          </a:xfrm>
          <a:prstGeom prst="rect">
            <a:avLst/>
          </a:prstGeom>
          <a:noFill/>
        </p:spPr>
        <p:txBody>
          <a:bodyPr wrap="square" anchor="t" lIns="45720" rIns="45720" tIns="27432" bIns="27432">
            <a:spAutoFit/>
          </a:bodyPr>
          <a:lstStyle/>
          <a:p>
            <a:pPr algn="l"/>
            <a:r>
              <a:rPr sz="1050" b="1" i="0">
                <a:solidFill>
                  <a:srgbClr val="FFFFFF"/>
                </a:solidFill>
                <a:latin typeface="Segoe UI"/>
              </a:rPr>
              <a:t>NASA N-CMAPSS Data</a:t>
            </a:r>
          </a:p>
        </p:txBody>
      </p:sp>
      <p:sp>
        <p:nvSpPr>
          <p:cNvPr id="26" name="TextBox 25"/>
          <p:cNvSpPr txBox="1"/>
          <p:nvPr/>
        </p:nvSpPr>
        <p:spPr>
          <a:xfrm>
            <a:off x="694944" y="6254496"/>
            <a:ext cx="2478024" cy="146304"/>
          </a:xfrm>
          <a:prstGeom prst="rect">
            <a:avLst/>
          </a:prstGeom>
          <a:noFill/>
        </p:spPr>
        <p:txBody>
          <a:bodyPr wrap="square" anchor="t" lIns="45720" rIns="45720" tIns="27432" bIns="27432">
            <a:spAutoFit/>
          </a:bodyPr>
          <a:lstStyle/>
          <a:p>
            <a:pPr algn="l"/>
            <a:r>
              <a:rPr sz="880" b="0" i="0">
                <a:solidFill>
                  <a:srgbClr val="94A3B8"/>
                </a:solidFill>
                <a:latin typeface="Segoe UI"/>
              </a:rPr>
              <a:t>DS01 (7.64M) &amp; DS03 (9.82M)</a:t>
            </a:r>
          </a:p>
        </p:txBody>
      </p:sp>
      <p:sp>
        <p:nvSpPr>
          <p:cNvPr id="27" name="Rounded Rectangle 26"/>
          <p:cNvSpPr/>
          <p:nvPr/>
        </p:nvSpPr>
        <p:spPr>
          <a:xfrm>
            <a:off x="3401568" y="5596128"/>
            <a:ext cx="2697480" cy="841248"/>
          </a:xfrm>
          <a:prstGeom prst="roundRect">
            <a:avLst>
              <a:gd name="adj" fmla="val 2500"/>
            </a:avLst>
          </a:prstGeom>
          <a:solidFill>
            <a:srgbClr val="111C33"/>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401568" y="5596128"/>
            <a:ext cx="73152" cy="84124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47872" y="5669280"/>
            <a:ext cx="2478024" cy="384048"/>
          </a:xfrm>
          <a:prstGeom prst="rect">
            <a:avLst/>
          </a:prstGeom>
          <a:noFill/>
        </p:spPr>
        <p:txBody>
          <a:bodyPr wrap="square" anchor="t" lIns="45720" rIns="45720" tIns="27432" bIns="27432">
            <a:spAutoFit/>
          </a:bodyPr>
          <a:lstStyle/>
          <a:p>
            <a:pPr algn="l"/>
            <a:r>
              <a:rPr sz="2000" b="1" i="0">
                <a:solidFill>
                  <a:srgbClr val="10B981"/>
                </a:solidFill>
                <a:latin typeface="Segoe UI"/>
              </a:rPr>
              <a:t>RMSE: 6.36</a:t>
            </a:r>
          </a:p>
        </p:txBody>
      </p:sp>
      <p:sp>
        <p:nvSpPr>
          <p:cNvPr id="30" name="TextBox 29"/>
          <p:cNvSpPr txBox="1"/>
          <p:nvPr/>
        </p:nvSpPr>
        <p:spPr>
          <a:xfrm>
            <a:off x="3547872" y="6035040"/>
            <a:ext cx="2478024" cy="237744"/>
          </a:xfrm>
          <a:prstGeom prst="rect">
            <a:avLst/>
          </a:prstGeom>
          <a:noFill/>
        </p:spPr>
        <p:txBody>
          <a:bodyPr wrap="square" anchor="t" lIns="45720" rIns="45720" tIns="27432" bIns="27432">
            <a:spAutoFit/>
          </a:bodyPr>
          <a:lstStyle/>
          <a:p>
            <a:pPr algn="l"/>
            <a:r>
              <a:rPr sz="1050" b="1" i="0">
                <a:solidFill>
                  <a:srgbClr val="FFFFFF"/>
                </a:solidFill>
                <a:latin typeface="Segoe UI"/>
              </a:rPr>
              <a:t>Random Forest Model</a:t>
            </a:r>
          </a:p>
        </p:txBody>
      </p:sp>
      <p:sp>
        <p:nvSpPr>
          <p:cNvPr id="31" name="TextBox 30"/>
          <p:cNvSpPr txBox="1"/>
          <p:nvPr/>
        </p:nvSpPr>
        <p:spPr>
          <a:xfrm>
            <a:off x="3547872" y="6254496"/>
            <a:ext cx="2478024" cy="146304"/>
          </a:xfrm>
          <a:prstGeom prst="rect">
            <a:avLst/>
          </a:prstGeom>
          <a:noFill/>
        </p:spPr>
        <p:txBody>
          <a:bodyPr wrap="square" anchor="t" lIns="45720" rIns="45720" tIns="27432" bIns="27432">
            <a:spAutoFit/>
          </a:bodyPr>
          <a:lstStyle/>
          <a:p>
            <a:pPr algn="l"/>
            <a:r>
              <a:rPr sz="880" b="0" i="0">
                <a:solidFill>
                  <a:srgbClr val="94A3B8"/>
                </a:solidFill>
                <a:latin typeface="Segoe UI"/>
              </a:rPr>
              <a:t>R² = 0.945 on Unseen Engine</a:t>
            </a:r>
          </a:p>
        </p:txBody>
      </p:sp>
      <p:sp>
        <p:nvSpPr>
          <p:cNvPr id="32" name="Rounded Rectangle 31"/>
          <p:cNvSpPr/>
          <p:nvPr/>
        </p:nvSpPr>
        <p:spPr>
          <a:xfrm>
            <a:off x="6254496" y="5596128"/>
            <a:ext cx="2697480" cy="841248"/>
          </a:xfrm>
          <a:prstGeom prst="roundRect">
            <a:avLst>
              <a:gd name="adj" fmla="val 2500"/>
            </a:avLst>
          </a:prstGeom>
          <a:solidFill>
            <a:srgbClr val="111C33"/>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54496" y="5596128"/>
            <a:ext cx="73152" cy="84124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5669280"/>
            <a:ext cx="2478024" cy="384048"/>
          </a:xfrm>
          <a:prstGeom prst="rect">
            <a:avLst/>
          </a:prstGeom>
          <a:noFill/>
        </p:spPr>
        <p:txBody>
          <a:bodyPr wrap="square" anchor="t" lIns="45720" rIns="45720" tIns="27432" bIns="27432">
            <a:spAutoFit/>
          </a:bodyPr>
          <a:lstStyle/>
          <a:p>
            <a:pPr algn="l"/>
            <a:r>
              <a:rPr sz="2000" b="1" i="0">
                <a:solidFill>
                  <a:srgbClr val="3B82F6"/>
                </a:solidFill>
                <a:latin typeface="Segoe UI"/>
              </a:rPr>
              <a:t>10-Task DAG</a:t>
            </a:r>
          </a:p>
        </p:txBody>
      </p:sp>
      <p:sp>
        <p:nvSpPr>
          <p:cNvPr id="35" name="TextBox 34"/>
          <p:cNvSpPr txBox="1"/>
          <p:nvPr/>
        </p:nvSpPr>
        <p:spPr>
          <a:xfrm>
            <a:off x="6400800" y="6035040"/>
            <a:ext cx="2478024" cy="237744"/>
          </a:xfrm>
          <a:prstGeom prst="rect">
            <a:avLst/>
          </a:prstGeom>
          <a:noFill/>
        </p:spPr>
        <p:txBody>
          <a:bodyPr wrap="square" anchor="t" lIns="45720" rIns="45720" tIns="27432" bIns="27432">
            <a:spAutoFit/>
          </a:bodyPr>
          <a:lstStyle/>
          <a:p>
            <a:pPr algn="l"/>
            <a:r>
              <a:rPr sz="1050" b="1" i="0">
                <a:solidFill>
                  <a:srgbClr val="FFFFFF"/>
                </a:solidFill>
                <a:latin typeface="Segoe UI"/>
              </a:rPr>
              <a:t>Apache Airflow</a:t>
            </a:r>
          </a:p>
        </p:txBody>
      </p:sp>
      <p:sp>
        <p:nvSpPr>
          <p:cNvPr id="36" name="TextBox 35"/>
          <p:cNvSpPr txBox="1"/>
          <p:nvPr/>
        </p:nvSpPr>
        <p:spPr>
          <a:xfrm>
            <a:off x="6400800" y="6254496"/>
            <a:ext cx="2478024" cy="146304"/>
          </a:xfrm>
          <a:prstGeom prst="rect">
            <a:avLst/>
          </a:prstGeom>
          <a:noFill/>
        </p:spPr>
        <p:txBody>
          <a:bodyPr wrap="square" anchor="t" lIns="45720" rIns="45720" tIns="27432" bIns="27432">
            <a:spAutoFit/>
          </a:bodyPr>
          <a:lstStyle/>
          <a:p>
            <a:pPr algn="l"/>
            <a:r>
              <a:rPr sz="880" b="0" i="0">
                <a:solidFill>
                  <a:srgbClr val="94A3B8"/>
                </a:solidFill>
                <a:latin typeface="Segoe UI"/>
              </a:rPr>
              <a:t>Automated Pipeline Steps</a:t>
            </a:r>
          </a:p>
        </p:txBody>
      </p:sp>
      <p:sp>
        <p:nvSpPr>
          <p:cNvPr id="37" name="Rounded Rectangle 36"/>
          <p:cNvSpPr/>
          <p:nvPr/>
        </p:nvSpPr>
        <p:spPr>
          <a:xfrm>
            <a:off x="9107424" y="5596128"/>
            <a:ext cx="2642616" cy="841248"/>
          </a:xfrm>
          <a:prstGeom prst="roundRect">
            <a:avLst>
              <a:gd name="adj" fmla="val 2500"/>
            </a:avLst>
          </a:prstGeom>
          <a:solidFill>
            <a:srgbClr val="111C33"/>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07424" y="5596128"/>
            <a:ext cx="73152" cy="84124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253728" y="5669280"/>
            <a:ext cx="2423160" cy="384048"/>
          </a:xfrm>
          <a:prstGeom prst="rect">
            <a:avLst/>
          </a:prstGeom>
          <a:noFill/>
        </p:spPr>
        <p:txBody>
          <a:bodyPr wrap="square" anchor="t" lIns="45720" rIns="45720" tIns="27432" bIns="27432">
            <a:spAutoFit/>
          </a:bodyPr>
          <a:lstStyle/>
          <a:p>
            <a:pPr algn="l"/>
            <a:r>
              <a:rPr sz="2000" b="1" i="0">
                <a:solidFill>
                  <a:srgbClr val="F59E0B"/>
                </a:solidFill>
                <a:latin typeface="Segoe UI"/>
              </a:rPr>
              <a:t>ClickHouse</a:t>
            </a:r>
          </a:p>
        </p:txBody>
      </p:sp>
      <p:sp>
        <p:nvSpPr>
          <p:cNvPr id="40" name="TextBox 39"/>
          <p:cNvSpPr txBox="1"/>
          <p:nvPr/>
        </p:nvSpPr>
        <p:spPr>
          <a:xfrm>
            <a:off x="9253728" y="6035040"/>
            <a:ext cx="2423160" cy="237744"/>
          </a:xfrm>
          <a:prstGeom prst="rect">
            <a:avLst/>
          </a:prstGeom>
          <a:noFill/>
        </p:spPr>
        <p:txBody>
          <a:bodyPr wrap="square" anchor="t" lIns="45720" rIns="45720" tIns="27432" bIns="27432">
            <a:spAutoFit/>
          </a:bodyPr>
          <a:lstStyle/>
          <a:p>
            <a:pPr algn="l"/>
            <a:r>
              <a:rPr sz="1050" b="1" i="0">
                <a:solidFill>
                  <a:srgbClr val="FFFFFF"/>
                </a:solidFill>
                <a:latin typeface="Segoe UI"/>
              </a:rPr>
              <a:t>Database &amp; Dashboard</a:t>
            </a:r>
          </a:p>
        </p:txBody>
      </p:sp>
      <p:sp>
        <p:nvSpPr>
          <p:cNvPr id="41" name="TextBox 40"/>
          <p:cNvSpPr txBox="1"/>
          <p:nvPr/>
        </p:nvSpPr>
        <p:spPr>
          <a:xfrm>
            <a:off x="9253728" y="6254496"/>
            <a:ext cx="2423160" cy="146304"/>
          </a:xfrm>
          <a:prstGeom prst="rect">
            <a:avLst/>
          </a:prstGeom>
          <a:noFill/>
        </p:spPr>
        <p:txBody>
          <a:bodyPr wrap="square" anchor="t" lIns="45720" rIns="45720" tIns="27432" bIns="27432">
            <a:spAutoFit/>
          </a:bodyPr>
          <a:lstStyle/>
          <a:p>
            <a:pPr algn="l"/>
            <a:r>
              <a:rPr sz="880" b="0" i="0">
                <a:solidFill>
                  <a:srgbClr val="94A3B8"/>
                </a:solidFill>
                <a:latin typeface="Segoe UI"/>
              </a:rPr>
              <a:t>600K Predictions &amp; Alerts</a:t>
            </a:r>
          </a:p>
        </p:txBody>
      </p:sp>
      <p:sp>
        <p:nvSpPr>
          <p:cNvPr id="42" name="Rectangle 41"/>
          <p:cNvSpPr/>
          <p:nvPr/>
        </p:nvSpPr>
        <p:spPr>
          <a:xfrm>
            <a:off x="0" y="6565392"/>
            <a:ext cx="12191695" cy="292608"/>
          </a:xfrm>
          <a:prstGeom prst="rect">
            <a:avLst/>
          </a:prstGeom>
          <a:solidFill>
            <a:srgbClr val="0D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6592824"/>
            <a:ext cx="11064240" cy="228600"/>
          </a:xfrm>
          <a:prstGeom prst="rect">
            <a:avLst/>
          </a:prstGeom>
          <a:noFill/>
        </p:spPr>
        <p:txBody>
          <a:bodyPr wrap="square" anchor="t" lIns="45720" rIns="45720" tIns="27432" bIns="27432">
            <a:spAutoFit/>
          </a:bodyPr>
          <a:lstStyle/>
          <a:p>
            <a:pPr algn="l"/>
            <a:r>
              <a:rPr sz="900" b="0" i="0">
                <a:solidFill>
                  <a:srgbClr val="94A3B8"/>
                </a:solidFill>
                <a:latin typeface="Segoe UI"/>
              </a:rPr>
              <a:t>Big Data Project Presentation  |  All numbers, charts, and screenshots are verified from the actual running system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12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877824"/>
          </a:xfrm>
          <a:prstGeom prst="rect">
            <a:avLst/>
          </a:prstGeom>
          <a:solidFill>
            <a:srgbClr val="0D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13716"/>
          </a:xfrm>
          <a:prstGeom prst="rect">
            <a:avLst/>
          </a:prstGeom>
          <a:solidFill>
            <a:srgbClr val="233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5448"/>
            <a:ext cx="2103120" cy="219456"/>
          </a:xfrm>
          <a:prstGeom prst="roundRect">
            <a:avLst>
              <a:gd name="adj" fmla="val 2500"/>
            </a:avLst>
          </a:prstGeom>
          <a:solidFill>
            <a:srgbClr val="162440"/>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55448"/>
            <a:ext cx="2103120" cy="219456"/>
          </a:xfrm>
          <a:prstGeom prst="rect">
            <a:avLst/>
          </a:prstGeom>
          <a:noFill/>
        </p:spPr>
        <p:txBody>
          <a:bodyPr wrap="square" anchor="ctr" lIns="45720" rIns="45720" tIns="27432" bIns="27432">
            <a:spAutoFit/>
          </a:bodyPr>
          <a:lstStyle/>
          <a:p>
            <a:pPr algn="ctr"/>
            <a:r>
              <a:rPr sz="850" b="1" i="0">
                <a:solidFill>
                  <a:srgbClr val="00D4FF"/>
                </a:solidFill>
                <a:latin typeface="Segoe UI"/>
              </a:rPr>
              <a:t>1. PROBLEM STATEMENT</a:t>
            </a:r>
          </a:p>
        </p:txBody>
      </p:sp>
      <p:sp>
        <p:nvSpPr>
          <p:cNvPr id="7" name="TextBox 6"/>
          <p:cNvSpPr txBox="1"/>
          <p:nvPr/>
        </p:nvSpPr>
        <p:spPr>
          <a:xfrm>
            <a:off x="384048" y="384048"/>
            <a:ext cx="9875520" cy="329184"/>
          </a:xfrm>
          <a:prstGeom prst="rect">
            <a:avLst/>
          </a:prstGeom>
          <a:noFill/>
        </p:spPr>
        <p:txBody>
          <a:bodyPr wrap="square" anchor="t" lIns="45720" rIns="45720" tIns="27432" bIns="27432">
            <a:spAutoFit/>
          </a:bodyPr>
          <a:lstStyle/>
          <a:p>
            <a:pPr algn="l"/>
            <a:r>
              <a:rPr sz="2000" b="1" i="0">
                <a:solidFill>
                  <a:srgbClr val="FFFFFF"/>
                </a:solidFill>
                <a:latin typeface="Segoe UI"/>
              </a:rPr>
              <a:t>Problem Statement: Why Aircraft Engine Monitoring Needs Big Data</a:t>
            </a:r>
          </a:p>
        </p:txBody>
      </p:sp>
      <p:sp>
        <p:nvSpPr>
          <p:cNvPr id="8" name="TextBox 7"/>
          <p:cNvSpPr txBox="1"/>
          <p:nvPr/>
        </p:nvSpPr>
        <p:spPr>
          <a:xfrm>
            <a:off x="384048" y="685800"/>
            <a:ext cx="10515600" cy="219456"/>
          </a:xfrm>
          <a:prstGeom prst="rect">
            <a:avLst/>
          </a:prstGeom>
          <a:noFill/>
        </p:spPr>
        <p:txBody>
          <a:bodyPr wrap="square" anchor="t" lIns="45720" rIns="45720" tIns="27432" bIns="27432">
            <a:spAutoFit/>
          </a:bodyPr>
          <a:lstStyle/>
          <a:p>
            <a:pPr algn="l"/>
            <a:r>
              <a:rPr sz="1100" b="0" i="0">
                <a:solidFill>
                  <a:srgbClr val="94A3B8"/>
                </a:solidFill>
                <a:latin typeface="Segoe UI"/>
              </a:rPr>
              <a:t>Understanding engine failures, maintenance costs, and the challenge of processing massive sensor data</a:t>
            </a:r>
          </a:p>
        </p:txBody>
      </p:sp>
      <p:sp>
        <p:nvSpPr>
          <p:cNvPr id="9" name="Rounded Rectangle 8"/>
          <p:cNvSpPr/>
          <p:nvPr/>
        </p:nvSpPr>
        <p:spPr>
          <a:xfrm>
            <a:off x="11109960" y="219456"/>
            <a:ext cx="685800" cy="384048"/>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09960" y="219456"/>
            <a:ext cx="685800" cy="384048"/>
          </a:xfrm>
          <a:prstGeom prst="rect">
            <a:avLst/>
          </a:prstGeom>
          <a:noFill/>
        </p:spPr>
        <p:txBody>
          <a:bodyPr wrap="square" anchor="ctr" lIns="45720" rIns="45720" tIns="27432" bIns="27432">
            <a:spAutoFit/>
          </a:bodyPr>
          <a:lstStyle/>
          <a:p>
            <a:pPr algn="ctr"/>
            <a:r>
              <a:rPr sz="1000" b="1" i="0">
                <a:solidFill>
                  <a:srgbClr val="00D4FF"/>
                </a:solidFill>
                <a:latin typeface="Segoe UI"/>
              </a:rPr>
              <a:t>02 / 12</a:t>
            </a:r>
          </a:p>
        </p:txBody>
      </p:sp>
      <p:sp>
        <p:nvSpPr>
          <p:cNvPr id="11" name="Rectangle 10"/>
          <p:cNvSpPr/>
          <p:nvPr/>
        </p:nvSpPr>
        <p:spPr>
          <a:xfrm>
            <a:off x="0" y="6510528"/>
            <a:ext cx="12191695" cy="347472"/>
          </a:xfrm>
          <a:prstGeom prst="rect">
            <a:avLst/>
          </a:prstGeom>
          <a:solidFill>
            <a:srgbClr val="0D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501384"/>
            <a:ext cx="12191695" cy="9144"/>
          </a:xfrm>
          <a:prstGeom prst="rect">
            <a:avLst/>
          </a:prstGeom>
          <a:solidFill>
            <a:srgbClr val="233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6547104"/>
            <a:ext cx="8046720" cy="237744"/>
          </a:xfrm>
          <a:prstGeom prst="rect">
            <a:avLst/>
          </a:prstGeom>
          <a:noFill/>
        </p:spPr>
        <p:txBody>
          <a:bodyPr wrap="square" anchor="t" lIns="45720" rIns="45720" tIns="27432" bIns="27432">
            <a:spAutoFit/>
          </a:bodyPr>
          <a:lstStyle/>
          <a:p>
            <a:pPr algn="l"/>
            <a:r>
              <a:rPr sz="850" b="0" i="0">
                <a:solidFill>
                  <a:srgbClr val="94A3B8"/>
                </a:solidFill>
                <a:latin typeface="Segoe UI"/>
              </a:rPr>
              <a:t>Source: NASA N-CMAPSS Dataset &amp; Verified Project Pipeline Logs</a:t>
            </a:r>
          </a:p>
        </p:txBody>
      </p:sp>
      <p:sp>
        <p:nvSpPr>
          <p:cNvPr id="14" name="TextBox 13"/>
          <p:cNvSpPr txBox="1"/>
          <p:nvPr/>
        </p:nvSpPr>
        <p:spPr>
          <a:xfrm>
            <a:off x="8503920" y="6547104"/>
            <a:ext cx="3291840" cy="237744"/>
          </a:xfrm>
          <a:prstGeom prst="rect">
            <a:avLst/>
          </a:prstGeom>
          <a:noFill/>
        </p:spPr>
        <p:txBody>
          <a:bodyPr wrap="square" anchor="t" lIns="45720" rIns="45720" tIns="27432" bIns="27432">
            <a:spAutoFit/>
          </a:bodyPr>
          <a:lstStyle/>
          <a:p>
            <a:pPr algn="r"/>
            <a:r>
              <a:rPr sz="850" b="0" i="0">
                <a:solidFill>
                  <a:srgbClr val="94A3B8"/>
                </a:solidFill>
                <a:latin typeface="Segoe UI"/>
              </a:rPr>
              <a:t>Aircraft Engine Predictive Maintenance | Big Data Project</a:t>
            </a:r>
          </a:p>
        </p:txBody>
      </p:sp>
      <p:sp>
        <p:nvSpPr>
          <p:cNvPr id="15" name="Rounded Rectangle 14"/>
          <p:cNvSpPr/>
          <p:nvPr/>
        </p:nvSpPr>
        <p:spPr>
          <a:xfrm>
            <a:off x="384048" y="1078992"/>
            <a:ext cx="3703320" cy="2514600"/>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4048" y="1078992"/>
            <a:ext cx="3703320" cy="54864"/>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4048" y="1133856"/>
            <a:ext cx="3703320"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2064" y="1152144"/>
            <a:ext cx="3447287" cy="292608"/>
          </a:xfrm>
          <a:prstGeom prst="rect">
            <a:avLst/>
          </a:prstGeom>
          <a:noFill/>
        </p:spPr>
        <p:txBody>
          <a:bodyPr wrap="square" anchor="ctr" lIns="45720" rIns="45720" tIns="27432" bIns="27432">
            <a:spAutoFit/>
          </a:bodyPr>
          <a:lstStyle/>
          <a:p>
            <a:pPr algn="l"/>
            <a:r>
              <a:rPr sz="1150" b="1" i="0">
                <a:solidFill>
                  <a:srgbClr val="FFFFFF"/>
                </a:solidFill>
                <a:latin typeface="Segoe UI"/>
              </a:rPr>
              <a:t>1. UNEXPECTED ENGINE FAILURES</a:t>
            </a:r>
          </a:p>
        </p:txBody>
      </p:sp>
      <p:sp>
        <p:nvSpPr>
          <p:cNvPr id="19" name="TextBox 18"/>
          <p:cNvSpPr txBox="1"/>
          <p:nvPr/>
        </p:nvSpPr>
        <p:spPr>
          <a:xfrm>
            <a:off x="493776" y="1536192"/>
            <a:ext cx="3474720" cy="1965960"/>
          </a:xfrm>
          <a:prstGeom prst="rect">
            <a:avLst/>
          </a:prstGeom>
          <a:noFill/>
        </p:spPr>
        <p:txBody>
          <a:bodyPr wrap="square" lIns="54864" rIns="54864" tIns="36576" bIns="36576">
            <a:spAutoFit/>
          </a:bodyPr>
          <a:lstStyle/>
          <a:p>
            <a:pPr algn="l">
              <a:spcAft>
                <a:spcPts val="600"/>
              </a:spcAft>
            </a:pPr>
            <a:r>
              <a:rPr sz="1100" b="1">
                <a:solidFill>
                  <a:srgbClr val="EF4444"/>
                </a:solidFill>
                <a:latin typeface="Segoe UI"/>
              </a:rPr>
              <a:t>▸ </a:t>
            </a:r>
            <a:r>
              <a:rPr sz="1100" b="1">
                <a:solidFill>
                  <a:srgbClr val="FFFFFF"/>
                </a:solidFill>
                <a:latin typeface="Segoe UI"/>
              </a:rPr>
              <a:t>Safety &amp; Flight Delays: </a:t>
            </a:r>
            <a:r>
              <a:rPr sz="1050" b="0">
                <a:solidFill>
                  <a:srgbClr val="E2E8F0"/>
                </a:solidFill>
                <a:latin typeface="Segoe UI"/>
              </a:rPr>
              <a:t>Sudden engine problems during operation cause major safety risks and costly flight cancellations.</a:t>
            </a:r>
          </a:p>
          <a:p>
            <a:pPr algn="l">
              <a:spcAft>
                <a:spcPts val="600"/>
              </a:spcAft>
            </a:pPr>
            <a:r>
              <a:rPr sz="1100" b="1">
                <a:solidFill>
                  <a:srgbClr val="EF4444"/>
                </a:solidFill>
                <a:latin typeface="Segoe UI"/>
              </a:rPr>
              <a:t>▸ </a:t>
            </a:r>
            <a:r>
              <a:rPr sz="1100" b="1">
                <a:solidFill>
                  <a:srgbClr val="FFFFFF"/>
                </a:solidFill>
                <a:latin typeface="Segoe UI"/>
              </a:rPr>
              <a:t>Different Flight Stress: </a:t>
            </a:r>
            <a:r>
              <a:rPr sz="1050" b="0">
                <a:solidFill>
                  <a:srgbClr val="E2E8F0"/>
                </a:solidFill>
                <a:latin typeface="Segoe UI"/>
              </a:rPr>
              <a:t>Every engine wears out at a different speed depending on altitude, speed, and weather.</a:t>
            </a:r>
          </a:p>
          <a:p>
            <a:pPr algn="l">
              <a:spcAft>
                <a:spcPts val="600"/>
              </a:spcAft>
            </a:pPr>
            <a:r>
              <a:rPr sz="1100" b="1">
                <a:solidFill>
                  <a:srgbClr val="EF4444"/>
                </a:solidFill>
                <a:latin typeface="Segoe UI"/>
              </a:rPr>
              <a:t>▸ </a:t>
            </a:r>
            <a:r>
              <a:rPr sz="1100" b="1">
                <a:solidFill>
                  <a:srgbClr val="FFFFFF"/>
                </a:solidFill>
                <a:latin typeface="Segoe UI"/>
              </a:rPr>
              <a:t>Early Warning Signs: </a:t>
            </a:r>
            <a:r>
              <a:rPr sz="1050" b="0">
                <a:solidFill>
                  <a:srgbClr val="E2E8F0"/>
                </a:solidFill>
                <a:latin typeface="Segoe UI"/>
              </a:rPr>
              <a:t>Small changes in temperature and pressure appear many flights before an engine actually fails.</a:t>
            </a:r>
          </a:p>
        </p:txBody>
      </p:sp>
      <p:sp>
        <p:nvSpPr>
          <p:cNvPr id="20" name="Rounded Rectangle 19"/>
          <p:cNvSpPr/>
          <p:nvPr/>
        </p:nvSpPr>
        <p:spPr>
          <a:xfrm>
            <a:off x="4242816" y="1078992"/>
            <a:ext cx="3703320" cy="2514600"/>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42816" y="1078992"/>
            <a:ext cx="370332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42816" y="1133856"/>
            <a:ext cx="3703320"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0831" y="1152144"/>
            <a:ext cx="3447287" cy="292608"/>
          </a:xfrm>
          <a:prstGeom prst="rect">
            <a:avLst/>
          </a:prstGeom>
          <a:noFill/>
        </p:spPr>
        <p:txBody>
          <a:bodyPr wrap="square" anchor="ctr" lIns="45720" rIns="45720" tIns="27432" bIns="27432">
            <a:spAutoFit/>
          </a:bodyPr>
          <a:lstStyle/>
          <a:p>
            <a:pPr algn="l"/>
            <a:r>
              <a:rPr sz="1150" b="1" i="0">
                <a:solidFill>
                  <a:srgbClr val="FFFFFF"/>
                </a:solidFill>
                <a:latin typeface="Segoe UI"/>
              </a:rPr>
              <a:t>2. HIGH MAINTENANCE COSTS</a:t>
            </a:r>
          </a:p>
        </p:txBody>
      </p:sp>
      <p:sp>
        <p:nvSpPr>
          <p:cNvPr id="24" name="TextBox 23"/>
          <p:cNvSpPr txBox="1"/>
          <p:nvPr/>
        </p:nvSpPr>
        <p:spPr>
          <a:xfrm>
            <a:off x="4352544" y="1536192"/>
            <a:ext cx="3474720" cy="1965960"/>
          </a:xfrm>
          <a:prstGeom prst="rect">
            <a:avLst/>
          </a:prstGeom>
          <a:noFill/>
        </p:spPr>
        <p:txBody>
          <a:bodyPr wrap="square" lIns="54864" rIns="54864" tIns="36576" bIns="36576">
            <a:spAutoFit/>
          </a:bodyPr>
          <a:lstStyle/>
          <a:p>
            <a:pPr algn="l">
              <a:spcAft>
                <a:spcPts val="600"/>
              </a:spcAft>
            </a:pPr>
            <a:r>
              <a:rPr sz="1100" b="1">
                <a:solidFill>
                  <a:srgbClr val="F59E0B"/>
                </a:solidFill>
                <a:latin typeface="Segoe UI"/>
              </a:rPr>
              <a:t>▸ </a:t>
            </a:r>
            <a:r>
              <a:rPr sz="1100" b="1">
                <a:solidFill>
                  <a:srgbClr val="FFFFFF"/>
                </a:solidFill>
                <a:latin typeface="Segoe UI"/>
              </a:rPr>
              <a:t>Fixing Too Late (Reactive): </a:t>
            </a:r>
            <a:r>
              <a:rPr sz="1050" b="0">
                <a:solidFill>
                  <a:srgbClr val="E2E8F0"/>
                </a:solidFill>
                <a:latin typeface="Segoe UI"/>
              </a:rPr>
              <a:t>Waiting until a part breaks causes severe engine damage and expensive emergency repairs.</a:t>
            </a:r>
          </a:p>
          <a:p>
            <a:pPr algn="l">
              <a:spcAft>
                <a:spcPts val="600"/>
              </a:spcAft>
            </a:pPr>
            <a:r>
              <a:rPr sz="1100" b="1">
                <a:solidFill>
                  <a:srgbClr val="F59E0B"/>
                </a:solidFill>
                <a:latin typeface="Segoe UI"/>
              </a:rPr>
              <a:t>▸ </a:t>
            </a:r>
            <a:r>
              <a:rPr sz="1100" b="1">
                <a:solidFill>
                  <a:srgbClr val="FFFFFF"/>
                </a:solidFill>
                <a:latin typeface="Segoe UI"/>
              </a:rPr>
              <a:t>Fixing Too Early (Fixed Schedule): </a:t>
            </a:r>
            <a:r>
              <a:rPr sz="1050" b="0">
                <a:solidFill>
                  <a:srgbClr val="E2E8F0"/>
                </a:solidFill>
                <a:latin typeface="Segoe UI"/>
              </a:rPr>
              <a:t>Replacing parts on a fixed schedule wastes 20% to 40% of healthy engine life.</a:t>
            </a:r>
          </a:p>
          <a:p>
            <a:pPr algn="l">
              <a:spcAft>
                <a:spcPts val="600"/>
              </a:spcAft>
            </a:pPr>
            <a:r>
              <a:rPr sz="1100" b="1">
                <a:solidFill>
                  <a:srgbClr val="F59E0B"/>
                </a:solidFill>
                <a:latin typeface="Segoe UI"/>
              </a:rPr>
              <a:t>▸ </a:t>
            </a:r>
            <a:r>
              <a:rPr sz="1100" b="1">
                <a:solidFill>
                  <a:srgbClr val="FFFFFF"/>
                </a:solidFill>
                <a:latin typeface="Segoe UI"/>
              </a:rPr>
              <a:t>Smart Solution (Predictive): </a:t>
            </a:r>
            <a:r>
              <a:rPr sz="1050" b="0">
                <a:solidFill>
                  <a:srgbClr val="E2E8F0"/>
                </a:solidFill>
                <a:latin typeface="Segoe UI"/>
              </a:rPr>
              <a:t>We should perform maintenance based on the real condition of each engine.</a:t>
            </a:r>
          </a:p>
        </p:txBody>
      </p:sp>
      <p:sp>
        <p:nvSpPr>
          <p:cNvPr id="25" name="Rounded Rectangle 24"/>
          <p:cNvSpPr/>
          <p:nvPr/>
        </p:nvSpPr>
        <p:spPr>
          <a:xfrm>
            <a:off x="8101583" y="1078992"/>
            <a:ext cx="3703320" cy="2514600"/>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01583" y="1078992"/>
            <a:ext cx="3703320"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01583" y="1133856"/>
            <a:ext cx="3703320"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0" y="1152144"/>
            <a:ext cx="3447287" cy="292608"/>
          </a:xfrm>
          <a:prstGeom prst="rect">
            <a:avLst/>
          </a:prstGeom>
          <a:noFill/>
        </p:spPr>
        <p:txBody>
          <a:bodyPr wrap="square" anchor="ctr" lIns="45720" rIns="45720" tIns="27432" bIns="27432">
            <a:spAutoFit/>
          </a:bodyPr>
          <a:lstStyle/>
          <a:p>
            <a:pPr algn="l"/>
            <a:r>
              <a:rPr sz="1150" b="1" i="0">
                <a:solidFill>
                  <a:srgbClr val="FFFFFF"/>
                </a:solidFill>
                <a:latin typeface="Segoe UI"/>
              </a:rPr>
              <a:t>3. THE BIG DATA CHALLENGE</a:t>
            </a:r>
          </a:p>
        </p:txBody>
      </p:sp>
      <p:sp>
        <p:nvSpPr>
          <p:cNvPr id="29" name="TextBox 28"/>
          <p:cNvSpPr txBox="1"/>
          <p:nvPr/>
        </p:nvSpPr>
        <p:spPr>
          <a:xfrm>
            <a:off x="8211312" y="1536192"/>
            <a:ext cx="3474720" cy="1965960"/>
          </a:xfrm>
          <a:prstGeom prst="rect">
            <a:avLst/>
          </a:prstGeom>
          <a:noFill/>
        </p:spPr>
        <p:txBody>
          <a:bodyPr wrap="square" lIns="54864" rIns="54864" tIns="36576" bIns="36576">
            <a:spAutoFit/>
          </a:bodyPr>
          <a:lstStyle/>
          <a:p>
            <a:pPr algn="l">
              <a:spcAft>
                <a:spcPts val="600"/>
              </a:spcAft>
            </a:pPr>
            <a:r>
              <a:rPr sz="1100" b="1">
                <a:solidFill>
                  <a:srgbClr val="00D4FF"/>
                </a:solidFill>
                <a:latin typeface="Segoe UI"/>
              </a:rPr>
              <a:t>▸ </a:t>
            </a:r>
            <a:r>
              <a:rPr sz="1100" b="1">
                <a:solidFill>
                  <a:srgbClr val="FFFFFF"/>
                </a:solidFill>
                <a:latin typeface="Segoe UI"/>
              </a:rPr>
              <a:t>Huge Sensor Volume: </a:t>
            </a:r>
            <a:r>
              <a:rPr sz="1050" b="0">
                <a:solidFill>
                  <a:srgbClr val="E2E8F0"/>
                </a:solidFill>
                <a:latin typeface="Segoe UI"/>
              </a:rPr>
              <a:t>Engines record 50 values every second—creating 17.46 million rows (6.12 GB) in our dataset.</a:t>
            </a:r>
          </a:p>
          <a:p>
            <a:pPr algn="l">
              <a:spcAft>
                <a:spcPts val="600"/>
              </a:spcAft>
            </a:pPr>
            <a:r>
              <a:rPr sz="1100" b="1">
                <a:solidFill>
                  <a:srgbClr val="00D4FF"/>
                </a:solidFill>
                <a:latin typeface="Segoe UI"/>
              </a:rPr>
              <a:t>▸ </a:t>
            </a:r>
            <a:r>
              <a:rPr sz="1100" b="1">
                <a:solidFill>
                  <a:srgbClr val="FFFFFF"/>
                </a:solidFill>
                <a:latin typeface="Segoe UI"/>
              </a:rPr>
              <a:t>Memory Crashes (OOM): </a:t>
            </a:r>
            <a:r>
              <a:rPr sz="1050" b="0">
                <a:solidFill>
                  <a:srgbClr val="E2E8F0"/>
                </a:solidFill>
                <a:latin typeface="Segoe UI"/>
              </a:rPr>
              <a:t>Normal tools like Excel or basic Pandas crash when loading multi-gigabyte HDF5 files into RAM.</a:t>
            </a:r>
          </a:p>
          <a:p>
            <a:pPr algn="l">
              <a:spcAft>
                <a:spcPts val="600"/>
              </a:spcAft>
            </a:pPr>
            <a:r>
              <a:rPr sz="1100" b="1">
                <a:solidFill>
                  <a:srgbClr val="00D4FF"/>
                </a:solidFill>
                <a:latin typeface="Segoe UI"/>
              </a:rPr>
              <a:t>▸ </a:t>
            </a:r>
            <a:r>
              <a:rPr sz="1100" b="1">
                <a:solidFill>
                  <a:srgbClr val="FFFFFF"/>
                </a:solidFill>
                <a:latin typeface="Segoe UI"/>
              </a:rPr>
              <a:t>Two Speed Needs: </a:t>
            </a:r>
            <a:r>
              <a:rPr sz="1050" b="0">
                <a:solidFill>
                  <a:srgbClr val="E2E8F0"/>
                </a:solidFill>
                <a:latin typeface="Segoe UI"/>
              </a:rPr>
              <a:t>We need heavy batch training on historical data AND fast monitoring on incoming sensor streams.</a:t>
            </a:r>
          </a:p>
        </p:txBody>
      </p:sp>
      <p:sp>
        <p:nvSpPr>
          <p:cNvPr id="30" name="Rounded Rectangle 29"/>
          <p:cNvSpPr/>
          <p:nvPr/>
        </p:nvSpPr>
        <p:spPr>
          <a:xfrm>
            <a:off x="384048" y="3749039"/>
            <a:ext cx="11420856" cy="2606040"/>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84048" y="3749039"/>
            <a:ext cx="11420856"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84048" y="3803903"/>
            <a:ext cx="11420856"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12064" y="3822191"/>
            <a:ext cx="11164824" cy="292608"/>
          </a:xfrm>
          <a:prstGeom prst="rect">
            <a:avLst/>
          </a:prstGeom>
          <a:noFill/>
        </p:spPr>
        <p:txBody>
          <a:bodyPr wrap="square" anchor="ctr" lIns="45720" rIns="45720" tIns="27432" bIns="27432">
            <a:spAutoFit/>
          </a:bodyPr>
          <a:lstStyle/>
          <a:p>
            <a:pPr algn="l"/>
            <a:r>
              <a:rPr sz="1150" b="1" i="0">
                <a:solidFill>
                  <a:srgbClr val="FFFFFF"/>
                </a:solidFill>
                <a:latin typeface="Segoe UI"/>
              </a:rPr>
              <a:t>COMPARISON OF MAINTENANCE STRATEGIES</a:t>
            </a:r>
          </a:p>
        </p:txBody>
      </p:sp>
      <p:sp>
        <p:nvSpPr>
          <p:cNvPr id="34" name="Rectangle 33"/>
          <p:cNvSpPr/>
          <p:nvPr/>
        </p:nvSpPr>
        <p:spPr>
          <a:xfrm>
            <a:off x="512064" y="4206240"/>
            <a:ext cx="11155680" cy="329184"/>
          </a:xfrm>
          <a:prstGeom prst="rect">
            <a:avLst/>
          </a:prstGeom>
          <a:solidFill>
            <a:srgbClr val="0D172A"/>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30352" y="4224528"/>
            <a:ext cx="2011680" cy="274320"/>
          </a:xfrm>
          <a:prstGeom prst="rect">
            <a:avLst/>
          </a:prstGeom>
          <a:noFill/>
        </p:spPr>
        <p:txBody>
          <a:bodyPr wrap="square" anchor="ctr" lIns="45720" rIns="45720" tIns="27432" bIns="27432">
            <a:spAutoFit/>
          </a:bodyPr>
          <a:lstStyle/>
          <a:p>
            <a:pPr algn="l"/>
            <a:r>
              <a:rPr sz="950" b="1" i="0">
                <a:solidFill>
                  <a:srgbClr val="00D4FF"/>
                </a:solidFill>
                <a:latin typeface="Segoe UI"/>
              </a:rPr>
              <a:t>STRATEGY</a:t>
            </a:r>
          </a:p>
        </p:txBody>
      </p:sp>
      <p:sp>
        <p:nvSpPr>
          <p:cNvPr id="36" name="TextBox 35"/>
          <p:cNvSpPr txBox="1"/>
          <p:nvPr/>
        </p:nvSpPr>
        <p:spPr>
          <a:xfrm>
            <a:off x="2542032" y="4224528"/>
            <a:ext cx="2560320" cy="274320"/>
          </a:xfrm>
          <a:prstGeom prst="rect">
            <a:avLst/>
          </a:prstGeom>
          <a:noFill/>
        </p:spPr>
        <p:txBody>
          <a:bodyPr wrap="square" anchor="ctr" lIns="45720" rIns="45720" tIns="27432" bIns="27432">
            <a:spAutoFit/>
          </a:bodyPr>
          <a:lstStyle/>
          <a:p>
            <a:pPr algn="l"/>
            <a:r>
              <a:rPr sz="950" b="1" i="0">
                <a:solidFill>
                  <a:srgbClr val="00D4FF"/>
                </a:solidFill>
                <a:latin typeface="Segoe UI"/>
              </a:rPr>
              <a:t>WHEN DO WE FIX IT?</a:t>
            </a:r>
          </a:p>
        </p:txBody>
      </p:sp>
      <p:sp>
        <p:nvSpPr>
          <p:cNvPr id="37" name="TextBox 36"/>
          <p:cNvSpPr txBox="1"/>
          <p:nvPr/>
        </p:nvSpPr>
        <p:spPr>
          <a:xfrm>
            <a:off x="5102352" y="4224528"/>
            <a:ext cx="3291840" cy="274320"/>
          </a:xfrm>
          <a:prstGeom prst="rect">
            <a:avLst/>
          </a:prstGeom>
          <a:noFill/>
        </p:spPr>
        <p:txBody>
          <a:bodyPr wrap="square" anchor="ctr" lIns="45720" rIns="45720" tIns="27432" bIns="27432">
            <a:spAutoFit/>
          </a:bodyPr>
          <a:lstStyle/>
          <a:p>
            <a:pPr algn="l"/>
            <a:r>
              <a:rPr sz="950" b="1" i="0">
                <a:solidFill>
                  <a:srgbClr val="00D4FF"/>
                </a:solidFill>
                <a:latin typeface="Segoe UI"/>
              </a:rPr>
              <a:t>MAIN PROBLEM</a:t>
            </a:r>
          </a:p>
        </p:txBody>
      </p:sp>
      <p:sp>
        <p:nvSpPr>
          <p:cNvPr id="38" name="TextBox 37"/>
          <p:cNvSpPr txBox="1"/>
          <p:nvPr/>
        </p:nvSpPr>
        <p:spPr>
          <a:xfrm>
            <a:off x="8394192" y="4224528"/>
            <a:ext cx="3200400" cy="274320"/>
          </a:xfrm>
          <a:prstGeom prst="rect">
            <a:avLst/>
          </a:prstGeom>
          <a:noFill/>
        </p:spPr>
        <p:txBody>
          <a:bodyPr wrap="square" anchor="ctr" lIns="45720" rIns="45720" tIns="27432" bIns="27432">
            <a:spAutoFit/>
          </a:bodyPr>
          <a:lstStyle/>
          <a:p>
            <a:pPr algn="l"/>
            <a:r>
              <a:rPr sz="950" b="1" i="0">
                <a:solidFill>
                  <a:srgbClr val="00D4FF"/>
                </a:solidFill>
                <a:latin typeface="Segoe UI"/>
              </a:rPr>
              <a:t>TECHNOLOGY NEEDED</a:t>
            </a:r>
          </a:p>
        </p:txBody>
      </p:sp>
      <p:sp>
        <p:nvSpPr>
          <p:cNvPr id="39" name="Rounded Rectangle 38"/>
          <p:cNvSpPr/>
          <p:nvPr/>
        </p:nvSpPr>
        <p:spPr>
          <a:xfrm>
            <a:off x="512064" y="4590288"/>
            <a:ext cx="11155680" cy="512064"/>
          </a:xfrm>
          <a:prstGeom prst="roundRect">
            <a:avLst>
              <a:gd name="adj" fmla="val 2500"/>
            </a:avLst>
          </a:prstGeom>
          <a:solidFill>
            <a:srgbClr val="162440"/>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12064" y="4590288"/>
            <a:ext cx="73152" cy="512064"/>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1792" y="4645151"/>
            <a:ext cx="1920240" cy="402336"/>
          </a:xfrm>
          <a:prstGeom prst="rect">
            <a:avLst/>
          </a:prstGeom>
          <a:noFill/>
        </p:spPr>
        <p:txBody>
          <a:bodyPr wrap="square" anchor="ctr" lIns="45720" rIns="45720" tIns="27432" bIns="27432">
            <a:spAutoFit/>
          </a:bodyPr>
          <a:lstStyle/>
          <a:p>
            <a:pPr algn="l"/>
            <a:r>
              <a:rPr sz="1050" b="1" i="0">
                <a:solidFill>
                  <a:srgbClr val="EF4444"/>
                </a:solidFill>
                <a:latin typeface="Segoe UI"/>
              </a:rPr>
              <a:t>Reactive (Run-to-Failure)</a:t>
            </a:r>
          </a:p>
        </p:txBody>
      </p:sp>
      <p:sp>
        <p:nvSpPr>
          <p:cNvPr id="42" name="TextBox 41"/>
          <p:cNvSpPr txBox="1"/>
          <p:nvPr/>
        </p:nvSpPr>
        <p:spPr>
          <a:xfrm>
            <a:off x="2542032" y="4645151"/>
            <a:ext cx="2514600" cy="402336"/>
          </a:xfrm>
          <a:prstGeom prst="rect">
            <a:avLst/>
          </a:prstGeom>
          <a:noFill/>
        </p:spPr>
        <p:txBody>
          <a:bodyPr wrap="square" anchor="ctr" lIns="45720" rIns="45720" tIns="27432" bIns="27432">
            <a:spAutoFit/>
          </a:bodyPr>
          <a:lstStyle/>
          <a:p>
            <a:pPr algn="l"/>
            <a:r>
              <a:rPr sz="1000" b="0" i="0">
                <a:solidFill>
                  <a:srgbClr val="FFFFFF"/>
                </a:solidFill>
                <a:latin typeface="Segoe UI"/>
              </a:rPr>
              <a:t>Only after the engine breaks</a:t>
            </a:r>
          </a:p>
        </p:txBody>
      </p:sp>
      <p:sp>
        <p:nvSpPr>
          <p:cNvPr id="43" name="TextBox 42"/>
          <p:cNvSpPr txBox="1"/>
          <p:nvPr/>
        </p:nvSpPr>
        <p:spPr>
          <a:xfrm>
            <a:off x="5102352" y="4645151"/>
            <a:ext cx="3246120" cy="402336"/>
          </a:xfrm>
          <a:prstGeom prst="rect">
            <a:avLst/>
          </a:prstGeom>
          <a:noFill/>
        </p:spPr>
        <p:txBody>
          <a:bodyPr wrap="square" anchor="ctr" lIns="45720" rIns="45720" tIns="27432" bIns="27432">
            <a:spAutoFit/>
          </a:bodyPr>
          <a:lstStyle/>
          <a:p>
            <a:pPr algn="l"/>
            <a:r>
              <a:rPr sz="1000" b="0" i="0">
                <a:solidFill>
                  <a:srgbClr val="E2E8F0"/>
                </a:solidFill>
                <a:latin typeface="Segoe UI"/>
              </a:rPr>
              <a:t>Dangerous, causes flight delays and high repair cost</a:t>
            </a:r>
          </a:p>
        </p:txBody>
      </p:sp>
      <p:sp>
        <p:nvSpPr>
          <p:cNvPr id="44" name="TextBox 43"/>
          <p:cNvSpPr txBox="1"/>
          <p:nvPr/>
        </p:nvSpPr>
        <p:spPr>
          <a:xfrm>
            <a:off x="8394192" y="4645151"/>
            <a:ext cx="3200400" cy="402336"/>
          </a:xfrm>
          <a:prstGeom prst="rect">
            <a:avLst/>
          </a:prstGeom>
          <a:noFill/>
        </p:spPr>
        <p:txBody>
          <a:bodyPr wrap="square" anchor="ctr" lIns="45720" rIns="45720" tIns="27432" bIns="27432">
            <a:spAutoFit/>
          </a:bodyPr>
          <a:lstStyle/>
          <a:p>
            <a:pPr algn="l"/>
            <a:r>
              <a:rPr sz="1000" b="0" i="0">
                <a:solidFill>
                  <a:srgbClr val="94A3B8"/>
                </a:solidFill>
                <a:latin typeface="Segoe UI"/>
              </a:rPr>
              <a:t>Basic fault logs only</a:t>
            </a:r>
          </a:p>
        </p:txBody>
      </p:sp>
      <p:sp>
        <p:nvSpPr>
          <p:cNvPr id="45" name="Rounded Rectangle 44"/>
          <p:cNvSpPr/>
          <p:nvPr/>
        </p:nvSpPr>
        <p:spPr>
          <a:xfrm>
            <a:off x="512064" y="5157216"/>
            <a:ext cx="11155680" cy="512064"/>
          </a:xfrm>
          <a:prstGeom prst="roundRect">
            <a:avLst>
              <a:gd name="adj" fmla="val 2500"/>
            </a:avLst>
          </a:prstGeom>
          <a:solidFill>
            <a:srgbClr val="162440"/>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12064" y="5157216"/>
            <a:ext cx="73152" cy="5120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 y="5212079"/>
            <a:ext cx="1920240" cy="402336"/>
          </a:xfrm>
          <a:prstGeom prst="rect">
            <a:avLst/>
          </a:prstGeom>
          <a:noFill/>
        </p:spPr>
        <p:txBody>
          <a:bodyPr wrap="square" anchor="ctr" lIns="45720" rIns="45720" tIns="27432" bIns="27432">
            <a:spAutoFit/>
          </a:bodyPr>
          <a:lstStyle/>
          <a:p>
            <a:pPr algn="l"/>
            <a:r>
              <a:rPr sz="1050" b="1" i="0">
                <a:solidFill>
                  <a:srgbClr val="F59E0B"/>
                </a:solidFill>
                <a:latin typeface="Segoe UI"/>
              </a:rPr>
              <a:t>Preventive (Fixed Schedule)</a:t>
            </a:r>
          </a:p>
        </p:txBody>
      </p:sp>
      <p:sp>
        <p:nvSpPr>
          <p:cNvPr id="48" name="TextBox 47"/>
          <p:cNvSpPr txBox="1"/>
          <p:nvPr/>
        </p:nvSpPr>
        <p:spPr>
          <a:xfrm>
            <a:off x="2542032" y="5212079"/>
            <a:ext cx="2514600" cy="402336"/>
          </a:xfrm>
          <a:prstGeom prst="rect">
            <a:avLst/>
          </a:prstGeom>
          <a:noFill/>
        </p:spPr>
        <p:txBody>
          <a:bodyPr wrap="square" anchor="ctr" lIns="45720" rIns="45720" tIns="27432" bIns="27432">
            <a:spAutoFit/>
          </a:bodyPr>
          <a:lstStyle/>
          <a:p>
            <a:pPr algn="l"/>
            <a:r>
              <a:rPr sz="1000" b="0" i="0">
                <a:solidFill>
                  <a:srgbClr val="FFFFFF"/>
                </a:solidFill>
                <a:latin typeface="Segoe UI"/>
              </a:rPr>
              <a:t>After a fixed number of flights</a:t>
            </a:r>
          </a:p>
        </p:txBody>
      </p:sp>
      <p:sp>
        <p:nvSpPr>
          <p:cNvPr id="49" name="TextBox 48"/>
          <p:cNvSpPr txBox="1"/>
          <p:nvPr/>
        </p:nvSpPr>
        <p:spPr>
          <a:xfrm>
            <a:off x="5102352" y="5212079"/>
            <a:ext cx="3246120" cy="402336"/>
          </a:xfrm>
          <a:prstGeom prst="rect">
            <a:avLst/>
          </a:prstGeom>
          <a:noFill/>
        </p:spPr>
        <p:txBody>
          <a:bodyPr wrap="square" anchor="ctr" lIns="45720" rIns="45720" tIns="27432" bIns="27432">
            <a:spAutoFit/>
          </a:bodyPr>
          <a:lstStyle/>
          <a:p>
            <a:pPr algn="l"/>
            <a:r>
              <a:rPr sz="1000" b="0" i="0">
                <a:solidFill>
                  <a:srgbClr val="E2E8F0"/>
                </a:solidFill>
                <a:latin typeface="Segoe UI"/>
              </a:rPr>
              <a:t>Wastes money by replacing parts that are still good</a:t>
            </a:r>
          </a:p>
        </p:txBody>
      </p:sp>
      <p:sp>
        <p:nvSpPr>
          <p:cNvPr id="50" name="TextBox 49"/>
          <p:cNvSpPr txBox="1"/>
          <p:nvPr/>
        </p:nvSpPr>
        <p:spPr>
          <a:xfrm>
            <a:off x="8394192" y="5212079"/>
            <a:ext cx="3200400" cy="402336"/>
          </a:xfrm>
          <a:prstGeom prst="rect">
            <a:avLst/>
          </a:prstGeom>
          <a:noFill/>
        </p:spPr>
        <p:txBody>
          <a:bodyPr wrap="square" anchor="ctr" lIns="45720" rIns="45720" tIns="27432" bIns="27432">
            <a:spAutoFit/>
          </a:bodyPr>
          <a:lstStyle/>
          <a:p>
            <a:pPr algn="l"/>
            <a:r>
              <a:rPr sz="1000" b="0" i="0">
                <a:solidFill>
                  <a:srgbClr val="94A3B8"/>
                </a:solidFill>
                <a:latin typeface="Segoe UI"/>
              </a:rPr>
              <a:t>Simple flight counters</a:t>
            </a:r>
          </a:p>
        </p:txBody>
      </p:sp>
      <p:sp>
        <p:nvSpPr>
          <p:cNvPr id="51" name="Rounded Rectangle 50"/>
          <p:cNvSpPr/>
          <p:nvPr/>
        </p:nvSpPr>
        <p:spPr>
          <a:xfrm>
            <a:off x="512064" y="5724144"/>
            <a:ext cx="11155680" cy="512064"/>
          </a:xfrm>
          <a:prstGeom prst="roundRect">
            <a:avLst>
              <a:gd name="adj" fmla="val 2500"/>
            </a:avLst>
          </a:prstGeom>
          <a:solidFill>
            <a:srgbClr val="162440"/>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12064" y="5724144"/>
            <a:ext cx="73152" cy="5120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1792" y="5779007"/>
            <a:ext cx="1920240" cy="402336"/>
          </a:xfrm>
          <a:prstGeom prst="rect">
            <a:avLst/>
          </a:prstGeom>
          <a:noFill/>
        </p:spPr>
        <p:txBody>
          <a:bodyPr wrap="square" anchor="ctr" lIns="45720" rIns="45720" tIns="27432" bIns="27432">
            <a:spAutoFit/>
          </a:bodyPr>
          <a:lstStyle/>
          <a:p>
            <a:pPr algn="l"/>
            <a:r>
              <a:rPr sz="1050" b="1" i="0">
                <a:solidFill>
                  <a:srgbClr val="10B981"/>
                </a:solidFill>
                <a:latin typeface="Segoe UI"/>
              </a:rPr>
              <a:t>Predictive (Our Project)</a:t>
            </a:r>
          </a:p>
        </p:txBody>
      </p:sp>
      <p:sp>
        <p:nvSpPr>
          <p:cNvPr id="54" name="TextBox 53"/>
          <p:cNvSpPr txBox="1"/>
          <p:nvPr/>
        </p:nvSpPr>
        <p:spPr>
          <a:xfrm>
            <a:off x="2542032" y="5779007"/>
            <a:ext cx="2514600" cy="402336"/>
          </a:xfrm>
          <a:prstGeom prst="rect">
            <a:avLst/>
          </a:prstGeom>
          <a:noFill/>
        </p:spPr>
        <p:txBody>
          <a:bodyPr wrap="square" anchor="ctr" lIns="45720" rIns="45720" tIns="27432" bIns="27432">
            <a:spAutoFit/>
          </a:bodyPr>
          <a:lstStyle/>
          <a:p>
            <a:pPr algn="l"/>
            <a:r>
              <a:rPr sz="1000" b="0" i="0">
                <a:solidFill>
                  <a:srgbClr val="FFFFFF"/>
                </a:solidFill>
                <a:latin typeface="Segoe UI"/>
              </a:rPr>
              <a:t>When sensors show low Remaining Life</a:t>
            </a:r>
          </a:p>
        </p:txBody>
      </p:sp>
      <p:sp>
        <p:nvSpPr>
          <p:cNvPr id="55" name="TextBox 54"/>
          <p:cNvSpPr txBox="1"/>
          <p:nvPr/>
        </p:nvSpPr>
        <p:spPr>
          <a:xfrm>
            <a:off x="5102352" y="5779007"/>
            <a:ext cx="3246120" cy="402336"/>
          </a:xfrm>
          <a:prstGeom prst="rect">
            <a:avLst/>
          </a:prstGeom>
          <a:noFill/>
        </p:spPr>
        <p:txBody>
          <a:bodyPr wrap="square" anchor="ctr" lIns="45720" rIns="45720" tIns="27432" bIns="27432">
            <a:spAutoFit/>
          </a:bodyPr>
          <a:lstStyle/>
          <a:p>
            <a:pPr algn="l"/>
            <a:r>
              <a:rPr sz="1000" b="0" i="0">
                <a:solidFill>
                  <a:srgbClr val="E2E8F0"/>
                </a:solidFill>
                <a:latin typeface="Segoe UI"/>
              </a:rPr>
              <a:t>Needs Big Data storage, ML, and stream processing</a:t>
            </a:r>
          </a:p>
        </p:txBody>
      </p:sp>
      <p:sp>
        <p:nvSpPr>
          <p:cNvPr id="56" name="TextBox 55"/>
          <p:cNvSpPr txBox="1"/>
          <p:nvPr/>
        </p:nvSpPr>
        <p:spPr>
          <a:xfrm>
            <a:off x="8394192" y="5779007"/>
            <a:ext cx="3200400" cy="402336"/>
          </a:xfrm>
          <a:prstGeom prst="rect">
            <a:avLst/>
          </a:prstGeom>
          <a:noFill/>
        </p:spPr>
        <p:txBody>
          <a:bodyPr wrap="square" anchor="ctr" lIns="45720" rIns="45720" tIns="27432" bIns="27432">
            <a:spAutoFit/>
          </a:bodyPr>
          <a:lstStyle/>
          <a:p>
            <a:pPr algn="l"/>
            <a:r>
              <a:rPr sz="1000" b="1" i="0">
                <a:solidFill>
                  <a:srgbClr val="00D4FF"/>
                </a:solidFill>
                <a:latin typeface="Segoe UI"/>
              </a:rPr>
              <a:t>HDFS + Spark + Kafka + ClickHouse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12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877824"/>
          </a:xfrm>
          <a:prstGeom prst="rect">
            <a:avLst/>
          </a:prstGeom>
          <a:solidFill>
            <a:srgbClr val="0D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13716"/>
          </a:xfrm>
          <a:prstGeom prst="rect">
            <a:avLst/>
          </a:prstGeom>
          <a:solidFill>
            <a:srgbClr val="233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5448"/>
            <a:ext cx="2103120" cy="219456"/>
          </a:xfrm>
          <a:prstGeom prst="roundRect">
            <a:avLst>
              <a:gd name="adj" fmla="val 2500"/>
            </a:avLst>
          </a:prstGeom>
          <a:solidFill>
            <a:srgbClr val="162440"/>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55448"/>
            <a:ext cx="2103120" cy="219456"/>
          </a:xfrm>
          <a:prstGeom prst="rect">
            <a:avLst/>
          </a:prstGeom>
          <a:noFill/>
        </p:spPr>
        <p:txBody>
          <a:bodyPr wrap="square" anchor="ctr" lIns="45720" rIns="45720" tIns="27432" bIns="27432">
            <a:spAutoFit/>
          </a:bodyPr>
          <a:lstStyle/>
          <a:p>
            <a:pPr algn="ctr"/>
            <a:r>
              <a:rPr sz="850" b="1" i="0">
                <a:solidFill>
                  <a:srgbClr val="00D4FF"/>
                </a:solidFill>
                <a:latin typeface="Segoe UI"/>
              </a:rPr>
              <a:t>2. OBJECTIVES &amp; SOLUTION</a:t>
            </a:r>
          </a:p>
        </p:txBody>
      </p:sp>
      <p:sp>
        <p:nvSpPr>
          <p:cNvPr id="7" name="TextBox 6"/>
          <p:cNvSpPr txBox="1"/>
          <p:nvPr/>
        </p:nvSpPr>
        <p:spPr>
          <a:xfrm>
            <a:off x="384048" y="384048"/>
            <a:ext cx="9875520" cy="329184"/>
          </a:xfrm>
          <a:prstGeom prst="rect">
            <a:avLst/>
          </a:prstGeom>
          <a:noFill/>
        </p:spPr>
        <p:txBody>
          <a:bodyPr wrap="square" anchor="t" lIns="45720" rIns="45720" tIns="27432" bIns="27432">
            <a:spAutoFit/>
          </a:bodyPr>
          <a:lstStyle/>
          <a:p>
            <a:pPr algn="l"/>
            <a:r>
              <a:rPr sz="2000" b="1" i="0">
                <a:solidFill>
                  <a:srgbClr val="FFFFFF"/>
                </a:solidFill>
                <a:latin typeface="Segoe UI"/>
              </a:rPr>
              <a:t>Objectives &amp; Proposed Solution: Predicting Remaining Useful Life</a:t>
            </a:r>
          </a:p>
        </p:txBody>
      </p:sp>
      <p:sp>
        <p:nvSpPr>
          <p:cNvPr id="8" name="TextBox 7"/>
          <p:cNvSpPr txBox="1"/>
          <p:nvPr/>
        </p:nvSpPr>
        <p:spPr>
          <a:xfrm>
            <a:off x="384048" y="685800"/>
            <a:ext cx="10515600" cy="219456"/>
          </a:xfrm>
          <a:prstGeom prst="rect">
            <a:avLst/>
          </a:prstGeom>
          <a:noFill/>
        </p:spPr>
        <p:txBody>
          <a:bodyPr wrap="square" anchor="t" lIns="45720" rIns="45720" tIns="27432" bIns="27432">
            <a:spAutoFit/>
          </a:bodyPr>
          <a:lstStyle/>
          <a:p>
            <a:pPr algn="l"/>
            <a:r>
              <a:rPr sz="1100" b="0" i="0">
                <a:solidFill>
                  <a:srgbClr val="94A3B8"/>
                </a:solidFill>
                <a:latin typeface="Segoe UI"/>
              </a:rPr>
              <a:t>How data analytics and machine learning help maintenance teams act before failures happen</a:t>
            </a:r>
          </a:p>
        </p:txBody>
      </p:sp>
      <p:sp>
        <p:nvSpPr>
          <p:cNvPr id="9" name="Rounded Rectangle 8"/>
          <p:cNvSpPr/>
          <p:nvPr/>
        </p:nvSpPr>
        <p:spPr>
          <a:xfrm>
            <a:off x="11109960" y="219456"/>
            <a:ext cx="685800" cy="384048"/>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09960" y="219456"/>
            <a:ext cx="685800" cy="384048"/>
          </a:xfrm>
          <a:prstGeom prst="rect">
            <a:avLst/>
          </a:prstGeom>
          <a:noFill/>
        </p:spPr>
        <p:txBody>
          <a:bodyPr wrap="square" anchor="ctr" lIns="45720" rIns="45720" tIns="27432" bIns="27432">
            <a:spAutoFit/>
          </a:bodyPr>
          <a:lstStyle/>
          <a:p>
            <a:pPr algn="ctr"/>
            <a:r>
              <a:rPr sz="1000" b="1" i="0">
                <a:solidFill>
                  <a:srgbClr val="00D4FF"/>
                </a:solidFill>
                <a:latin typeface="Segoe UI"/>
              </a:rPr>
              <a:t>03 / 12</a:t>
            </a:r>
          </a:p>
        </p:txBody>
      </p:sp>
      <p:sp>
        <p:nvSpPr>
          <p:cNvPr id="11" name="Rectangle 10"/>
          <p:cNvSpPr/>
          <p:nvPr/>
        </p:nvSpPr>
        <p:spPr>
          <a:xfrm>
            <a:off x="0" y="6510528"/>
            <a:ext cx="12191695" cy="347472"/>
          </a:xfrm>
          <a:prstGeom prst="rect">
            <a:avLst/>
          </a:prstGeom>
          <a:solidFill>
            <a:srgbClr val="0D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501384"/>
            <a:ext cx="12191695" cy="9144"/>
          </a:xfrm>
          <a:prstGeom prst="rect">
            <a:avLst/>
          </a:prstGeom>
          <a:solidFill>
            <a:srgbClr val="233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6547104"/>
            <a:ext cx="8046720" cy="237744"/>
          </a:xfrm>
          <a:prstGeom prst="rect">
            <a:avLst/>
          </a:prstGeom>
          <a:noFill/>
        </p:spPr>
        <p:txBody>
          <a:bodyPr wrap="square" anchor="t" lIns="45720" rIns="45720" tIns="27432" bIns="27432">
            <a:spAutoFit/>
          </a:bodyPr>
          <a:lstStyle/>
          <a:p>
            <a:pPr algn="l"/>
            <a:r>
              <a:rPr sz="850" b="0" i="0">
                <a:solidFill>
                  <a:srgbClr val="94A3B8"/>
                </a:solidFill>
                <a:latin typeface="Segoe UI"/>
              </a:rPr>
              <a:t>Source: NASA N-CMAPSS Dataset &amp; Verified Project Pipeline Logs</a:t>
            </a:r>
          </a:p>
        </p:txBody>
      </p:sp>
      <p:sp>
        <p:nvSpPr>
          <p:cNvPr id="14" name="TextBox 13"/>
          <p:cNvSpPr txBox="1"/>
          <p:nvPr/>
        </p:nvSpPr>
        <p:spPr>
          <a:xfrm>
            <a:off x="8503920" y="6547104"/>
            <a:ext cx="3291840" cy="237744"/>
          </a:xfrm>
          <a:prstGeom prst="rect">
            <a:avLst/>
          </a:prstGeom>
          <a:noFill/>
        </p:spPr>
        <p:txBody>
          <a:bodyPr wrap="square" anchor="t" lIns="45720" rIns="45720" tIns="27432" bIns="27432">
            <a:spAutoFit/>
          </a:bodyPr>
          <a:lstStyle/>
          <a:p>
            <a:pPr algn="r"/>
            <a:r>
              <a:rPr sz="850" b="0" i="0">
                <a:solidFill>
                  <a:srgbClr val="94A3B8"/>
                </a:solidFill>
                <a:latin typeface="Segoe UI"/>
              </a:rPr>
              <a:t>Aircraft Engine Predictive Maintenance | Big Data Project</a:t>
            </a:r>
          </a:p>
        </p:txBody>
      </p:sp>
      <p:sp>
        <p:nvSpPr>
          <p:cNvPr id="15" name="Rounded Rectangle 14"/>
          <p:cNvSpPr/>
          <p:nvPr/>
        </p:nvSpPr>
        <p:spPr>
          <a:xfrm>
            <a:off x="384048" y="1078992"/>
            <a:ext cx="5577840" cy="2331720"/>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4048" y="1078992"/>
            <a:ext cx="5577840"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4048" y="1133856"/>
            <a:ext cx="5577840"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2064" y="1152144"/>
            <a:ext cx="5321807" cy="292608"/>
          </a:xfrm>
          <a:prstGeom prst="rect">
            <a:avLst/>
          </a:prstGeom>
          <a:noFill/>
        </p:spPr>
        <p:txBody>
          <a:bodyPr wrap="square" anchor="ctr" lIns="45720" rIns="45720" tIns="27432" bIns="27432">
            <a:spAutoFit/>
          </a:bodyPr>
          <a:lstStyle/>
          <a:p>
            <a:pPr algn="l"/>
            <a:r>
              <a:rPr sz="1150" b="1" i="0">
                <a:solidFill>
                  <a:srgbClr val="FFFFFF"/>
                </a:solidFill>
                <a:latin typeface="Segoe UI"/>
              </a:rPr>
              <a:t>WHAT IS REMAINING USEFUL LIFE (RUL)?</a:t>
            </a:r>
          </a:p>
        </p:txBody>
      </p:sp>
      <p:sp>
        <p:nvSpPr>
          <p:cNvPr id="19" name="TextBox 18"/>
          <p:cNvSpPr txBox="1"/>
          <p:nvPr/>
        </p:nvSpPr>
        <p:spPr>
          <a:xfrm>
            <a:off x="493776" y="1517904"/>
            <a:ext cx="5358384" cy="1783080"/>
          </a:xfrm>
          <a:prstGeom prst="rect">
            <a:avLst/>
          </a:prstGeom>
          <a:noFill/>
        </p:spPr>
        <p:txBody>
          <a:bodyPr wrap="square" lIns="54864" rIns="54864" tIns="36576" bIns="36576">
            <a:spAutoFit/>
          </a:bodyPr>
          <a:lstStyle/>
          <a:p>
            <a:pPr algn="l">
              <a:spcAft>
                <a:spcPts val="600"/>
              </a:spcAft>
            </a:pPr>
            <a:r>
              <a:rPr sz="1100" b="1">
                <a:solidFill>
                  <a:srgbClr val="00D4FF"/>
                </a:solidFill>
                <a:latin typeface="Segoe UI"/>
              </a:rPr>
              <a:t>▸ </a:t>
            </a:r>
            <a:r>
              <a:rPr sz="1100" b="1">
                <a:solidFill>
                  <a:srgbClr val="FFFFFF"/>
                </a:solidFill>
                <a:latin typeface="Segoe UI"/>
              </a:rPr>
              <a:t>Simple Definition: </a:t>
            </a:r>
            <a:r>
              <a:rPr sz="1030" b="0">
                <a:solidFill>
                  <a:srgbClr val="E2E8F0"/>
                </a:solidFill>
                <a:latin typeface="Segoe UI"/>
              </a:rPr>
              <a:t>RUL means Remaining Useful Life. It estimates how many flight cycles an engine can safely complete before it needs maintenance.</a:t>
            </a:r>
          </a:p>
          <a:p>
            <a:pPr algn="l">
              <a:spcAft>
                <a:spcPts val="600"/>
              </a:spcAft>
            </a:pPr>
            <a:r>
              <a:rPr sz="1100" b="1">
                <a:solidFill>
                  <a:srgbClr val="00D4FF"/>
                </a:solidFill>
                <a:latin typeface="Segoe UI"/>
              </a:rPr>
              <a:t>▸ </a:t>
            </a:r>
            <a:r>
              <a:rPr sz="1100" b="1">
                <a:solidFill>
                  <a:srgbClr val="FFFFFF"/>
                </a:solidFill>
                <a:latin typeface="Segoe UI"/>
              </a:rPr>
              <a:t>Important Note: </a:t>
            </a:r>
            <a:r>
              <a:rPr sz="1030" b="0">
                <a:solidFill>
                  <a:srgbClr val="E2E8F0"/>
                </a:solidFill>
                <a:latin typeface="Segoe UI"/>
              </a:rPr>
              <a:t>RUL is an estimated number of remaining flights based on sensor health — NOT an exact or guaranteed failure date.</a:t>
            </a:r>
          </a:p>
          <a:p>
            <a:pPr algn="l">
              <a:spcAft>
                <a:spcPts val="600"/>
              </a:spcAft>
            </a:pPr>
            <a:r>
              <a:rPr sz="1100" b="1">
                <a:solidFill>
                  <a:srgbClr val="00D4FF"/>
                </a:solidFill>
                <a:latin typeface="Segoe UI"/>
              </a:rPr>
              <a:t>▸ </a:t>
            </a:r>
            <a:r>
              <a:rPr sz="1100" b="1">
                <a:solidFill>
                  <a:srgbClr val="FFFFFF"/>
                </a:solidFill>
                <a:latin typeface="Segoe UI"/>
              </a:rPr>
              <a:t>How It Helps: </a:t>
            </a:r>
            <a:r>
              <a:rPr sz="1030" b="0">
                <a:solidFill>
                  <a:srgbClr val="E2E8F0"/>
                </a:solidFill>
                <a:latin typeface="Segoe UI"/>
              </a:rPr>
              <a:t>When predicted RUL drops below 15 cycles (or temperature T30 goes above 1580°R), the system sends a CRITICAL alert.</a:t>
            </a:r>
          </a:p>
        </p:txBody>
      </p:sp>
      <p:sp>
        <p:nvSpPr>
          <p:cNvPr id="20" name="Rounded Rectangle 19"/>
          <p:cNvSpPr/>
          <p:nvPr/>
        </p:nvSpPr>
        <p:spPr>
          <a:xfrm>
            <a:off x="384048" y="3547872"/>
            <a:ext cx="5577840" cy="2816352"/>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84048" y="3547872"/>
            <a:ext cx="557784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84048" y="3602736"/>
            <a:ext cx="5577840"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2064" y="3621024"/>
            <a:ext cx="5321807" cy="292608"/>
          </a:xfrm>
          <a:prstGeom prst="rect">
            <a:avLst/>
          </a:prstGeom>
          <a:noFill/>
        </p:spPr>
        <p:txBody>
          <a:bodyPr wrap="square" anchor="ctr" lIns="45720" rIns="45720" tIns="27432" bIns="27432">
            <a:spAutoFit/>
          </a:bodyPr>
          <a:lstStyle/>
          <a:p>
            <a:pPr algn="l"/>
            <a:r>
              <a:rPr sz="1150" b="1" i="0">
                <a:solidFill>
                  <a:srgbClr val="FFFFFF"/>
                </a:solidFill>
                <a:latin typeface="Segoe UI"/>
              </a:rPr>
              <a:t>FOUR MAIN PROJECT OBJECTIVES</a:t>
            </a:r>
          </a:p>
        </p:txBody>
      </p:sp>
      <p:sp>
        <p:nvSpPr>
          <p:cNvPr id="24" name="TextBox 23"/>
          <p:cNvSpPr txBox="1"/>
          <p:nvPr/>
        </p:nvSpPr>
        <p:spPr>
          <a:xfrm>
            <a:off x="493776" y="3986784"/>
            <a:ext cx="5358384" cy="2286000"/>
          </a:xfrm>
          <a:prstGeom prst="rect">
            <a:avLst/>
          </a:prstGeom>
          <a:noFill/>
        </p:spPr>
        <p:txBody>
          <a:bodyPr wrap="square" lIns="54864" rIns="54864" tIns="36576" bIns="36576">
            <a:spAutoFit/>
          </a:bodyPr>
          <a:lstStyle/>
          <a:p>
            <a:pPr algn="l">
              <a:spcAft>
                <a:spcPts val="500"/>
              </a:spcAft>
            </a:pPr>
            <a:r>
              <a:rPr sz="1050" b="1">
                <a:solidFill>
                  <a:srgbClr val="10B981"/>
                </a:solidFill>
                <a:latin typeface="Segoe UI"/>
              </a:rPr>
              <a:t>▸ </a:t>
            </a:r>
            <a:r>
              <a:rPr sz="1050" b="1">
                <a:solidFill>
                  <a:srgbClr val="FFFFFF"/>
                </a:solidFill>
                <a:latin typeface="Segoe UI"/>
              </a:rPr>
              <a:t>1. Safe Data Conversion: </a:t>
            </a:r>
            <a:r>
              <a:rPr sz="1000" b="0">
                <a:solidFill>
                  <a:srgbClr val="E2E8F0"/>
                </a:solidFill>
                <a:latin typeface="Segoe UI"/>
              </a:rPr>
              <a:t>Convert large NASA HDF5 files into fast Parquet files in 50,000-row chunks without running out of memory.</a:t>
            </a:r>
          </a:p>
          <a:p>
            <a:pPr algn="l">
              <a:spcAft>
                <a:spcPts val="500"/>
              </a:spcAft>
            </a:pPr>
            <a:r>
              <a:rPr sz="1050" b="1">
                <a:solidFill>
                  <a:srgbClr val="10B981"/>
                </a:solidFill>
                <a:latin typeface="Segoe UI"/>
              </a:rPr>
              <a:t>▸ </a:t>
            </a:r>
            <a:r>
              <a:rPr sz="1050" b="1">
                <a:solidFill>
                  <a:srgbClr val="FFFFFF"/>
                </a:solidFill>
                <a:latin typeface="Segoe UI"/>
              </a:rPr>
              <a:t>2. Batch &amp; Streaming Pipelines: </a:t>
            </a:r>
            <a:r>
              <a:rPr sz="1000" b="0">
                <a:solidFill>
                  <a:srgbClr val="E2E8F0"/>
                </a:solidFill>
                <a:latin typeface="Segoe UI"/>
              </a:rPr>
              <a:t>Use Spark Batch for full historical analysis and Kafka + Spark Streaming for real-time alert simulation.</a:t>
            </a:r>
          </a:p>
          <a:p>
            <a:pPr algn="l">
              <a:spcAft>
                <a:spcPts val="500"/>
              </a:spcAft>
            </a:pPr>
            <a:r>
              <a:rPr sz="1050" b="1">
                <a:solidFill>
                  <a:srgbClr val="10B981"/>
                </a:solidFill>
                <a:latin typeface="Segoe UI"/>
              </a:rPr>
              <a:t>▸ </a:t>
            </a:r>
            <a:r>
              <a:rPr sz="1050" b="1">
                <a:solidFill>
                  <a:srgbClr val="FFFFFF"/>
                </a:solidFill>
                <a:latin typeface="Segoe UI"/>
              </a:rPr>
              <a:t>3. Accurate Machine Learning: </a:t>
            </a:r>
            <a:r>
              <a:rPr sz="1000" b="0">
                <a:solidFill>
                  <a:srgbClr val="E2E8F0"/>
                </a:solidFill>
                <a:latin typeface="Segoe UI"/>
              </a:rPr>
              <a:t>Train and compare 3 regression models in Spark MLlib to predict RUL without data leakage.</a:t>
            </a:r>
          </a:p>
          <a:p>
            <a:pPr algn="l">
              <a:spcAft>
                <a:spcPts val="500"/>
              </a:spcAft>
            </a:pPr>
            <a:r>
              <a:rPr sz="1050" b="1">
                <a:solidFill>
                  <a:srgbClr val="10B981"/>
                </a:solidFill>
                <a:latin typeface="Segoe UI"/>
              </a:rPr>
              <a:t>▸ </a:t>
            </a:r>
            <a:r>
              <a:rPr sz="1050" b="1">
                <a:solidFill>
                  <a:srgbClr val="FFFFFF"/>
                </a:solidFill>
                <a:latin typeface="Segoe UI"/>
              </a:rPr>
              <a:t>4. Automated Workflow &amp; Dashboard: </a:t>
            </a:r>
            <a:r>
              <a:rPr sz="1000" b="0">
                <a:solidFill>
                  <a:srgbClr val="E2E8F0"/>
                </a:solidFill>
                <a:latin typeface="Segoe UI"/>
              </a:rPr>
              <a:t>Use Airflow to run all 10 pipeline steps automatically and show results in ClickHouse and Superset.</a:t>
            </a:r>
          </a:p>
        </p:txBody>
      </p:sp>
      <p:sp>
        <p:nvSpPr>
          <p:cNvPr id="25" name="Rounded Rectangle 24"/>
          <p:cNvSpPr/>
          <p:nvPr/>
        </p:nvSpPr>
        <p:spPr>
          <a:xfrm>
            <a:off x="6126480" y="1078992"/>
            <a:ext cx="5678424" cy="3246120"/>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0" y="1078992"/>
            <a:ext cx="5678424"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26480" y="1133856"/>
            <a:ext cx="5678424"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54496" y="1152144"/>
            <a:ext cx="5422392" cy="292608"/>
          </a:xfrm>
          <a:prstGeom prst="rect">
            <a:avLst/>
          </a:prstGeom>
          <a:noFill/>
        </p:spPr>
        <p:txBody>
          <a:bodyPr wrap="square" anchor="ctr" lIns="45720" rIns="45720" tIns="27432" bIns="27432">
            <a:spAutoFit/>
          </a:bodyPr>
          <a:lstStyle/>
          <a:p>
            <a:pPr algn="l"/>
            <a:r>
              <a:rPr sz="1150" b="1" i="0">
                <a:solidFill>
                  <a:srgbClr val="FFFFFF"/>
                </a:solidFill>
                <a:latin typeface="Segoe UI"/>
              </a:rPr>
              <a:t>HOW RUL PREDICTION TRIGGERS ALERTS</a:t>
            </a:r>
          </a:p>
        </p:txBody>
      </p:sp>
      <p:pic>
        <p:nvPicPr>
          <p:cNvPr id="29" name="Picture 28" descr="rul_horizon_chart.png"/>
          <p:cNvPicPr>
            <a:picLocks noChangeAspect="1"/>
          </p:cNvPicPr>
          <p:nvPr/>
        </p:nvPicPr>
        <p:blipFill>
          <a:blip r:embed="rId2"/>
          <a:stretch>
            <a:fillRect/>
          </a:stretch>
        </p:blipFill>
        <p:spPr>
          <a:xfrm>
            <a:off x="6236208" y="1517904"/>
            <a:ext cx="5449824" cy="2900713"/>
          </a:xfrm>
          <a:prstGeom prst="rect">
            <a:avLst/>
          </a:prstGeom>
        </p:spPr>
      </p:pic>
      <p:sp>
        <p:nvSpPr>
          <p:cNvPr id="30" name="Rounded Rectangle 29"/>
          <p:cNvSpPr/>
          <p:nvPr/>
        </p:nvSpPr>
        <p:spPr>
          <a:xfrm>
            <a:off x="6126480" y="4462272"/>
            <a:ext cx="5678424" cy="1901952"/>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26480" y="4462272"/>
            <a:ext cx="567842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26480" y="4517136"/>
            <a:ext cx="5678424"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54496" y="4535424"/>
            <a:ext cx="5422392" cy="292608"/>
          </a:xfrm>
          <a:prstGeom prst="rect">
            <a:avLst/>
          </a:prstGeom>
          <a:noFill/>
        </p:spPr>
        <p:txBody>
          <a:bodyPr wrap="square" anchor="ctr" lIns="45720" rIns="45720" tIns="27432" bIns="27432">
            <a:spAutoFit/>
          </a:bodyPr>
          <a:lstStyle/>
          <a:p>
            <a:pPr algn="l"/>
            <a:r>
              <a:rPr sz="1150" b="1" i="0">
                <a:solidFill>
                  <a:srgbClr val="FFFFFF"/>
                </a:solidFill>
                <a:latin typeface="Segoe UI"/>
              </a:rPr>
              <a:t>WHY WE CHOSE THESE TECHNOLOGIES</a:t>
            </a:r>
          </a:p>
        </p:txBody>
      </p:sp>
      <p:sp>
        <p:nvSpPr>
          <p:cNvPr id="34" name="TextBox 33"/>
          <p:cNvSpPr txBox="1"/>
          <p:nvPr/>
        </p:nvSpPr>
        <p:spPr>
          <a:xfrm>
            <a:off x="6236208" y="4901184"/>
            <a:ext cx="5449824" cy="1371600"/>
          </a:xfrm>
          <a:prstGeom prst="rect">
            <a:avLst/>
          </a:prstGeom>
          <a:noFill/>
        </p:spPr>
        <p:txBody>
          <a:bodyPr wrap="square" lIns="54864" rIns="54864" tIns="36576" bIns="36576">
            <a:spAutoFit/>
          </a:bodyPr>
          <a:lstStyle/>
          <a:p>
            <a:pPr algn="l">
              <a:spcAft>
                <a:spcPts val="450"/>
              </a:spcAft>
            </a:pPr>
            <a:r>
              <a:rPr sz="1050" b="1">
                <a:solidFill>
                  <a:srgbClr val="F59E0B"/>
                </a:solidFill>
                <a:latin typeface="Segoe UI"/>
              </a:rPr>
              <a:t>▸ </a:t>
            </a:r>
            <a:r>
              <a:rPr sz="1050" b="1">
                <a:solidFill>
                  <a:srgbClr val="FFFFFF"/>
                </a:solidFill>
                <a:latin typeface="Segoe UI"/>
              </a:rPr>
              <a:t>Why Parquet? </a:t>
            </a:r>
            <a:r>
              <a:rPr sz="1000" b="0">
                <a:solidFill>
                  <a:srgbClr val="E2E8F0"/>
                </a:solidFill>
                <a:latin typeface="Segoe UI"/>
              </a:rPr>
              <a:t>Reads specific sensor columns fast and shrinks file size.</a:t>
            </a:r>
          </a:p>
          <a:p>
            <a:pPr algn="l">
              <a:spcAft>
                <a:spcPts val="450"/>
              </a:spcAft>
            </a:pPr>
            <a:r>
              <a:rPr sz="1050" b="1">
                <a:solidFill>
                  <a:srgbClr val="F59E0B"/>
                </a:solidFill>
                <a:latin typeface="Segoe UI"/>
              </a:rPr>
              <a:t>▸ </a:t>
            </a:r>
            <a:r>
              <a:rPr sz="1050" b="1">
                <a:solidFill>
                  <a:srgbClr val="FFFFFF"/>
                </a:solidFill>
                <a:latin typeface="Segoe UI"/>
              </a:rPr>
              <a:t>Why Kafka + Spark? </a:t>
            </a:r>
            <a:r>
              <a:rPr sz="1000" b="0">
                <a:solidFill>
                  <a:srgbClr val="E2E8F0"/>
                </a:solidFill>
                <a:latin typeface="Segoe UI"/>
              </a:rPr>
              <a:t>Handles high-speed sensor streams and calculates 30-second averages.</a:t>
            </a:r>
          </a:p>
          <a:p>
            <a:pPr algn="l">
              <a:spcAft>
                <a:spcPts val="450"/>
              </a:spcAft>
            </a:pPr>
            <a:r>
              <a:rPr sz="1050" b="1">
                <a:solidFill>
                  <a:srgbClr val="F59E0B"/>
                </a:solidFill>
                <a:latin typeface="Segoe UI"/>
              </a:rPr>
              <a:t>▸ </a:t>
            </a:r>
            <a:r>
              <a:rPr sz="1050" b="1">
                <a:solidFill>
                  <a:srgbClr val="FFFFFF"/>
                </a:solidFill>
                <a:latin typeface="Segoe UI"/>
              </a:rPr>
              <a:t>Why ClickHouse? </a:t>
            </a:r>
            <a:r>
              <a:rPr sz="1000" b="0">
                <a:solidFill>
                  <a:srgbClr val="E2E8F0"/>
                </a:solidFill>
                <a:latin typeface="Segoe UI"/>
              </a:rPr>
              <a:t>Runs dashboard queries on 600,000+ predictions in milliseconds.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12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877824"/>
          </a:xfrm>
          <a:prstGeom prst="rect">
            <a:avLst/>
          </a:prstGeom>
          <a:solidFill>
            <a:srgbClr val="0D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13716"/>
          </a:xfrm>
          <a:prstGeom prst="rect">
            <a:avLst/>
          </a:prstGeom>
          <a:solidFill>
            <a:srgbClr val="233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5448"/>
            <a:ext cx="2103120" cy="219456"/>
          </a:xfrm>
          <a:prstGeom prst="roundRect">
            <a:avLst>
              <a:gd name="adj" fmla="val 2500"/>
            </a:avLst>
          </a:prstGeom>
          <a:solidFill>
            <a:srgbClr val="162440"/>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55448"/>
            <a:ext cx="2103120" cy="219456"/>
          </a:xfrm>
          <a:prstGeom prst="rect">
            <a:avLst/>
          </a:prstGeom>
          <a:noFill/>
        </p:spPr>
        <p:txBody>
          <a:bodyPr wrap="square" anchor="ctr" lIns="45720" rIns="45720" tIns="27432" bIns="27432">
            <a:spAutoFit/>
          </a:bodyPr>
          <a:lstStyle/>
          <a:p>
            <a:pPr algn="ctr"/>
            <a:r>
              <a:rPr sz="850" b="1" i="0">
                <a:solidFill>
                  <a:srgbClr val="00D4FF"/>
                </a:solidFill>
                <a:latin typeface="Segoe UI"/>
              </a:rPr>
              <a:t>3. SYSTEM ARCHITECTURE</a:t>
            </a:r>
          </a:p>
        </p:txBody>
      </p:sp>
      <p:sp>
        <p:nvSpPr>
          <p:cNvPr id="7" name="TextBox 6"/>
          <p:cNvSpPr txBox="1"/>
          <p:nvPr/>
        </p:nvSpPr>
        <p:spPr>
          <a:xfrm>
            <a:off x="384048" y="384048"/>
            <a:ext cx="9875520" cy="329184"/>
          </a:xfrm>
          <a:prstGeom prst="rect">
            <a:avLst/>
          </a:prstGeom>
          <a:noFill/>
        </p:spPr>
        <p:txBody>
          <a:bodyPr wrap="square" anchor="t" lIns="45720" rIns="45720" tIns="27432" bIns="27432">
            <a:spAutoFit/>
          </a:bodyPr>
          <a:lstStyle/>
          <a:p>
            <a:pPr algn="l"/>
            <a:r>
              <a:rPr sz="2000" b="1" i="0">
                <a:solidFill>
                  <a:srgbClr val="FFFFFF"/>
                </a:solidFill>
                <a:latin typeface="Segoe UI"/>
              </a:rPr>
              <a:t>End-to-End System Architecture: Batch, Streaming, ML &amp; Dashboard</a:t>
            </a:r>
          </a:p>
        </p:txBody>
      </p:sp>
      <p:sp>
        <p:nvSpPr>
          <p:cNvPr id="8" name="TextBox 7"/>
          <p:cNvSpPr txBox="1"/>
          <p:nvPr/>
        </p:nvSpPr>
        <p:spPr>
          <a:xfrm>
            <a:off x="384048" y="685800"/>
            <a:ext cx="10515600" cy="219456"/>
          </a:xfrm>
          <a:prstGeom prst="rect">
            <a:avLst/>
          </a:prstGeom>
          <a:noFill/>
        </p:spPr>
        <p:txBody>
          <a:bodyPr wrap="square" anchor="t" lIns="45720" rIns="45720" tIns="27432" bIns="27432">
            <a:spAutoFit/>
          </a:bodyPr>
          <a:lstStyle/>
          <a:p>
            <a:pPr algn="l"/>
            <a:r>
              <a:rPr sz="1100" b="0" i="0">
                <a:solidFill>
                  <a:srgbClr val="94A3B8"/>
                </a:solidFill>
                <a:latin typeface="Segoe UI"/>
              </a:rPr>
              <a:t>Connecting the dataset, ingestion, storage, Spark processing, machine learning, Airflow, and Superset</a:t>
            </a:r>
          </a:p>
        </p:txBody>
      </p:sp>
      <p:sp>
        <p:nvSpPr>
          <p:cNvPr id="9" name="Rounded Rectangle 8"/>
          <p:cNvSpPr/>
          <p:nvPr/>
        </p:nvSpPr>
        <p:spPr>
          <a:xfrm>
            <a:off x="11109960" y="219456"/>
            <a:ext cx="685800" cy="384048"/>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09960" y="219456"/>
            <a:ext cx="685800" cy="384048"/>
          </a:xfrm>
          <a:prstGeom prst="rect">
            <a:avLst/>
          </a:prstGeom>
          <a:noFill/>
        </p:spPr>
        <p:txBody>
          <a:bodyPr wrap="square" anchor="ctr" lIns="45720" rIns="45720" tIns="27432" bIns="27432">
            <a:spAutoFit/>
          </a:bodyPr>
          <a:lstStyle/>
          <a:p>
            <a:pPr algn="ctr"/>
            <a:r>
              <a:rPr sz="1000" b="1" i="0">
                <a:solidFill>
                  <a:srgbClr val="00D4FF"/>
                </a:solidFill>
                <a:latin typeface="Segoe UI"/>
              </a:rPr>
              <a:t>04 / 12</a:t>
            </a:r>
          </a:p>
        </p:txBody>
      </p:sp>
      <p:sp>
        <p:nvSpPr>
          <p:cNvPr id="11" name="Rectangle 10"/>
          <p:cNvSpPr/>
          <p:nvPr/>
        </p:nvSpPr>
        <p:spPr>
          <a:xfrm>
            <a:off x="0" y="6510528"/>
            <a:ext cx="12191695" cy="347472"/>
          </a:xfrm>
          <a:prstGeom prst="rect">
            <a:avLst/>
          </a:prstGeom>
          <a:solidFill>
            <a:srgbClr val="0D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501384"/>
            <a:ext cx="12191695" cy="9144"/>
          </a:xfrm>
          <a:prstGeom prst="rect">
            <a:avLst/>
          </a:prstGeom>
          <a:solidFill>
            <a:srgbClr val="233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6547104"/>
            <a:ext cx="8046720" cy="237744"/>
          </a:xfrm>
          <a:prstGeom prst="rect">
            <a:avLst/>
          </a:prstGeom>
          <a:noFill/>
        </p:spPr>
        <p:txBody>
          <a:bodyPr wrap="square" anchor="t" lIns="45720" rIns="45720" tIns="27432" bIns="27432">
            <a:spAutoFit/>
          </a:bodyPr>
          <a:lstStyle/>
          <a:p>
            <a:pPr algn="l"/>
            <a:r>
              <a:rPr sz="850" b="0" i="0">
                <a:solidFill>
                  <a:srgbClr val="94A3B8"/>
                </a:solidFill>
                <a:latin typeface="Segoe UI"/>
              </a:rPr>
              <a:t>Source: NASA N-CMAPSS Dataset &amp; Verified Project Pipeline Logs</a:t>
            </a:r>
          </a:p>
        </p:txBody>
      </p:sp>
      <p:sp>
        <p:nvSpPr>
          <p:cNvPr id="14" name="TextBox 13"/>
          <p:cNvSpPr txBox="1"/>
          <p:nvPr/>
        </p:nvSpPr>
        <p:spPr>
          <a:xfrm>
            <a:off x="8503920" y="6547104"/>
            <a:ext cx="3291840" cy="237744"/>
          </a:xfrm>
          <a:prstGeom prst="rect">
            <a:avLst/>
          </a:prstGeom>
          <a:noFill/>
        </p:spPr>
        <p:txBody>
          <a:bodyPr wrap="square" anchor="t" lIns="45720" rIns="45720" tIns="27432" bIns="27432">
            <a:spAutoFit/>
          </a:bodyPr>
          <a:lstStyle/>
          <a:p>
            <a:pPr algn="r"/>
            <a:r>
              <a:rPr sz="850" b="0" i="0">
                <a:solidFill>
                  <a:srgbClr val="94A3B8"/>
                </a:solidFill>
                <a:latin typeface="Segoe UI"/>
              </a:rPr>
              <a:t>Aircraft Engine Predictive Maintenance | Big Data Project</a:t>
            </a:r>
          </a:p>
        </p:txBody>
      </p:sp>
      <p:sp>
        <p:nvSpPr>
          <p:cNvPr id="15" name="Rounded Rectangle 14"/>
          <p:cNvSpPr/>
          <p:nvPr/>
        </p:nvSpPr>
        <p:spPr>
          <a:xfrm>
            <a:off x="384048" y="1024128"/>
            <a:ext cx="11420856" cy="347472"/>
          </a:xfrm>
          <a:prstGeom prst="roundRect">
            <a:avLst>
              <a:gd name="adj" fmla="val 2500"/>
            </a:avLst>
          </a:prstGeom>
          <a:solidFill>
            <a:srgbClr val="162440"/>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 y="1060704"/>
            <a:ext cx="2286000" cy="256032"/>
          </a:xfrm>
          <a:prstGeom prst="rect">
            <a:avLst/>
          </a:prstGeom>
          <a:noFill/>
        </p:spPr>
        <p:txBody>
          <a:bodyPr wrap="square" anchor="ctr" lIns="45720" rIns="45720" tIns="27432" bIns="27432">
            <a:spAutoFit/>
          </a:bodyPr>
          <a:lstStyle/>
          <a:p>
            <a:pPr algn="l"/>
            <a:r>
              <a:rPr sz="950" b="1" i="0">
                <a:solidFill>
                  <a:srgbClr val="FFFFFF"/>
                </a:solidFill>
                <a:latin typeface="Segoe UI"/>
              </a:rPr>
              <a:t>DIAGRAM COLORS:</a:t>
            </a:r>
          </a:p>
        </p:txBody>
      </p:sp>
      <p:sp>
        <p:nvSpPr>
          <p:cNvPr id="17" name="Rectangle 16"/>
          <p:cNvSpPr/>
          <p:nvPr/>
        </p:nvSpPr>
        <p:spPr>
          <a:xfrm>
            <a:off x="2423160" y="1106424"/>
            <a:ext cx="256032" cy="16459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24912" y="1060704"/>
            <a:ext cx="2926080" cy="256032"/>
          </a:xfrm>
          <a:prstGeom prst="rect">
            <a:avLst/>
          </a:prstGeom>
          <a:noFill/>
        </p:spPr>
        <p:txBody>
          <a:bodyPr wrap="square" anchor="ctr" lIns="45720" rIns="45720" tIns="27432" bIns="27432">
            <a:spAutoFit/>
          </a:bodyPr>
          <a:lstStyle/>
          <a:p>
            <a:pPr algn="l"/>
            <a:r>
              <a:rPr sz="950" b="1" i="0">
                <a:solidFill>
                  <a:srgbClr val="00D4FF"/>
                </a:solidFill>
                <a:latin typeface="Segoe UI"/>
              </a:rPr>
              <a:t>Batch Path (HDFS + Spark + ML)</a:t>
            </a:r>
          </a:p>
        </p:txBody>
      </p:sp>
      <p:sp>
        <p:nvSpPr>
          <p:cNvPr id="19" name="Rectangle 18"/>
          <p:cNvSpPr/>
          <p:nvPr/>
        </p:nvSpPr>
        <p:spPr>
          <a:xfrm>
            <a:off x="5806440" y="1106424"/>
            <a:ext cx="256032" cy="1645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08192" y="1060704"/>
            <a:ext cx="3200400" cy="256032"/>
          </a:xfrm>
          <a:prstGeom prst="rect">
            <a:avLst/>
          </a:prstGeom>
          <a:noFill/>
        </p:spPr>
        <p:txBody>
          <a:bodyPr wrap="square" anchor="ctr" lIns="45720" rIns="45720" tIns="27432" bIns="27432">
            <a:spAutoFit/>
          </a:bodyPr>
          <a:lstStyle/>
          <a:p>
            <a:pPr algn="l"/>
            <a:r>
              <a:rPr sz="950" b="1" i="0">
                <a:solidFill>
                  <a:srgbClr val="F59E0B"/>
                </a:solidFill>
                <a:latin typeface="Segoe UI"/>
              </a:rPr>
              <a:t>Streaming Path (Kafka + Spark Stream)</a:t>
            </a:r>
          </a:p>
        </p:txBody>
      </p:sp>
      <p:sp>
        <p:nvSpPr>
          <p:cNvPr id="21" name="Rectangle 20"/>
          <p:cNvSpPr/>
          <p:nvPr/>
        </p:nvSpPr>
        <p:spPr>
          <a:xfrm>
            <a:off x="9372600" y="1106424"/>
            <a:ext cx="256032" cy="16459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74352" y="1060704"/>
            <a:ext cx="2011680" cy="256032"/>
          </a:xfrm>
          <a:prstGeom prst="rect">
            <a:avLst/>
          </a:prstGeom>
          <a:noFill/>
        </p:spPr>
        <p:txBody>
          <a:bodyPr wrap="square" anchor="ctr" lIns="45720" rIns="45720" tIns="27432" bIns="27432">
            <a:spAutoFit/>
          </a:bodyPr>
          <a:lstStyle/>
          <a:p>
            <a:pPr algn="l"/>
            <a:r>
              <a:rPr sz="950" b="1" i="0">
                <a:solidFill>
                  <a:srgbClr val="10B981"/>
                </a:solidFill>
                <a:latin typeface="Segoe UI"/>
              </a:rPr>
              <a:t>Database &amp; Dashboard</a:t>
            </a:r>
          </a:p>
        </p:txBody>
      </p:sp>
      <p:sp>
        <p:nvSpPr>
          <p:cNvPr id="23" name="Rounded Rectangle 22"/>
          <p:cNvSpPr/>
          <p:nvPr/>
        </p:nvSpPr>
        <p:spPr>
          <a:xfrm>
            <a:off x="384048" y="1481328"/>
            <a:ext cx="2148840" cy="3749039"/>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84048" y="1481328"/>
            <a:ext cx="2148840"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4048" y="1536192"/>
            <a:ext cx="2148840"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2064" y="1554480"/>
            <a:ext cx="1892808" cy="292608"/>
          </a:xfrm>
          <a:prstGeom prst="rect">
            <a:avLst/>
          </a:prstGeom>
          <a:noFill/>
        </p:spPr>
        <p:txBody>
          <a:bodyPr wrap="square" anchor="ctr" lIns="45720" rIns="45720" tIns="27432" bIns="27432">
            <a:spAutoFit/>
          </a:bodyPr>
          <a:lstStyle/>
          <a:p>
            <a:pPr algn="l"/>
            <a:r>
              <a:rPr sz="1150" b="1" i="0">
                <a:solidFill>
                  <a:srgbClr val="FFFFFF"/>
                </a:solidFill>
                <a:latin typeface="Segoe UI"/>
              </a:rPr>
              <a:t>1. DATA SOURCE &amp; PREP</a:t>
            </a:r>
          </a:p>
        </p:txBody>
      </p:sp>
      <p:sp>
        <p:nvSpPr>
          <p:cNvPr id="27" name="Rounded Rectangle 26"/>
          <p:cNvSpPr/>
          <p:nvPr/>
        </p:nvSpPr>
        <p:spPr>
          <a:xfrm>
            <a:off x="512064" y="1938528"/>
            <a:ext cx="1892807" cy="960120"/>
          </a:xfrm>
          <a:prstGeom prst="roundRect">
            <a:avLst>
              <a:gd name="adj" fmla="val 2500"/>
            </a:avLst>
          </a:prstGeom>
          <a:solidFill>
            <a:srgbClr val="162440"/>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1975104"/>
            <a:ext cx="1783080" cy="877824"/>
          </a:xfrm>
          <a:prstGeom prst="rect">
            <a:avLst/>
          </a:prstGeom>
          <a:noFill/>
        </p:spPr>
        <p:txBody>
          <a:bodyPr wrap="square" anchor="t" lIns="45720" rIns="45720" tIns="27432" bIns="27432">
            <a:spAutoFit/>
          </a:bodyPr>
          <a:lstStyle/>
          <a:p>
            <a:pPr algn="l"/>
            <a:r>
              <a:rPr sz="900" b="1" i="0">
                <a:solidFill>
                  <a:srgbClr val="FFFFFF"/>
                </a:solidFill>
                <a:latin typeface="Segoe UI"/>
              </a:rPr>
              <a:t>NASA N-CMAPSS HDF5
• DS01-005 (2.68 GB)
• DS03-012 (3.44 GB)
• 50 Columns Total</a:t>
            </a:r>
          </a:p>
        </p:txBody>
      </p:sp>
      <p:sp>
        <p:nvSpPr>
          <p:cNvPr id="29" name="TextBox 28"/>
          <p:cNvSpPr txBox="1"/>
          <p:nvPr/>
        </p:nvSpPr>
        <p:spPr>
          <a:xfrm>
            <a:off x="512064" y="2926080"/>
            <a:ext cx="1892807" cy="237744"/>
          </a:xfrm>
          <a:prstGeom prst="rect">
            <a:avLst/>
          </a:prstGeom>
          <a:noFill/>
        </p:spPr>
        <p:txBody>
          <a:bodyPr wrap="square" anchor="t" lIns="45720" rIns="45720" tIns="27432" bIns="27432">
            <a:spAutoFit/>
          </a:bodyPr>
          <a:lstStyle/>
          <a:p>
            <a:pPr algn="ctr"/>
            <a:r>
              <a:rPr sz="880" b="1" i="0">
                <a:solidFill>
                  <a:srgbClr val="00D4FF"/>
                </a:solidFill>
                <a:latin typeface="Segoe UI"/>
              </a:rPr>
              <a:t>▼ Convert (50K chunks)</a:t>
            </a:r>
          </a:p>
        </p:txBody>
      </p:sp>
      <p:sp>
        <p:nvSpPr>
          <p:cNvPr id="30" name="Rounded Rectangle 29"/>
          <p:cNvSpPr/>
          <p:nvPr/>
        </p:nvSpPr>
        <p:spPr>
          <a:xfrm>
            <a:off x="512064" y="3182112"/>
            <a:ext cx="1892807" cy="960120"/>
          </a:xfrm>
          <a:prstGeom prst="roundRect">
            <a:avLst>
              <a:gd name="adj" fmla="val 2500"/>
            </a:avLst>
          </a:prstGeom>
          <a:solidFill>
            <a:srgbClr val="162440"/>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3218688"/>
            <a:ext cx="1783080" cy="877824"/>
          </a:xfrm>
          <a:prstGeom prst="rect">
            <a:avLst/>
          </a:prstGeom>
          <a:noFill/>
        </p:spPr>
        <p:txBody>
          <a:bodyPr wrap="square" anchor="t" lIns="45720" rIns="45720" tIns="27432" bIns="27432">
            <a:spAutoFit/>
          </a:bodyPr>
          <a:lstStyle/>
          <a:p>
            <a:pPr algn="l"/>
            <a:r>
              <a:rPr sz="900" b="1" i="0">
                <a:solidFill>
                  <a:srgbClr val="FFFFFF"/>
                </a:solidFill>
                <a:latin typeface="Segoe UI"/>
              </a:rPr>
              <a:t>Apache Parquet Files
• Snappy Compressed
• dev.parquet &amp; test.parquet
• replay_sample.parquet</a:t>
            </a:r>
          </a:p>
        </p:txBody>
      </p:sp>
      <p:sp>
        <p:nvSpPr>
          <p:cNvPr id="32" name="Rounded Rectangle 31"/>
          <p:cNvSpPr/>
          <p:nvPr/>
        </p:nvSpPr>
        <p:spPr>
          <a:xfrm>
            <a:off x="512064" y="4251960"/>
            <a:ext cx="1892807" cy="841248"/>
          </a:xfrm>
          <a:prstGeom prst="roundRect">
            <a:avLst>
              <a:gd name="adj" fmla="val 2500"/>
            </a:avLst>
          </a:prstGeom>
          <a:solidFill>
            <a:srgbClr val="0A1120"/>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 y="4297680"/>
            <a:ext cx="1783080" cy="749808"/>
          </a:xfrm>
          <a:prstGeom prst="rect">
            <a:avLst/>
          </a:prstGeom>
          <a:noFill/>
        </p:spPr>
        <p:txBody>
          <a:bodyPr wrap="square" anchor="t" lIns="45720" rIns="45720" tIns="27432" bIns="27432">
            <a:spAutoFit/>
          </a:bodyPr>
          <a:lstStyle/>
          <a:p>
            <a:pPr algn="l"/>
            <a:r>
              <a:rPr sz="850" b="0" i="0">
                <a:solidFill>
                  <a:srgbClr val="94A3B8"/>
                </a:solidFill>
                <a:latin typeface="Segoe UI"/>
              </a:rPr>
              <a:t>WHY? Prevents memory crashes and checks that real RUL labels exist.</a:t>
            </a:r>
          </a:p>
        </p:txBody>
      </p:sp>
      <p:sp>
        <p:nvSpPr>
          <p:cNvPr id="34" name="TextBox 33"/>
          <p:cNvSpPr txBox="1"/>
          <p:nvPr/>
        </p:nvSpPr>
        <p:spPr>
          <a:xfrm>
            <a:off x="2542032" y="2240280"/>
            <a:ext cx="384048" cy="320040"/>
          </a:xfrm>
          <a:prstGeom prst="rect">
            <a:avLst/>
          </a:prstGeom>
          <a:noFill/>
        </p:spPr>
        <p:txBody>
          <a:bodyPr wrap="square" anchor="t" lIns="45720" rIns="45720" tIns="27432" bIns="27432">
            <a:spAutoFit/>
          </a:bodyPr>
          <a:lstStyle/>
          <a:p>
            <a:pPr algn="ctr"/>
            <a:r>
              <a:rPr sz="1800" b="1" i="0">
                <a:solidFill>
                  <a:srgbClr val="00D4FF"/>
                </a:solidFill>
                <a:latin typeface="Segoe UI"/>
              </a:rPr>
              <a:t>➔</a:t>
            </a:r>
          </a:p>
        </p:txBody>
      </p:sp>
      <p:sp>
        <p:nvSpPr>
          <p:cNvPr id="35" name="TextBox 34"/>
          <p:cNvSpPr txBox="1"/>
          <p:nvPr/>
        </p:nvSpPr>
        <p:spPr>
          <a:xfrm>
            <a:off x="2542032" y="3977639"/>
            <a:ext cx="384048" cy="320040"/>
          </a:xfrm>
          <a:prstGeom prst="rect">
            <a:avLst/>
          </a:prstGeom>
          <a:noFill/>
        </p:spPr>
        <p:txBody>
          <a:bodyPr wrap="square" anchor="t" lIns="45720" rIns="45720" tIns="27432" bIns="27432">
            <a:spAutoFit/>
          </a:bodyPr>
          <a:lstStyle/>
          <a:p>
            <a:pPr algn="ctr"/>
            <a:r>
              <a:rPr sz="1800" b="1" i="0">
                <a:solidFill>
                  <a:srgbClr val="F59E0B"/>
                </a:solidFill>
                <a:latin typeface="Segoe UI"/>
              </a:rPr>
              <a:t>➔</a:t>
            </a:r>
          </a:p>
        </p:txBody>
      </p:sp>
      <p:sp>
        <p:nvSpPr>
          <p:cNvPr id="36" name="Rounded Rectangle 35"/>
          <p:cNvSpPr/>
          <p:nvPr/>
        </p:nvSpPr>
        <p:spPr>
          <a:xfrm>
            <a:off x="2926080" y="1481328"/>
            <a:ext cx="5897880" cy="1783080"/>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926080" y="1481328"/>
            <a:ext cx="5897880"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926080" y="1536192"/>
            <a:ext cx="5897880"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054096" y="1554480"/>
            <a:ext cx="5641848" cy="292608"/>
          </a:xfrm>
          <a:prstGeom prst="rect">
            <a:avLst/>
          </a:prstGeom>
          <a:noFill/>
        </p:spPr>
        <p:txBody>
          <a:bodyPr wrap="square" anchor="ctr" lIns="45720" rIns="45720" tIns="27432" bIns="27432">
            <a:spAutoFit/>
          </a:bodyPr>
          <a:lstStyle/>
          <a:p>
            <a:pPr algn="l"/>
            <a:r>
              <a:rPr sz="1150" b="1" i="0">
                <a:solidFill>
                  <a:srgbClr val="FFFFFF"/>
                </a:solidFill>
                <a:latin typeface="Segoe UI"/>
              </a:rPr>
              <a:t>2A. BATCH PIPELINE (STORAGE, SUMMARY &amp; MACHINE LEARNING)</a:t>
            </a:r>
          </a:p>
        </p:txBody>
      </p:sp>
      <p:sp>
        <p:nvSpPr>
          <p:cNvPr id="40" name="Rounded Rectangle 39"/>
          <p:cNvSpPr/>
          <p:nvPr/>
        </p:nvSpPr>
        <p:spPr>
          <a:xfrm>
            <a:off x="3054096" y="1938528"/>
            <a:ext cx="1755648" cy="1207008"/>
          </a:xfrm>
          <a:prstGeom prst="roundRect">
            <a:avLst>
              <a:gd name="adj" fmla="val 2500"/>
            </a:avLst>
          </a:prstGeom>
          <a:solidFill>
            <a:srgbClr val="162440"/>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108960" y="1975104"/>
            <a:ext cx="1645920" cy="1133856"/>
          </a:xfrm>
          <a:prstGeom prst="rect">
            <a:avLst/>
          </a:prstGeom>
          <a:noFill/>
        </p:spPr>
        <p:txBody>
          <a:bodyPr wrap="square" anchor="t" lIns="45720" rIns="45720" tIns="27432" bIns="27432">
            <a:spAutoFit/>
          </a:bodyPr>
          <a:lstStyle/>
          <a:p>
            <a:pPr algn="l"/>
            <a:r>
              <a:rPr sz="880" b="1" i="0">
                <a:solidFill>
                  <a:srgbClr val="FFFFFF"/>
                </a:solidFill>
                <a:latin typeface="Segoe UI"/>
              </a:rPr>
              <a:t>Hadoop HDFS Storage
• NameNode + DataNode
• Stores Parquet data,
  ML models, and
  predictions</a:t>
            </a:r>
          </a:p>
        </p:txBody>
      </p:sp>
      <p:sp>
        <p:nvSpPr>
          <p:cNvPr id="42" name="TextBox 41"/>
          <p:cNvSpPr txBox="1"/>
          <p:nvPr/>
        </p:nvSpPr>
        <p:spPr>
          <a:xfrm>
            <a:off x="4818888" y="2359152"/>
            <a:ext cx="256032" cy="274320"/>
          </a:xfrm>
          <a:prstGeom prst="rect">
            <a:avLst/>
          </a:prstGeom>
          <a:noFill/>
        </p:spPr>
        <p:txBody>
          <a:bodyPr wrap="square" anchor="t" lIns="45720" rIns="45720" tIns="27432" bIns="27432">
            <a:spAutoFit/>
          </a:bodyPr>
          <a:lstStyle/>
          <a:p>
            <a:pPr algn="ctr"/>
            <a:r>
              <a:rPr sz="1400" b="1" i="0">
                <a:solidFill>
                  <a:srgbClr val="00D4FF"/>
                </a:solidFill>
                <a:latin typeface="Segoe UI"/>
              </a:rPr>
              <a:t>➔</a:t>
            </a:r>
          </a:p>
        </p:txBody>
      </p:sp>
      <p:sp>
        <p:nvSpPr>
          <p:cNvPr id="43" name="Rounded Rectangle 42"/>
          <p:cNvSpPr/>
          <p:nvPr/>
        </p:nvSpPr>
        <p:spPr>
          <a:xfrm>
            <a:off x="5074920" y="1938528"/>
            <a:ext cx="1755648" cy="1207008"/>
          </a:xfrm>
          <a:prstGeom prst="roundRect">
            <a:avLst>
              <a:gd name="adj" fmla="val 2500"/>
            </a:avLst>
          </a:prstGeom>
          <a:solidFill>
            <a:srgbClr val="162440"/>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129784" y="1975104"/>
            <a:ext cx="1645920" cy="1133856"/>
          </a:xfrm>
          <a:prstGeom prst="rect">
            <a:avLst/>
          </a:prstGeom>
          <a:noFill/>
        </p:spPr>
        <p:txBody>
          <a:bodyPr wrap="square" anchor="t" lIns="45720" rIns="45720" tIns="27432" bIns="27432">
            <a:spAutoFit/>
          </a:bodyPr>
          <a:lstStyle/>
          <a:p>
            <a:pPr algn="l"/>
            <a:r>
              <a:rPr sz="880" b="1" i="0">
                <a:solidFill>
                  <a:srgbClr val="FFFFFF"/>
                </a:solidFill>
                <a:latin typeface="Segoe UI"/>
              </a:rPr>
              <a:t>Spark Batch Job
• spark_batch_summary.py
• Calculates min, max,
  and average RUL
  for each engine</a:t>
            </a:r>
          </a:p>
        </p:txBody>
      </p:sp>
      <p:sp>
        <p:nvSpPr>
          <p:cNvPr id="45" name="TextBox 44"/>
          <p:cNvSpPr txBox="1"/>
          <p:nvPr/>
        </p:nvSpPr>
        <p:spPr>
          <a:xfrm>
            <a:off x="6839712" y="2359152"/>
            <a:ext cx="256032" cy="274320"/>
          </a:xfrm>
          <a:prstGeom prst="rect">
            <a:avLst/>
          </a:prstGeom>
          <a:noFill/>
        </p:spPr>
        <p:txBody>
          <a:bodyPr wrap="square" anchor="t" lIns="45720" rIns="45720" tIns="27432" bIns="27432">
            <a:spAutoFit/>
          </a:bodyPr>
          <a:lstStyle/>
          <a:p>
            <a:pPr algn="ctr"/>
            <a:r>
              <a:rPr sz="1400" b="1" i="0">
                <a:solidFill>
                  <a:srgbClr val="00D4FF"/>
                </a:solidFill>
                <a:latin typeface="Segoe UI"/>
              </a:rPr>
              <a:t>➔</a:t>
            </a:r>
          </a:p>
        </p:txBody>
      </p:sp>
      <p:sp>
        <p:nvSpPr>
          <p:cNvPr id="46" name="Rounded Rectangle 45"/>
          <p:cNvSpPr/>
          <p:nvPr/>
        </p:nvSpPr>
        <p:spPr>
          <a:xfrm>
            <a:off x="7095744" y="1938528"/>
            <a:ext cx="1609344" cy="1207008"/>
          </a:xfrm>
          <a:prstGeom prst="roundRect">
            <a:avLst>
              <a:gd name="adj" fmla="val 2500"/>
            </a:avLst>
          </a:prstGeom>
          <a:solidFill>
            <a:srgbClr val="162440"/>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150608" y="1975104"/>
            <a:ext cx="1499616" cy="1133856"/>
          </a:xfrm>
          <a:prstGeom prst="rect">
            <a:avLst/>
          </a:prstGeom>
          <a:noFill/>
        </p:spPr>
        <p:txBody>
          <a:bodyPr wrap="square" anchor="t" lIns="45720" rIns="45720" tIns="27432" bIns="27432">
            <a:spAutoFit/>
          </a:bodyPr>
          <a:lstStyle/>
          <a:p>
            <a:pPr algn="l"/>
            <a:r>
              <a:rPr sz="880" b="1" i="0">
                <a:solidFill>
                  <a:srgbClr val="FFFFFF"/>
                </a:solidFill>
                <a:latin typeface="Segoe UI"/>
              </a:rPr>
              <a:t>Spark MLlib Models
• Splits by Engine ID
• Random Forest Winner
• Predicts RUL on
  2.73M test rows</a:t>
            </a:r>
          </a:p>
        </p:txBody>
      </p:sp>
      <p:sp>
        <p:nvSpPr>
          <p:cNvPr id="48" name="Rounded Rectangle 47"/>
          <p:cNvSpPr/>
          <p:nvPr/>
        </p:nvSpPr>
        <p:spPr>
          <a:xfrm>
            <a:off x="2926080" y="3429000"/>
            <a:ext cx="5897880" cy="1801368"/>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926080" y="3429000"/>
            <a:ext cx="589788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926080" y="3483864"/>
            <a:ext cx="5897880"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054096" y="3502152"/>
            <a:ext cx="5641848" cy="292608"/>
          </a:xfrm>
          <a:prstGeom prst="rect">
            <a:avLst/>
          </a:prstGeom>
          <a:noFill/>
        </p:spPr>
        <p:txBody>
          <a:bodyPr wrap="square" anchor="ctr" lIns="45720" rIns="45720" tIns="27432" bIns="27432">
            <a:spAutoFit/>
          </a:bodyPr>
          <a:lstStyle/>
          <a:p>
            <a:pPr algn="l"/>
            <a:r>
              <a:rPr sz="1150" b="1" i="0">
                <a:solidFill>
                  <a:srgbClr val="FFFFFF"/>
                </a:solidFill>
                <a:latin typeface="Segoe UI"/>
              </a:rPr>
              <a:t>2B. STREAMING PIPELINE (HISTORICAL DATA REPLAY — NOT LIVE FLIGHT)</a:t>
            </a:r>
          </a:p>
        </p:txBody>
      </p:sp>
      <p:sp>
        <p:nvSpPr>
          <p:cNvPr id="52" name="Rounded Rectangle 51"/>
          <p:cNvSpPr/>
          <p:nvPr/>
        </p:nvSpPr>
        <p:spPr>
          <a:xfrm>
            <a:off x="3054096" y="3886200"/>
            <a:ext cx="1755648" cy="1225296"/>
          </a:xfrm>
          <a:prstGeom prst="roundRect">
            <a:avLst>
              <a:gd name="adj" fmla="val 2500"/>
            </a:avLst>
          </a:prstGeom>
          <a:solidFill>
            <a:srgbClr val="162440"/>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108960" y="3922776"/>
            <a:ext cx="1645920" cy="1152144"/>
          </a:xfrm>
          <a:prstGeom prst="rect">
            <a:avLst/>
          </a:prstGeom>
          <a:noFill/>
        </p:spPr>
        <p:txBody>
          <a:bodyPr wrap="square" anchor="t" lIns="45720" rIns="45720" tIns="27432" bIns="27432">
            <a:spAutoFit/>
          </a:bodyPr>
          <a:lstStyle/>
          <a:p>
            <a:pPr algn="l"/>
            <a:r>
              <a:rPr sz="880" b="1" i="0">
                <a:solidFill>
                  <a:srgbClr val="FFFFFF"/>
                </a:solidFill>
                <a:latin typeface="Segoe UI"/>
              </a:rPr>
              <a:t>Python Kafka Producer
• Replays Parquet rows
• Sends 200 msgs/sec
• Adds 2% bad messages
  to test error handling</a:t>
            </a:r>
          </a:p>
        </p:txBody>
      </p:sp>
      <p:sp>
        <p:nvSpPr>
          <p:cNvPr id="54" name="TextBox 53"/>
          <p:cNvSpPr txBox="1"/>
          <p:nvPr/>
        </p:nvSpPr>
        <p:spPr>
          <a:xfrm>
            <a:off x="4818888" y="4315968"/>
            <a:ext cx="256032" cy="274320"/>
          </a:xfrm>
          <a:prstGeom prst="rect">
            <a:avLst/>
          </a:prstGeom>
          <a:noFill/>
        </p:spPr>
        <p:txBody>
          <a:bodyPr wrap="square" anchor="t" lIns="45720" rIns="45720" tIns="27432" bIns="27432">
            <a:spAutoFit/>
          </a:bodyPr>
          <a:lstStyle/>
          <a:p>
            <a:pPr algn="ctr"/>
            <a:r>
              <a:rPr sz="1400" b="1" i="0">
                <a:solidFill>
                  <a:srgbClr val="F59E0B"/>
                </a:solidFill>
                <a:latin typeface="Segoe UI"/>
              </a:rPr>
              <a:t>➔</a:t>
            </a:r>
          </a:p>
        </p:txBody>
      </p:sp>
      <p:sp>
        <p:nvSpPr>
          <p:cNvPr id="55" name="Rounded Rectangle 54"/>
          <p:cNvSpPr/>
          <p:nvPr/>
        </p:nvSpPr>
        <p:spPr>
          <a:xfrm>
            <a:off x="5074920" y="3886200"/>
            <a:ext cx="1755648" cy="1225296"/>
          </a:xfrm>
          <a:prstGeom prst="roundRect">
            <a:avLst>
              <a:gd name="adj" fmla="val 2500"/>
            </a:avLst>
          </a:prstGeom>
          <a:solidFill>
            <a:srgbClr val="162440"/>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129784" y="3922776"/>
            <a:ext cx="1645920" cy="1152144"/>
          </a:xfrm>
          <a:prstGeom prst="rect">
            <a:avLst/>
          </a:prstGeom>
          <a:noFill/>
        </p:spPr>
        <p:txBody>
          <a:bodyPr wrap="square" anchor="t" lIns="45720" rIns="45720" tIns="27432" bIns="27432">
            <a:spAutoFit/>
          </a:bodyPr>
          <a:lstStyle/>
          <a:p>
            <a:pPr algn="l"/>
            <a:r>
              <a:rPr sz="880" b="1" i="0">
                <a:solidFill>
                  <a:srgbClr val="FFFFFF"/>
                </a:solidFill>
                <a:latin typeface="Segoe UI"/>
              </a:rPr>
              <a:t>Apache Kafka (KRaft)
• engine-telemetry (41K)
• engine-health-results
• maintenance-alerts
• 3 Partitions per topic</a:t>
            </a:r>
          </a:p>
        </p:txBody>
      </p:sp>
      <p:sp>
        <p:nvSpPr>
          <p:cNvPr id="57" name="TextBox 56"/>
          <p:cNvSpPr txBox="1"/>
          <p:nvPr/>
        </p:nvSpPr>
        <p:spPr>
          <a:xfrm>
            <a:off x="6839712" y="4315968"/>
            <a:ext cx="256032" cy="274320"/>
          </a:xfrm>
          <a:prstGeom prst="rect">
            <a:avLst/>
          </a:prstGeom>
          <a:noFill/>
        </p:spPr>
        <p:txBody>
          <a:bodyPr wrap="square" anchor="t" lIns="45720" rIns="45720" tIns="27432" bIns="27432">
            <a:spAutoFit/>
          </a:bodyPr>
          <a:lstStyle/>
          <a:p>
            <a:pPr algn="ctr"/>
            <a:r>
              <a:rPr sz="1400" b="1" i="0">
                <a:solidFill>
                  <a:srgbClr val="F59E0B"/>
                </a:solidFill>
                <a:latin typeface="Segoe UI"/>
              </a:rPr>
              <a:t>➔</a:t>
            </a:r>
          </a:p>
        </p:txBody>
      </p:sp>
      <p:sp>
        <p:nvSpPr>
          <p:cNvPr id="58" name="Rounded Rectangle 57"/>
          <p:cNvSpPr/>
          <p:nvPr/>
        </p:nvSpPr>
        <p:spPr>
          <a:xfrm>
            <a:off x="7095744" y="3886200"/>
            <a:ext cx="1609344" cy="1225296"/>
          </a:xfrm>
          <a:prstGeom prst="roundRect">
            <a:avLst>
              <a:gd name="adj" fmla="val 2500"/>
            </a:avLst>
          </a:prstGeom>
          <a:solidFill>
            <a:srgbClr val="162440"/>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150608" y="3922776"/>
            <a:ext cx="1499616" cy="1152144"/>
          </a:xfrm>
          <a:prstGeom prst="rect">
            <a:avLst/>
          </a:prstGeom>
          <a:noFill/>
        </p:spPr>
        <p:txBody>
          <a:bodyPr wrap="square" anchor="t" lIns="45720" rIns="45720" tIns="27432" bIns="27432">
            <a:spAutoFit/>
          </a:bodyPr>
          <a:lstStyle/>
          <a:p>
            <a:pPr algn="l"/>
            <a:r>
              <a:rPr sz="880" b="1" i="0">
                <a:solidFill>
                  <a:srgbClr val="FFFFFF"/>
                </a:solidFill>
                <a:latin typeface="Segoe UI"/>
              </a:rPr>
              <a:t>Spark Streaming
• 30-sec Window stats
• Sends bad JSON to
  HDFS Quarantine (DLQ)
• Writes live alerts</a:t>
            </a:r>
          </a:p>
        </p:txBody>
      </p:sp>
      <p:sp>
        <p:nvSpPr>
          <p:cNvPr id="60" name="TextBox 59"/>
          <p:cNvSpPr txBox="1"/>
          <p:nvPr/>
        </p:nvSpPr>
        <p:spPr>
          <a:xfrm>
            <a:off x="8833104" y="2359152"/>
            <a:ext cx="384048" cy="320040"/>
          </a:xfrm>
          <a:prstGeom prst="rect">
            <a:avLst/>
          </a:prstGeom>
          <a:noFill/>
        </p:spPr>
        <p:txBody>
          <a:bodyPr wrap="square" anchor="t" lIns="45720" rIns="45720" tIns="27432" bIns="27432">
            <a:spAutoFit/>
          </a:bodyPr>
          <a:lstStyle/>
          <a:p>
            <a:pPr algn="ctr"/>
            <a:r>
              <a:rPr sz="1800" b="1" i="0">
                <a:solidFill>
                  <a:srgbClr val="00D4FF"/>
                </a:solidFill>
                <a:latin typeface="Segoe UI"/>
              </a:rPr>
              <a:t>➔</a:t>
            </a:r>
          </a:p>
        </p:txBody>
      </p:sp>
      <p:sp>
        <p:nvSpPr>
          <p:cNvPr id="61" name="TextBox 60"/>
          <p:cNvSpPr txBox="1"/>
          <p:nvPr/>
        </p:nvSpPr>
        <p:spPr>
          <a:xfrm>
            <a:off x="8833104" y="4315968"/>
            <a:ext cx="384048" cy="320040"/>
          </a:xfrm>
          <a:prstGeom prst="rect">
            <a:avLst/>
          </a:prstGeom>
          <a:noFill/>
        </p:spPr>
        <p:txBody>
          <a:bodyPr wrap="square" anchor="t" lIns="45720" rIns="45720" tIns="27432" bIns="27432">
            <a:spAutoFit/>
          </a:bodyPr>
          <a:lstStyle/>
          <a:p>
            <a:pPr algn="ctr"/>
            <a:r>
              <a:rPr sz="1800" b="1" i="0">
                <a:solidFill>
                  <a:srgbClr val="F59E0B"/>
                </a:solidFill>
                <a:latin typeface="Segoe UI"/>
              </a:rPr>
              <a:t>➔</a:t>
            </a:r>
          </a:p>
        </p:txBody>
      </p:sp>
      <p:sp>
        <p:nvSpPr>
          <p:cNvPr id="62" name="Rounded Rectangle 61"/>
          <p:cNvSpPr/>
          <p:nvPr/>
        </p:nvSpPr>
        <p:spPr>
          <a:xfrm>
            <a:off x="9217152" y="1481328"/>
            <a:ext cx="2587752" cy="3749039"/>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217152" y="1481328"/>
            <a:ext cx="2587752"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9217152" y="1536192"/>
            <a:ext cx="2587752"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345168" y="1554480"/>
            <a:ext cx="2331720" cy="292608"/>
          </a:xfrm>
          <a:prstGeom prst="rect">
            <a:avLst/>
          </a:prstGeom>
          <a:noFill/>
        </p:spPr>
        <p:txBody>
          <a:bodyPr wrap="square" anchor="ctr" lIns="45720" rIns="45720" tIns="27432" bIns="27432">
            <a:spAutoFit/>
          </a:bodyPr>
          <a:lstStyle/>
          <a:p>
            <a:pPr algn="l"/>
            <a:r>
              <a:rPr sz="1150" b="1" i="0">
                <a:solidFill>
                  <a:srgbClr val="FFFFFF"/>
                </a:solidFill>
                <a:latin typeface="Segoe UI"/>
              </a:rPr>
              <a:t>3. DATABASE &amp; BI</a:t>
            </a:r>
          </a:p>
        </p:txBody>
      </p:sp>
      <p:sp>
        <p:nvSpPr>
          <p:cNvPr id="66" name="Rounded Rectangle 65"/>
          <p:cNvSpPr/>
          <p:nvPr/>
        </p:nvSpPr>
        <p:spPr>
          <a:xfrm>
            <a:off x="9345168" y="1938528"/>
            <a:ext cx="2331720" cy="1481328"/>
          </a:xfrm>
          <a:prstGeom prst="roundRect">
            <a:avLst>
              <a:gd name="adj" fmla="val 2500"/>
            </a:avLst>
          </a:prstGeom>
          <a:solidFill>
            <a:srgbClr val="162440"/>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400032" y="1975104"/>
            <a:ext cx="2221992" cy="1408176"/>
          </a:xfrm>
          <a:prstGeom prst="rect">
            <a:avLst/>
          </a:prstGeom>
          <a:noFill/>
        </p:spPr>
        <p:txBody>
          <a:bodyPr wrap="square" anchor="t" lIns="45720" rIns="45720" tIns="27432" bIns="27432">
            <a:spAutoFit/>
          </a:bodyPr>
          <a:lstStyle/>
          <a:p>
            <a:pPr algn="l"/>
            <a:r>
              <a:rPr sz="880" b="1" i="0">
                <a:solidFill>
                  <a:srgbClr val="FFFFFF"/>
                </a:solidFill>
                <a:latin typeface="Segoe UI"/>
              </a:rPr>
              <a:t>ClickHouse Database
Database: aircraft
1. engine_batch_summary
2. engine_rul_predictions
3. engine_stream_metrics
4. maintenance_alerts</a:t>
            </a:r>
          </a:p>
        </p:txBody>
      </p:sp>
      <p:sp>
        <p:nvSpPr>
          <p:cNvPr id="68" name="TextBox 67"/>
          <p:cNvSpPr txBox="1"/>
          <p:nvPr/>
        </p:nvSpPr>
        <p:spPr>
          <a:xfrm>
            <a:off x="9345168" y="3438144"/>
            <a:ext cx="2331720" cy="237744"/>
          </a:xfrm>
          <a:prstGeom prst="rect">
            <a:avLst/>
          </a:prstGeom>
          <a:noFill/>
        </p:spPr>
        <p:txBody>
          <a:bodyPr wrap="square" anchor="t" lIns="45720" rIns="45720" tIns="27432" bIns="27432">
            <a:spAutoFit/>
          </a:bodyPr>
          <a:lstStyle/>
          <a:p>
            <a:pPr algn="ctr"/>
            <a:r>
              <a:rPr sz="880" b="1" i="0">
                <a:solidFill>
                  <a:srgbClr val="10B981"/>
                </a:solidFill>
                <a:latin typeface="Segoe UI"/>
              </a:rPr>
              <a:t>▼ Fast SQL Queries</a:t>
            </a:r>
          </a:p>
        </p:txBody>
      </p:sp>
      <p:sp>
        <p:nvSpPr>
          <p:cNvPr id="69" name="Rounded Rectangle 68"/>
          <p:cNvSpPr/>
          <p:nvPr/>
        </p:nvSpPr>
        <p:spPr>
          <a:xfrm>
            <a:off x="9345168" y="3694176"/>
            <a:ext cx="2331720" cy="1389888"/>
          </a:xfrm>
          <a:prstGeom prst="roundRect">
            <a:avLst>
              <a:gd name="adj" fmla="val 2500"/>
            </a:avLst>
          </a:prstGeom>
          <a:solidFill>
            <a:srgbClr val="162440"/>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400032" y="3730752"/>
            <a:ext cx="2221992" cy="1316736"/>
          </a:xfrm>
          <a:prstGeom prst="rect">
            <a:avLst/>
          </a:prstGeom>
          <a:noFill/>
        </p:spPr>
        <p:txBody>
          <a:bodyPr wrap="square" anchor="t" lIns="45720" rIns="45720" tIns="27432" bIns="27432">
            <a:spAutoFit/>
          </a:bodyPr>
          <a:lstStyle/>
          <a:p>
            <a:pPr algn="l"/>
            <a:r>
              <a:rPr sz="880" b="1" i="0">
                <a:solidFill>
                  <a:srgbClr val="FFFFFF"/>
                </a:solidFill>
                <a:latin typeface="Segoe UI"/>
              </a:rPr>
              <a:t>Apache Superset
• Fleet RUL Status
• Degradation Curve
• Live Sensor T30
• Critical Alerts Table</a:t>
            </a:r>
          </a:p>
        </p:txBody>
      </p:sp>
      <p:sp>
        <p:nvSpPr>
          <p:cNvPr id="71" name="Rounded Rectangle 70"/>
          <p:cNvSpPr/>
          <p:nvPr/>
        </p:nvSpPr>
        <p:spPr>
          <a:xfrm>
            <a:off x="384048" y="5340096"/>
            <a:ext cx="11420856" cy="1051560"/>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384048" y="5340096"/>
            <a:ext cx="11420856"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384048" y="5394959"/>
            <a:ext cx="11420856"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12064" y="5413248"/>
            <a:ext cx="11164824" cy="292608"/>
          </a:xfrm>
          <a:prstGeom prst="rect">
            <a:avLst/>
          </a:prstGeom>
          <a:noFill/>
        </p:spPr>
        <p:txBody>
          <a:bodyPr wrap="square" anchor="ctr" lIns="45720" rIns="45720" tIns="27432" bIns="27432">
            <a:spAutoFit/>
          </a:bodyPr>
          <a:lstStyle/>
          <a:p>
            <a:pPr algn="l"/>
            <a:r>
              <a:rPr sz="1150" b="1" i="0">
                <a:solidFill>
                  <a:srgbClr val="FFFFFF"/>
                </a:solidFill>
                <a:latin typeface="Segoe UI"/>
              </a:rPr>
              <a:t>4. ORCHESTRATION &amp; DEPLOYMENT (AIRFLOW + DOCKER)</a:t>
            </a:r>
          </a:p>
        </p:txBody>
      </p:sp>
      <p:sp>
        <p:nvSpPr>
          <p:cNvPr id="75" name="TextBox 74"/>
          <p:cNvSpPr txBox="1"/>
          <p:nvPr/>
        </p:nvSpPr>
        <p:spPr>
          <a:xfrm>
            <a:off x="530352" y="5760720"/>
            <a:ext cx="11155680" cy="566928"/>
          </a:xfrm>
          <a:prstGeom prst="rect">
            <a:avLst/>
          </a:prstGeom>
          <a:noFill/>
        </p:spPr>
        <p:txBody>
          <a:bodyPr wrap="square" anchor="t" lIns="45720" rIns="45720" tIns="27432" bIns="27432">
            <a:spAutoFit/>
          </a:bodyPr>
          <a:lstStyle/>
          <a:p>
            <a:pPr algn="l"/>
            <a:r>
              <a:rPr sz="1000" b="0" i="0">
                <a:solidFill>
                  <a:srgbClr val="E2E8F0"/>
                </a:solidFill>
                <a:latin typeface="Segoe UI"/>
              </a:rPr>
              <a:t>• Apache Airflow: Runs all 10 steps automatically in order, from checking the raw HDF5 file to verifying ClickHouse data.
• Docker Compose &amp; Swarm: All services run in Docker containers; configured for 3-node Swarm over Tailscale VPN and tested on local Docker Desktop.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12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877824"/>
          </a:xfrm>
          <a:prstGeom prst="rect">
            <a:avLst/>
          </a:prstGeom>
          <a:solidFill>
            <a:srgbClr val="0D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13716"/>
          </a:xfrm>
          <a:prstGeom prst="rect">
            <a:avLst/>
          </a:prstGeom>
          <a:solidFill>
            <a:srgbClr val="233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5448"/>
            <a:ext cx="2103120" cy="219456"/>
          </a:xfrm>
          <a:prstGeom prst="roundRect">
            <a:avLst>
              <a:gd name="adj" fmla="val 2500"/>
            </a:avLst>
          </a:prstGeom>
          <a:solidFill>
            <a:srgbClr val="162440"/>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55448"/>
            <a:ext cx="2103120" cy="219456"/>
          </a:xfrm>
          <a:prstGeom prst="rect">
            <a:avLst/>
          </a:prstGeom>
          <a:noFill/>
        </p:spPr>
        <p:txBody>
          <a:bodyPr wrap="square" anchor="ctr" lIns="45720" rIns="45720" tIns="27432" bIns="27432">
            <a:spAutoFit/>
          </a:bodyPr>
          <a:lstStyle/>
          <a:p>
            <a:pPr algn="ctr"/>
            <a:r>
              <a:rPr sz="850" b="1" i="0">
                <a:solidFill>
                  <a:srgbClr val="00D4FF"/>
                </a:solidFill>
                <a:latin typeface="Segoe UI"/>
              </a:rPr>
              <a:t>4. DATASET &amp; PREPARATION</a:t>
            </a:r>
          </a:p>
        </p:txBody>
      </p:sp>
      <p:sp>
        <p:nvSpPr>
          <p:cNvPr id="7" name="TextBox 6"/>
          <p:cNvSpPr txBox="1"/>
          <p:nvPr/>
        </p:nvSpPr>
        <p:spPr>
          <a:xfrm>
            <a:off x="384048" y="384048"/>
            <a:ext cx="9875520" cy="329184"/>
          </a:xfrm>
          <a:prstGeom prst="rect">
            <a:avLst/>
          </a:prstGeom>
          <a:noFill/>
        </p:spPr>
        <p:txBody>
          <a:bodyPr wrap="square" anchor="t" lIns="45720" rIns="45720" tIns="27432" bIns="27432">
            <a:spAutoFit/>
          </a:bodyPr>
          <a:lstStyle/>
          <a:p>
            <a:pPr algn="l"/>
            <a:r>
              <a:rPr sz="2000" b="1" i="0">
                <a:solidFill>
                  <a:srgbClr val="FFFFFF"/>
                </a:solidFill>
                <a:latin typeface="Segoe UI"/>
              </a:rPr>
              <a:t>Dataset &amp; Data Preparation: NASA N-CMAPSS &amp; HDF5-to-Parquet</a:t>
            </a:r>
          </a:p>
        </p:txBody>
      </p:sp>
      <p:sp>
        <p:nvSpPr>
          <p:cNvPr id="8" name="TextBox 7"/>
          <p:cNvSpPr txBox="1"/>
          <p:nvPr/>
        </p:nvSpPr>
        <p:spPr>
          <a:xfrm>
            <a:off x="384048" y="685800"/>
            <a:ext cx="10515600" cy="219456"/>
          </a:xfrm>
          <a:prstGeom prst="rect">
            <a:avLst/>
          </a:prstGeom>
          <a:noFill/>
        </p:spPr>
        <p:txBody>
          <a:bodyPr wrap="square" anchor="t" lIns="45720" rIns="45720" tIns="27432" bIns="27432">
            <a:spAutoFit/>
          </a:bodyPr>
          <a:lstStyle/>
          <a:p>
            <a:pPr algn="l"/>
            <a:r>
              <a:rPr sz="1100" b="0" i="0">
                <a:solidFill>
                  <a:srgbClr val="94A3B8"/>
                </a:solidFill>
                <a:latin typeface="Segoe UI"/>
              </a:rPr>
              <a:t>Verified dataset sizes, sensor groups, data validation, and memory-safe Parquet conversion</a:t>
            </a:r>
          </a:p>
        </p:txBody>
      </p:sp>
      <p:sp>
        <p:nvSpPr>
          <p:cNvPr id="9" name="Rounded Rectangle 8"/>
          <p:cNvSpPr/>
          <p:nvPr/>
        </p:nvSpPr>
        <p:spPr>
          <a:xfrm>
            <a:off x="11109960" y="219456"/>
            <a:ext cx="685800" cy="384048"/>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09960" y="219456"/>
            <a:ext cx="685800" cy="384048"/>
          </a:xfrm>
          <a:prstGeom prst="rect">
            <a:avLst/>
          </a:prstGeom>
          <a:noFill/>
        </p:spPr>
        <p:txBody>
          <a:bodyPr wrap="square" anchor="ctr" lIns="45720" rIns="45720" tIns="27432" bIns="27432">
            <a:spAutoFit/>
          </a:bodyPr>
          <a:lstStyle/>
          <a:p>
            <a:pPr algn="ctr"/>
            <a:r>
              <a:rPr sz="1000" b="1" i="0">
                <a:solidFill>
                  <a:srgbClr val="00D4FF"/>
                </a:solidFill>
                <a:latin typeface="Segoe UI"/>
              </a:rPr>
              <a:t>05 / 12</a:t>
            </a:r>
          </a:p>
        </p:txBody>
      </p:sp>
      <p:sp>
        <p:nvSpPr>
          <p:cNvPr id="11" name="Rectangle 10"/>
          <p:cNvSpPr/>
          <p:nvPr/>
        </p:nvSpPr>
        <p:spPr>
          <a:xfrm>
            <a:off x="0" y="6510528"/>
            <a:ext cx="12191695" cy="347472"/>
          </a:xfrm>
          <a:prstGeom prst="rect">
            <a:avLst/>
          </a:prstGeom>
          <a:solidFill>
            <a:srgbClr val="0D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501384"/>
            <a:ext cx="12191695" cy="9144"/>
          </a:xfrm>
          <a:prstGeom prst="rect">
            <a:avLst/>
          </a:prstGeom>
          <a:solidFill>
            <a:srgbClr val="233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6547104"/>
            <a:ext cx="8046720" cy="237744"/>
          </a:xfrm>
          <a:prstGeom prst="rect">
            <a:avLst/>
          </a:prstGeom>
          <a:noFill/>
        </p:spPr>
        <p:txBody>
          <a:bodyPr wrap="square" anchor="t" lIns="45720" rIns="45720" tIns="27432" bIns="27432">
            <a:spAutoFit/>
          </a:bodyPr>
          <a:lstStyle/>
          <a:p>
            <a:pPr algn="l"/>
            <a:r>
              <a:rPr sz="850" b="0" i="0">
                <a:solidFill>
                  <a:srgbClr val="94A3B8"/>
                </a:solidFill>
                <a:latin typeface="Segoe UI"/>
              </a:rPr>
              <a:t>Source: NASA N-CMAPSS Dataset &amp; Verified Project Pipeline Logs</a:t>
            </a:r>
          </a:p>
        </p:txBody>
      </p:sp>
      <p:sp>
        <p:nvSpPr>
          <p:cNvPr id="14" name="TextBox 13"/>
          <p:cNvSpPr txBox="1"/>
          <p:nvPr/>
        </p:nvSpPr>
        <p:spPr>
          <a:xfrm>
            <a:off x="8503920" y="6547104"/>
            <a:ext cx="3291840" cy="237744"/>
          </a:xfrm>
          <a:prstGeom prst="rect">
            <a:avLst/>
          </a:prstGeom>
          <a:noFill/>
        </p:spPr>
        <p:txBody>
          <a:bodyPr wrap="square" anchor="t" lIns="45720" rIns="45720" tIns="27432" bIns="27432">
            <a:spAutoFit/>
          </a:bodyPr>
          <a:lstStyle/>
          <a:p>
            <a:pPr algn="r"/>
            <a:r>
              <a:rPr sz="850" b="0" i="0">
                <a:solidFill>
                  <a:srgbClr val="94A3B8"/>
                </a:solidFill>
                <a:latin typeface="Segoe UI"/>
              </a:rPr>
              <a:t>Aircraft Engine Predictive Maintenance | Big Data Project</a:t>
            </a:r>
          </a:p>
        </p:txBody>
      </p:sp>
      <p:sp>
        <p:nvSpPr>
          <p:cNvPr id="15" name="Rounded Rectangle 14"/>
          <p:cNvSpPr/>
          <p:nvPr/>
        </p:nvSpPr>
        <p:spPr>
          <a:xfrm>
            <a:off x="384048" y="1078992"/>
            <a:ext cx="5806440" cy="2834640"/>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4048" y="1078992"/>
            <a:ext cx="5806440"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4048" y="1133856"/>
            <a:ext cx="5806440"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2064" y="1152144"/>
            <a:ext cx="5550407" cy="292608"/>
          </a:xfrm>
          <a:prstGeom prst="rect">
            <a:avLst/>
          </a:prstGeom>
          <a:noFill/>
        </p:spPr>
        <p:txBody>
          <a:bodyPr wrap="square" anchor="ctr" lIns="45720" rIns="45720" tIns="27432" bIns="27432">
            <a:spAutoFit/>
          </a:bodyPr>
          <a:lstStyle/>
          <a:p>
            <a:pPr algn="l"/>
            <a:r>
              <a:rPr sz="1150" b="1" i="0">
                <a:solidFill>
                  <a:srgbClr val="FFFFFF"/>
                </a:solidFill>
                <a:latin typeface="Segoe UI"/>
              </a:rPr>
              <a:t>VERIFIED NASA N-CMAPSS FILES IN PROJECT</a:t>
            </a:r>
          </a:p>
        </p:txBody>
      </p:sp>
      <p:sp>
        <p:nvSpPr>
          <p:cNvPr id="19" name="Rectangle 18"/>
          <p:cNvSpPr/>
          <p:nvPr/>
        </p:nvSpPr>
        <p:spPr>
          <a:xfrm>
            <a:off x="493776" y="1536192"/>
            <a:ext cx="5577840" cy="292608"/>
          </a:xfrm>
          <a:prstGeom prst="rect">
            <a:avLst/>
          </a:prstGeom>
          <a:solidFill>
            <a:srgbClr val="0D172A"/>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2064" y="1554480"/>
            <a:ext cx="1783080" cy="256032"/>
          </a:xfrm>
          <a:prstGeom prst="rect">
            <a:avLst/>
          </a:prstGeom>
          <a:noFill/>
        </p:spPr>
        <p:txBody>
          <a:bodyPr wrap="square" anchor="ctr" lIns="45720" rIns="45720" tIns="27432" bIns="27432">
            <a:spAutoFit/>
          </a:bodyPr>
          <a:lstStyle/>
          <a:p>
            <a:pPr algn="l"/>
            <a:r>
              <a:rPr sz="880" b="1" i="0">
                <a:solidFill>
                  <a:srgbClr val="00D4FF"/>
                </a:solidFill>
                <a:latin typeface="Segoe UI"/>
              </a:rPr>
              <a:t>DATASET FILE</a:t>
            </a:r>
          </a:p>
        </p:txBody>
      </p:sp>
      <p:sp>
        <p:nvSpPr>
          <p:cNvPr id="21" name="TextBox 20"/>
          <p:cNvSpPr txBox="1"/>
          <p:nvPr/>
        </p:nvSpPr>
        <p:spPr>
          <a:xfrm>
            <a:off x="2295144" y="1554480"/>
            <a:ext cx="960120" cy="256032"/>
          </a:xfrm>
          <a:prstGeom prst="rect">
            <a:avLst/>
          </a:prstGeom>
          <a:noFill/>
        </p:spPr>
        <p:txBody>
          <a:bodyPr wrap="square" anchor="ctr" lIns="45720" rIns="45720" tIns="27432" bIns="27432">
            <a:spAutoFit/>
          </a:bodyPr>
          <a:lstStyle/>
          <a:p>
            <a:pPr algn="l"/>
            <a:r>
              <a:rPr sz="880" b="1" i="0">
                <a:solidFill>
                  <a:srgbClr val="00D4FF"/>
                </a:solidFill>
                <a:latin typeface="Segoe UI"/>
              </a:rPr>
              <a:t>RAW SIZE</a:t>
            </a:r>
          </a:p>
        </p:txBody>
      </p:sp>
      <p:sp>
        <p:nvSpPr>
          <p:cNvPr id="22" name="TextBox 21"/>
          <p:cNvSpPr txBox="1"/>
          <p:nvPr/>
        </p:nvSpPr>
        <p:spPr>
          <a:xfrm>
            <a:off x="3255263" y="1554480"/>
            <a:ext cx="1417320" cy="256032"/>
          </a:xfrm>
          <a:prstGeom prst="rect">
            <a:avLst/>
          </a:prstGeom>
          <a:noFill/>
        </p:spPr>
        <p:txBody>
          <a:bodyPr wrap="square" anchor="ctr" lIns="45720" rIns="45720" tIns="27432" bIns="27432">
            <a:spAutoFit/>
          </a:bodyPr>
          <a:lstStyle/>
          <a:p>
            <a:pPr algn="l"/>
            <a:r>
              <a:rPr sz="880" b="1" i="0">
                <a:solidFill>
                  <a:srgbClr val="00D4FF"/>
                </a:solidFill>
                <a:latin typeface="Segoe UI"/>
              </a:rPr>
              <a:t>DEV SPLIT (TRAIN)</a:t>
            </a:r>
          </a:p>
        </p:txBody>
      </p:sp>
      <p:sp>
        <p:nvSpPr>
          <p:cNvPr id="23" name="TextBox 22"/>
          <p:cNvSpPr txBox="1"/>
          <p:nvPr/>
        </p:nvSpPr>
        <p:spPr>
          <a:xfrm>
            <a:off x="4672583" y="1554480"/>
            <a:ext cx="1417320" cy="256032"/>
          </a:xfrm>
          <a:prstGeom prst="rect">
            <a:avLst/>
          </a:prstGeom>
          <a:noFill/>
        </p:spPr>
        <p:txBody>
          <a:bodyPr wrap="square" anchor="ctr" lIns="45720" rIns="45720" tIns="27432" bIns="27432">
            <a:spAutoFit/>
          </a:bodyPr>
          <a:lstStyle/>
          <a:p>
            <a:pPr algn="l"/>
            <a:r>
              <a:rPr sz="880" b="1" i="0">
                <a:solidFill>
                  <a:srgbClr val="00D4FF"/>
                </a:solidFill>
                <a:latin typeface="Segoe UI"/>
              </a:rPr>
              <a:t>TEST SPLIT</a:t>
            </a:r>
          </a:p>
        </p:txBody>
      </p:sp>
      <p:sp>
        <p:nvSpPr>
          <p:cNvPr id="24" name="Rounded Rectangle 23"/>
          <p:cNvSpPr/>
          <p:nvPr/>
        </p:nvSpPr>
        <p:spPr>
          <a:xfrm>
            <a:off x="493776" y="1865376"/>
            <a:ext cx="5577840" cy="621792"/>
          </a:xfrm>
          <a:prstGeom prst="roundRect">
            <a:avLst>
              <a:gd name="adj" fmla="val 2500"/>
            </a:avLst>
          </a:prstGeom>
          <a:solidFill>
            <a:srgbClr val="162440"/>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93776" y="1865376"/>
            <a:ext cx="64008" cy="62179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5216" y="1901952"/>
            <a:ext cx="1719072" cy="548640"/>
          </a:xfrm>
          <a:prstGeom prst="rect">
            <a:avLst/>
          </a:prstGeom>
          <a:noFill/>
        </p:spPr>
        <p:txBody>
          <a:bodyPr wrap="square" anchor="ctr" lIns="45720" rIns="45720" tIns="27432" bIns="27432">
            <a:spAutoFit/>
          </a:bodyPr>
          <a:lstStyle/>
          <a:p>
            <a:pPr algn="l"/>
            <a:r>
              <a:rPr sz="900" b="1" i="0">
                <a:solidFill>
                  <a:srgbClr val="FFFFFF"/>
                </a:solidFill>
                <a:latin typeface="Segoe UI"/>
              </a:rPr>
              <a:t>N-CMAPSS_DS01-005.h5
(Main Pipeline Dataset)</a:t>
            </a:r>
          </a:p>
        </p:txBody>
      </p:sp>
      <p:sp>
        <p:nvSpPr>
          <p:cNvPr id="27" name="TextBox 26"/>
          <p:cNvSpPr txBox="1"/>
          <p:nvPr/>
        </p:nvSpPr>
        <p:spPr>
          <a:xfrm>
            <a:off x="2304288" y="1901952"/>
            <a:ext cx="932688" cy="548640"/>
          </a:xfrm>
          <a:prstGeom prst="rect">
            <a:avLst/>
          </a:prstGeom>
          <a:noFill/>
        </p:spPr>
        <p:txBody>
          <a:bodyPr wrap="square" anchor="ctr" lIns="45720" rIns="45720" tIns="27432" bIns="27432">
            <a:spAutoFit/>
          </a:bodyPr>
          <a:lstStyle/>
          <a:p>
            <a:pPr algn="l"/>
            <a:r>
              <a:rPr sz="919" b="1" i="0">
                <a:solidFill>
                  <a:srgbClr val="10B981"/>
                </a:solidFill>
                <a:latin typeface="Segoe UI"/>
              </a:rPr>
              <a:t>2.68 GB</a:t>
            </a:r>
          </a:p>
        </p:txBody>
      </p:sp>
      <p:sp>
        <p:nvSpPr>
          <p:cNvPr id="28" name="TextBox 27"/>
          <p:cNvSpPr txBox="1"/>
          <p:nvPr/>
        </p:nvSpPr>
        <p:spPr>
          <a:xfrm>
            <a:off x="3255264" y="1901952"/>
            <a:ext cx="1389888" cy="548640"/>
          </a:xfrm>
          <a:prstGeom prst="rect">
            <a:avLst/>
          </a:prstGeom>
          <a:noFill/>
        </p:spPr>
        <p:txBody>
          <a:bodyPr wrap="square" anchor="ctr" lIns="45720" rIns="45720" tIns="27432" bIns="27432">
            <a:spAutoFit/>
          </a:bodyPr>
          <a:lstStyle/>
          <a:p>
            <a:pPr algn="l"/>
            <a:r>
              <a:rPr sz="880" b="0" i="0">
                <a:solidFill>
                  <a:srgbClr val="E2E8F0"/>
                </a:solidFill>
                <a:latin typeface="Segoe UI"/>
              </a:rPr>
              <a:t>4,906,636 rows
(Units 1–6, RUL 0–99)</a:t>
            </a:r>
          </a:p>
        </p:txBody>
      </p:sp>
      <p:sp>
        <p:nvSpPr>
          <p:cNvPr id="29" name="TextBox 28"/>
          <p:cNvSpPr txBox="1"/>
          <p:nvPr/>
        </p:nvSpPr>
        <p:spPr>
          <a:xfrm>
            <a:off x="4663440" y="1901952"/>
            <a:ext cx="1389888" cy="548640"/>
          </a:xfrm>
          <a:prstGeom prst="rect">
            <a:avLst/>
          </a:prstGeom>
          <a:noFill/>
        </p:spPr>
        <p:txBody>
          <a:bodyPr wrap="square" anchor="ctr" lIns="45720" rIns="45720" tIns="27432" bIns="27432">
            <a:spAutoFit/>
          </a:bodyPr>
          <a:lstStyle/>
          <a:p>
            <a:pPr algn="l"/>
            <a:r>
              <a:rPr sz="880" b="0" i="0">
                <a:solidFill>
                  <a:srgbClr val="E2E8F0"/>
                </a:solidFill>
                <a:latin typeface="Segoe UI"/>
              </a:rPr>
              <a:t>2,735,232 rows
(Units 7–10, 4 Engines)</a:t>
            </a:r>
          </a:p>
        </p:txBody>
      </p:sp>
      <p:sp>
        <p:nvSpPr>
          <p:cNvPr id="30" name="Rounded Rectangle 29"/>
          <p:cNvSpPr/>
          <p:nvPr/>
        </p:nvSpPr>
        <p:spPr>
          <a:xfrm>
            <a:off x="493776" y="2523744"/>
            <a:ext cx="5577840" cy="621792"/>
          </a:xfrm>
          <a:prstGeom prst="roundRect">
            <a:avLst>
              <a:gd name="adj" fmla="val 2500"/>
            </a:avLst>
          </a:prstGeom>
          <a:solidFill>
            <a:srgbClr val="162440"/>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93776" y="2523744"/>
            <a:ext cx="64008" cy="62179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5216" y="2560320"/>
            <a:ext cx="1719072" cy="548640"/>
          </a:xfrm>
          <a:prstGeom prst="rect">
            <a:avLst/>
          </a:prstGeom>
          <a:noFill/>
        </p:spPr>
        <p:txBody>
          <a:bodyPr wrap="square" anchor="ctr" lIns="45720" rIns="45720" tIns="27432" bIns="27432">
            <a:spAutoFit/>
          </a:bodyPr>
          <a:lstStyle/>
          <a:p>
            <a:pPr algn="l"/>
            <a:r>
              <a:rPr sz="900" b="1" i="0">
                <a:solidFill>
                  <a:srgbClr val="FFFFFF"/>
                </a:solidFill>
                <a:latin typeface="Segoe UI"/>
              </a:rPr>
              <a:t>N-CMAPSS_DS03-012.h5
(Inspected &amp; Converted)</a:t>
            </a:r>
          </a:p>
        </p:txBody>
      </p:sp>
      <p:sp>
        <p:nvSpPr>
          <p:cNvPr id="33" name="TextBox 32"/>
          <p:cNvSpPr txBox="1"/>
          <p:nvPr/>
        </p:nvSpPr>
        <p:spPr>
          <a:xfrm>
            <a:off x="2304288" y="2560320"/>
            <a:ext cx="932688" cy="548640"/>
          </a:xfrm>
          <a:prstGeom prst="rect">
            <a:avLst/>
          </a:prstGeom>
          <a:noFill/>
        </p:spPr>
        <p:txBody>
          <a:bodyPr wrap="square" anchor="ctr" lIns="45720" rIns="45720" tIns="27432" bIns="27432">
            <a:spAutoFit/>
          </a:bodyPr>
          <a:lstStyle/>
          <a:p>
            <a:pPr algn="l"/>
            <a:r>
              <a:rPr sz="919" b="1" i="0">
                <a:solidFill>
                  <a:srgbClr val="3B82F6"/>
                </a:solidFill>
                <a:latin typeface="Segoe UI"/>
              </a:rPr>
              <a:t>3.44 GB</a:t>
            </a:r>
          </a:p>
        </p:txBody>
      </p:sp>
      <p:sp>
        <p:nvSpPr>
          <p:cNvPr id="34" name="TextBox 33"/>
          <p:cNvSpPr txBox="1"/>
          <p:nvPr/>
        </p:nvSpPr>
        <p:spPr>
          <a:xfrm>
            <a:off x="3255264" y="2560320"/>
            <a:ext cx="1389888" cy="548640"/>
          </a:xfrm>
          <a:prstGeom prst="rect">
            <a:avLst/>
          </a:prstGeom>
          <a:noFill/>
        </p:spPr>
        <p:txBody>
          <a:bodyPr wrap="square" anchor="ctr" lIns="45720" rIns="45720" tIns="27432" bIns="27432">
            <a:spAutoFit/>
          </a:bodyPr>
          <a:lstStyle/>
          <a:p>
            <a:pPr algn="l"/>
            <a:r>
              <a:rPr sz="880" b="0" i="0">
                <a:solidFill>
                  <a:srgbClr val="E2E8F0"/>
                </a:solidFill>
                <a:latin typeface="Segoe UI"/>
              </a:rPr>
              <a:t>5,571,277 rows
(A_dev: 5.57M × 4 cols)</a:t>
            </a:r>
          </a:p>
        </p:txBody>
      </p:sp>
      <p:sp>
        <p:nvSpPr>
          <p:cNvPr id="35" name="TextBox 34"/>
          <p:cNvSpPr txBox="1"/>
          <p:nvPr/>
        </p:nvSpPr>
        <p:spPr>
          <a:xfrm>
            <a:off x="4663440" y="2560320"/>
            <a:ext cx="1389888" cy="548640"/>
          </a:xfrm>
          <a:prstGeom prst="rect">
            <a:avLst/>
          </a:prstGeom>
          <a:noFill/>
        </p:spPr>
        <p:txBody>
          <a:bodyPr wrap="square" anchor="ctr" lIns="45720" rIns="45720" tIns="27432" bIns="27432">
            <a:spAutoFit/>
          </a:bodyPr>
          <a:lstStyle/>
          <a:p>
            <a:pPr algn="l"/>
            <a:r>
              <a:rPr sz="880" b="0" i="0">
                <a:solidFill>
                  <a:srgbClr val="E2E8F0"/>
                </a:solidFill>
                <a:latin typeface="Segoe UI"/>
              </a:rPr>
              <a:t>4,251,560 rows
(Converted to Parquet)</a:t>
            </a:r>
          </a:p>
        </p:txBody>
      </p:sp>
      <p:sp>
        <p:nvSpPr>
          <p:cNvPr id="36" name="Rounded Rectangle 35"/>
          <p:cNvSpPr/>
          <p:nvPr/>
        </p:nvSpPr>
        <p:spPr>
          <a:xfrm>
            <a:off x="493776" y="3182111"/>
            <a:ext cx="5577840" cy="621792"/>
          </a:xfrm>
          <a:prstGeom prst="roundRect">
            <a:avLst>
              <a:gd name="adj" fmla="val 2500"/>
            </a:avLst>
          </a:prstGeom>
          <a:solidFill>
            <a:srgbClr val="162440"/>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93776" y="3182111"/>
            <a:ext cx="64008" cy="62179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85216" y="3218687"/>
            <a:ext cx="1719072" cy="548640"/>
          </a:xfrm>
          <a:prstGeom prst="rect">
            <a:avLst/>
          </a:prstGeom>
          <a:noFill/>
        </p:spPr>
        <p:txBody>
          <a:bodyPr wrap="square" anchor="ctr" lIns="45720" rIns="45720" tIns="27432" bIns="27432">
            <a:spAutoFit/>
          </a:bodyPr>
          <a:lstStyle/>
          <a:p>
            <a:pPr algn="l"/>
            <a:r>
              <a:rPr sz="900" b="1" i="0">
                <a:solidFill>
                  <a:srgbClr val="FFFFFF"/>
                </a:solidFill>
                <a:latin typeface="Segoe UI"/>
              </a:rPr>
              <a:t>Total Combined Data
in Project Folder</a:t>
            </a:r>
          </a:p>
        </p:txBody>
      </p:sp>
      <p:sp>
        <p:nvSpPr>
          <p:cNvPr id="39" name="TextBox 38"/>
          <p:cNvSpPr txBox="1"/>
          <p:nvPr/>
        </p:nvSpPr>
        <p:spPr>
          <a:xfrm>
            <a:off x="2304288" y="3218687"/>
            <a:ext cx="932688" cy="548640"/>
          </a:xfrm>
          <a:prstGeom prst="rect">
            <a:avLst/>
          </a:prstGeom>
          <a:noFill/>
        </p:spPr>
        <p:txBody>
          <a:bodyPr wrap="square" anchor="ctr" lIns="45720" rIns="45720" tIns="27432" bIns="27432">
            <a:spAutoFit/>
          </a:bodyPr>
          <a:lstStyle/>
          <a:p>
            <a:pPr algn="l"/>
            <a:r>
              <a:rPr sz="919" b="1" i="0">
                <a:solidFill>
                  <a:srgbClr val="00D4FF"/>
                </a:solidFill>
                <a:latin typeface="Segoe UI"/>
              </a:rPr>
              <a:t>6.12 GB</a:t>
            </a:r>
          </a:p>
        </p:txBody>
      </p:sp>
      <p:sp>
        <p:nvSpPr>
          <p:cNvPr id="40" name="TextBox 39"/>
          <p:cNvSpPr txBox="1"/>
          <p:nvPr/>
        </p:nvSpPr>
        <p:spPr>
          <a:xfrm>
            <a:off x="3255264" y="3218687"/>
            <a:ext cx="1389888" cy="548640"/>
          </a:xfrm>
          <a:prstGeom prst="rect">
            <a:avLst/>
          </a:prstGeom>
          <a:noFill/>
        </p:spPr>
        <p:txBody>
          <a:bodyPr wrap="square" anchor="ctr" lIns="45720" rIns="45720" tIns="27432" bIns="27432">
            <a:spAutoFit/>
          </a:bodyPr>
          <a:lstStyle/>
          <a:p>
            <a:pPr algn="l"/>
            <a:r>
              <a:rPr sz="880" b="0" i="0">
                <a:solidFill>
                  <a:srgbClr val="E2E8F0"/>
                </a:solidFill>
                <a:latin typeface="Segoe UI"/>
              </a:rPr>
              <a:t>10,477,913 rows
(Total Dev Rows)</a:t>
            </a:r>
          </a:p>
        </p:txBody>
      </p:sp>
      <p:sp>
        <p:nvSpPr>
          <p:cNvPr id="41" name="TextBox 40"/>
          <p:cNvSpPr txBox="1"/>
          <p:nvPr/>
        </p:nvSpPr>
        <p:spPr>
          <a:xfrm>
            <a:off x="4663440" y="3218687"/>
            <a:ext cx="1389888" cy="548640"/>
          </a:xfrm>
          <a:prstGeom prst="rect">
            <a:avLst/>
          </a:prstGeom>
          <a:noFill/>
        </p:spPr>
        <p:txBody>
          <a:bodyPr wrap="square" anchor="ctr" lIns="45720" rIns="45720" tIns="27432" bIns="27432">
            <a:spAutoFit/>
          </a:bodyPr>
          <a:lstStyle/>
          <a:p>
            <a:pPr algn="l"/>
            <a:r>
              <a:rPr sz="880" b="0" i="0">
                <a:solidFill>
                  <a:srgbClr val="E2E8F0"/>
                </a:solidFill>
                <a:latin typeface="Segoe UI"/>
              </a:rPr>
              <a:t>6,986,792 rows
(17.46M Total Rows)</a:t>
            </a:r>
          </a:p>
        </p:txBody>
      </p:sp>
      <p:sp>
        <p:nvSpPr>
          <p:cNvPr id="42" name="Rounded Rectangle 41"/>
          <p:cNvSpPr/>
          <p:nvPr/>
        </p:nvSpPr>
        <p:spPr>
          <a:xfrm>
            <a:off x="384048" y="4041648"/>
            <a:ext cx="5806440" cy="2322576"/>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84048" y="4041648"/>
            <a:ext cx="580644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84048" y="4096511"/>
            <a:ext cx="5806440"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 y="4114800"/>
            <a:ext cx="5550407" cy="292608"/>
          </a:xfrm>
          <a:prstGeom prst="rect">
            <a:avLst/>
          </a:prstGeom>
          <a:noFill/>
        </p:spPr>
        <p:txBody>
          <a:bodyPr wrap="square" anchor="ctr" lIns="45720" rIns="45720" tIns="27432" bIns="27432">
            <a:spAutoFit/>
          </a:bodyPr>
          <a:lstStyle/>
          <a:p>
            <a:pPr algn="l"/>
            <a:r>
              <a:rPr sz="1150" b="1" i="0">
                <a:solidFill>
                  <a:srgbClr val="FFFFFF"/>
                </a:solidFill>
                <a:latin typeface="Segoe UI"/>
              </a:rPr>
              <a:t>WHAT IS INSIDE THE 50 COLUMNS?</a:t>
            </a:r>
          </a:p>
        </p:txBody>
      </p:sp>
      <p:sp>
        <p:nvSpPr>
          <p:cNvPr id="46" name="TextBox 45"/>
          <p:cNvSpPr txBox="1"/>
          <p:nvPr/>
        </p:nvSpPr>
        <p:spPr>
          <a:xfrm>
            <a:off x="493776" y="4480560"/>
            <a:ext cx="5577840" cy="1828800"/>
          </a:xfrm>
          <a:prstGeom prst="rect">
            <a:avLst/>
          </a:prstGeom>
          <a:noFill/>
        </p:spPr>
        <p:txBody>
          <a:bodyPr wrap="square" lIns="54864" rIns="54864" tIns="36576" bIns="36576">
            <a:spAutoFit/>
          </a:bodyPr>
          <a:lstStyle/>
          <a:p>
            <a:pPr algn="l">
              <a:spcAft>
                <a:spcPts val="400"/>
              </a:spcAft>
            </a:pPr>
            <a:r>
              <a:rPr sz="1000" b="1">
                <a:solidFill>
                  <a:srgbClr val="3B82F6"/>
                </a:solidFill>
                <a:latin typeface="Segoe UI"/>
              </a:rPr>
              <a:t>▸ </a:t>
            </a:r>
            <a:r>
              <a:rPr sz="1000" b="1">
                <a:solidFill>
                  <a:srgbClr val="FFFFFF"/>
                </a:solidFill>
                <a:latin typeface="Segoe UI"/>
              </a:rPr>
              <a:t>Group A — Engine Info (4 cols): </a:t>
            </a:r>
            <a:r>
              <a:rPr sz="950" b="0">
                <a:solidFill>
                  <a:srgbClr val="E2E8F0"/>
                </a:solidFill>
                <a:latin typeface="Segoe UI"/>
              </a:rPr>
              <a:t>Engine `unit` ID, flight `cycle` number, flight class (`Fc`), and health state (`hs`).</a:t>
            </a:r>
          </a:p>
          <a:p>
            <a:pPr algn="l">
              <a:spcAft>
                <a:spcPts val="400"/>
              </a:spcAft>
            </a:pPr>
            <a:r>
              <a:rPr sz="1000" b="1">
                <a:solidFill>
                  <a:srgbClr val="3B82F6"/>
                </a:solidFill>
                <a:latin typeface="Segoe UI"/>
              </a:rPr>
              <a:t>▸ </a:t>
            </a:r>
            <a:r>
              <a:rPr sz="1000" b="1">
                <a:solidFill>
                  <a:srgbClr val="FFFFFF"/>
                </a:solidFill>
                <a:latin typeface="Segoe UI"/>
              </a:rPr>
              <a:t>Group W — Flight Conditions (4 cols): </a:t>
            </a:r>
            <a:r>
              <a:rPr sz="950" b="0">
                <a:solidFill>
                  <a:srgbClr val="E2E8F0"/>
                </a:solidFill>
                <a:latin typeface="Segoe UI"/>
              </a:rPr>
              <a:t>Altitude (`W_alt`), Mach speed (`W_Mach`), throttle angle (`W_TRA`), and inlet temp (`W_T2`).</a:t>
            </a:r>
          </a:p>
          <a:p>
            <a:pPr algn="l">
              <a:spcAft>
                <a:spcPts val="400"/>
              </a:spcAft>
            </a:pPr>
            <a:r>
              <a:rPr sz="1000" b="1">
                <a:solidFill>
                  <a:srgbClr val="3B82F6"/>
                </a:solidFill>
                <a:latin typeface="Segoe UI"/>
              </a:rPr>
              <a:t>▸ </a:t>
            </a:r>
            <a:r>
              <a:rPr sz="1000" b="1">
                <a:solidFill>
                  <a:srgbClr val="FFFFFF"/>
                </a:solidFill>
                <a:latin typeface="Segoe UI"/>
              </a:rPr>
              <a:t>Group X_s — Physical Sensors (14 cols): </a:t>
            </a:r>
            <a:r>
              <a:rPr sz="950" b="0">
                <a:solidFill>
                  <a:srgbClr val="E2E8F0"/>
                </a:solidFill>
                <a:latin typeface="Segoe UI"/>
              </a:rPr>
              <a:t>Temperatures (`T24`, `T30`, `T48`, `T50`), pressures (`P15..Ps30`), fan/core speeds, and fuel flow.</a:t>
            </a:r>
          </a:p>
          <a:p>
            <a:pPr algn="l">
              <a:spcAft>
                <a:spcPts val="400"/>
              </a:spcAft>
            </a:pPr>
            <a:r>
              <a:rPr sz="1000" b="1">
                <a:solidFill>
                  <a:srgbClr val="3B82F6"/>
                </a:solidFill>
                <a:latin typeface="Segoe UI"/>
              </a:rPr>
              <a:t>▸ </a:t>
            </a:r>
            <a:r>
              <a:rPr sz="1000" b="1">
                <a:solidFill>
                  <a:srgbClr val="FFFFFF"/>
                </a:solidFill>
                <a:latin typeface="Segoe UI"/>
              </a:rPr>
              <a:t>Groups X_v (14), T (10) &amp; Target Y (1): </a:t>
            </a:r>
            <a:r>
              <a:rPr sz="950" b="0">
                <a:solidFill>
                  <a:srgbClr val="E2E8F0"/>
                </a:solidFill>
                <a:latin typeface="Segoe UI"/>
              </a:rPr>
              <a:t>14 virtual sensors + 10 health parameters + real target `rul` + `dataset` &amp; `split` = 50 columns.</a:t>
            </a:r>
          </a:p>
        </p:txBody>
      </p:sp>
      <p:sp>
        <p:nvSpPr>
          <p:cNvPr id="47" name="Rounded Rectangle 46"/>
          <p:cNvSpPr/>
          <p:nvPr/>
        </p:nvSpPr>
        <p:spPr>
          <a:xfrm>
            <a:off x="6355080" y="1078992"/>
            <a:ext cx="5449824" cy="3154680"/>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355080" y="1078992"/>
            <a:ext cx="5449824"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355080" y="1133856"/>
            <a:ext cx="5449824"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83096" y="1152144"/>
            <a:ext cx="5193792" cy="292608"/>
          </a:xfrm>
          <a:prstGeom prst="rect">
            <a:avLst/>
          </a:prstGeom>
          <a:noFill/>
        </p:spPr>
        <p:txBody>
          <a:bodyPr wrap="square" anchor="ctr" lIns="45720" rIns="45720" tIns="27432" bIns="27432">
            <a:spAutoFit/>
          </a:bodyPr>
          <a:lstStyle/>
          <a:p>
            <a:pPr algn="l"/>
            <a:r>
              <a:rPr sz="1150" b="1" i="0">
                <a:solidFill>
                  <a:srgbClr val="FFFFFF"/>
                </a:solidFill>
                <a:latin typeface="Segoe UI"/>
              </a:rPr>
              <a:t>FILE SIZE REDUCTION: HDF5 VS. PARQUET</a:t>
            </a:r>
          </a:p>
        </p:txBody>
      </p:sp>
      <p:pic>
        <p:nvPicPr>
          <p:cNvPr id="51" name="Picture 50" descr="storage_optimization_chart.png"/>
          <p:cNvPicPr>
            <a:picLocks noChangeAspect="1"/>
          </p:cNvPicPr>
          <p:nvPr/>
        </p:nvPicPr>
        <p:blipFill>
          <a:blip r:embed="rId2"/>
          <a:stretch>
            <a:fillRect/>
          </a:stretch>
        </p:blipFill>
        <p:spPr>
          <a:xfrm>
            <a:off x="6473952" y="1517904"/>
            <a:ext cx="5212080" cy="2759336"/>
          </a:xfrm>
          <a:prstGeom prst="rect">
            <a:avLst/>
          </a:prstGeom>
        </p:spPr>
      </p:pic>
      <p:sp>
        <p:nvSpPr>
          <p:cNvPr id="52" name="Rounded Rectangle 51"/>
          <p:cNvSpPr/>
          <p:nvPr/>
        </p:nvSpPr>
        <p:spPr>
          <a:xfrm>
            <a:off x="6355080" y="4370832"/>
            <a:ext cx="5449824" cy="1993392"/>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355080" y="4370832"/>
            <a:ext cx="544982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355080" y="4425696"/>
            <a:ext cx="5449824"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83096" y="4443984"/>
            <a:ext cx="5193792" cy="292608"/>
          </a:xfrm>
          <a:prstGeom prst="rect">
            <a:avLst/>
          </a:prstGeom>
          <a:noFill/>
        </p:spPr>
        <p:txBody>
          <a:bodyPr wrap="square" anchor="ctr" lIns="45720" rIns="45720" tIns="27432" bIns="27432">
            <a:spAutoFit/>
          </a:bodyPr>
          <a:lstStyle/>
          <a:p>
            <a:pPr algn="l"/>
            <a:r>
              <a:rPr sz="1150" b="1" i="0">
                <a:solidFill>
                  <a:srgbClr val="FFFFFF"/>
                </a:solidFill>
                <a:latin typeface="Segoe UI"/>
              </a:rPr>
              <a:t>HOW WE VALIDATE &amp; CONVERT THE DATA</a:t>
            </a:r>
          </a:p>
        </p:txBody>
      </p:sp>
      <p:sp>
        <p:nvSpPr>
          <p:cNvPr id="56" name="TextBox 55"/>
          <p:cNvSpPr txBox="1"/>
          <p:nvPr/>
        </p:nvSpPr>
        <p:spPr>
          <a:xfrm>
            <a:off x="6464808" y="4809744"/>
            <a:ext cx="5230368" cy="1508760"/>
          </a:xfrm>
          <a:prstGeom prst="rect">
            <a:avLst/>
          </a:prstGeom>
          <a:noFill/>
        </p:spPr>
        <p:txBody>
          <a:bodyPr wrap="square" lIns="54864" rIns="54864" tIns="36576" bIns="36576">
            <a:spAutoFit/>
          </a:bodyPr>
          <a:lstStyle/>
          <a:p>
            <a:pPr algn="l">
              <a:spcAft>
                <a:spcPts val="400"/>
              </a:spcAft>
            </a:pPr>
            <a:r>
              <a:rPr sz="1000" b="1">
                <a:solidFill>
                  <a:srgbClr val="F59E0B"/>
                </a:solidFill>
                <a:latin typeface="Segoe UI"/>
              </a:rPr>
              <a:t>▸ </a:t>
            </a:r>
            <a:r>
              <a:rPr sz="1000" b="1">
                <a:solidFill>
                  <a:srgbClr val="FFFFFF"/>
                </a:solidFill>
                <a:latin typeface="Segoe UI"/>
              </a:rPr>
              <a:t>Step 1 — Data Validation: </a:t>
            </a:r>
            <a:r>
              <a:rPr sz="950" b="0">
                <a:solidFill>
                  <a:srgbClr val="E2E8F0"/>
                </a:solidFill>
                <a:latin typeface="Segoe UI"/>
              </a:rPr>
              <a:t>Checks that the HDF5 file exists and has real `Y_dev` RUL values (never invents fake labels).</a:t>
            </a:r>
          </a:p>
          <a:p>
            <a:pPr algn="l">
              <a:spcAft>
                <a:spcPts val="400"/>
              </a:spcAft>
            </a:pPr>
            <a:r>
              <a:rPr sz="1000" b="1">
                <a:solidFill>
                  <a:srgbClr val="F59E0B"/>
                </a:solidFill>
                <a:latin typeface="Segoe UI"/>
              </a:rPr>
              <a:t>▸ </a:t>
            </a:r>
            <a:r>
              <a:rPr sz="1000" b="1">
                <a:solidFill>
                  <a:srgbClr val="FFFFFF"/>
                </a:solidFill>
                <a:latin typeface="Segoe UI"/>
              </a:rPr>
              <a:t>Step 2 — 50,000-Row Chunks: </a:t>
            </a:r>
            <a:r>
              <a:rPr sz="950" b="0">
                <a:solidFill>
                  <a:srgbClr val="E2E8F0"/>
                </a:solidFill>
                <a:latin typeface="Segoe UI"/>
              </a:rPr>
              <a:t>Reads 50,000 rows at a time using `h5py` and writes to Parquet so RAM never overflows.</a:t>
            </a:r>
          </a:p>
          <a:p>
            <a:pPr algn="l">
              <a:spcAft>
                <a:spcPts val="400"/>
              </a:spcAft>
            </a:pPr>
            <a:r>
              <a:rPr sz="1000" b="1">
                <a:solidFill>
                  <a:srgbClr val="F59E0B"/>
                </a:solidFill>
                <a:latin typeface="Segoe UI"/>
              </a:rPr>
              <a:t>▸ </a:t>
            </a:r>
            <a:r>
              <a:rPr sz="1000" b="1">
                <a:solidFill>
                  <a:srgbClr val="FFFFFF"/>
                </a:solidFill>
                <a:latin typeface="Segoe UI"/>
              </a:rPr>
              <a:t>Step 3 — Fast Stratified Sample: </a:t>
            </a:r>
            <a:r>
              <a:rPr sz="950" b="0">
                <a:solidFill>
                  <a:srgbClr val="E2E8F0"/>
                </a:solidFill>
                <a:latin typeface="Segoe UI"/>
              </a:rPr>
              <a:t>Keeps full Parquet backups and creates a ~60K-row sample (17.8 MB) for fast daily pipeline runs.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12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877824"/>
          </a:xfrm>
          <a:prstGeom prst="rect">
            <a:avLst/>
          </a:prstGeom>
          <a:solidFill>
            <a:srgbClr val="0D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13716"/>
          </a:xfrm>
          <a:prstGeom prst="rect">
            <a:avLst/>
          </a:prstGeom>
          <a:solidFill>
            <a:srgbClr val="233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5448"/>
            <a:ext cx="2103120" cy="219456"/>
          </a:xfrm>
          <a:prstGeom prst="roundRect">
            <a:avLst>
              <a:gd name="adj" fmla="val 2500"/>
            </a:avLst>
          </a:prstGeom>
          <a:solidFill>
            <a:srgbClr val="162440"/>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55448"/>
            <a:ext cx="2103120" cy="219456"/>
          </a:xfrm>
          <a:prstGeom prst="rect">
            <a:avLst/>
          </a:prstGeom>
          <a:noFill/>
        </p:spPr>
        <p:txBody>
          <a:bodyPr wrap="square" anchor="ctr" lIns="45720" rIns="45720" tIns="27432" bIns="27432">
            <a:spAutoFit/>
          </a:bodyPr>
          <a:lstStyle/>
          <a:p>
            <a:pPr algn="ctr"/>
            <a:r>
              <a:rPr sz="850" b="1" i="0">
                <a:solidFill>
                  <a:srgbClr val="00D4FF"/>
                </a:solidFill>
                <a:latin typeface="Segoe UI"/>
              </a:rPr>
              <a:t>5. DATA INGESTION</a:t>
            </a:r>
          </a:p>
        </p:txBody>
      </p:sp>
      <p:sp>
        <p:nvSpPr>
          <p:cNvPr id="7" name="TextBox 6"/>
          <p:cNvSpPr txBox="1"/>
          <p:nvPr/>
        </p:nvSpPr>
        <p:spPr>
          <a:xfrm>
            <a:off x="384048" y="384048"/>
            <a:ext cx="9875520" cy="329184"/>
          </a:xfrm>
          <a:prstGeom prst="rect">
            <a:avLst/>
          </a:prstGeom>
          <a:noFill/>
        </p:spPr>
        <p:txBody>
          <a:bodyPr wrap="square" anchor="t" lIns="45720" rIns="45720" tIns="27432" bIns="27432">
            <a:spAutoFit/>
          </a:bodyPr>
          <a:lstStyle/>
          <a:p>
            <a:pPr algn="l"/>
            <a:r>
              <a:rPr sz="2000" b="1" i="0">
                <a:solidFill>
                  <a:srgbClr val="FFFFFF"/>
                </a:solidFill>
                <a:latin typeface="Segoe UI"/>
              </a:rPr>
              <a:t>Data Ingestion: Batch Pipeline vs. Kafka Streaming Path</a:t>
            </a:r>
          </a:p>
        </p:txBody>
      </p:sp>
      <p:sp>
        <p:nvSpPr>
          <p:cNvPr id="8" name="TextBox 7"/>
          <p:cNvSpPr txBox="1"/>
          <p:nvPr/>
        </p:nvSpPr>
        <p:spPr>
          <a:xfrm>
            <a:off x="384048" y="685800"/>
            <a:ext cx="10515600" cy="219456"/>
          </a:xfrm>
          <a:prstGeom prst="rect">
            <a:avLst/>
          </a:prstGeom>
          <a:noFill/>
        </p:spPr>
        <p:txBody>
          <a:bodyPr wrap="square" anchor="t" lIns="45720" rIns="45720" tIns="27432" bIns="27432">
            <a:spAutoFit/>
          </a:bodyPr>
          <a:lstStyle/>
          <a:p>
            <a:pPr algn="l"/>
            <a:r>
              <a:rPr sz="1100" b="0" i="0">
                <a:solidFill>
                  <a:srgbClr val="94A3B8"/>
                </a:solidFill>
                <a:latin typeface="Segoe UI"/>
              </a:rPr>
              <a:t>Comparing historical batch loading with our Kafka streaming simulation</a:t>
            </a:r>
          </a:p>
        </p:txBody>
      </p:sp>
      <p:sp>
        <p:nvSpPr>
          <p:cNvPr id="9" name="Rounded Rectangle 8"/>
          <p:cNvSpPr/>
          <p:nvPr/>
        </p:nvSpPr>
        <p:spPr>
          <a:xfrm>
            <a:off x="11109960" y="219456"/>
            <a:ext cx="685800" cy="384048"/>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09960" y="219456"/>
            <a:ext cx="685800" cy="384048"/>
          </a:xfrm>
          <a:prstGeom prst="rect">
            <a:avLst/>
          </a:prstGeom>
          <a:noFill/>
        </p:spPr>
        <p:txBody>
          <a:bodyPr wrap="square" anchor="ctr" lIns="45720" rIns="45720" tIns="27432" bIns="27432">
            <a:spAutoFit/>
          </a:bodyPr>
          <a:lstStyle/>
          <a:p>
            <a:pPr algn="ctr"/>
            <a:r>
              <a:rPr sz="1000" b="1" i="0">
                <a:solidFill>
                  <a:srgbClr val="00D4FF"/>
                </a:solidFill>
                <a:latin typeface="Segoe UI"/>
              </a:rPr>
              <a:t>06 / 12</a:t>
            </a:r>
          </a:p>
        </p:txBody>
      </p:sp>
      <p:sp>
        <p:nvSpPr>
          <p:cNvPr id="11" name="Rectangle 10"/>
          <p:cNvSpPr/>
          <p:nvPr/>
        </p:nvSpPr>
        <p:spPr>
          <a:xfrm>
            <a:off x="0" y="6510528"/>
            <a:ext cx="12191695" cy="347472"/>
          </a:xfrm>
          <a:prstGeom prst="rect">
            <a:avLst/>
          </a:prstGeom>
          <a:solidFill>
            <a:srgbClr val="0D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501384"/>
            <a:ext cx="12191695" cy="9144"/>
          </a:xfrm>
          <a:prstGeom prst="rect">
            <a:avLst/>
          </a:prstGeom>
          <a:solidFill>
            <a:srgbClr val="233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6547104"/>
            <a:ext cx="8046720" cy="237744"/>
          </a:xfrm>
          <a:prstGeom prst="rect">
            <a:avLst/>
          </a:prstGeom>
          <a:noFill/>
        </p:spPr>
        <p:txBody>
          <a:bodyPr wrap="square" anchor="t" lIns="45720" rIns="45720" tIns="27432" bIns="27432">
            <a:spAutoFit/>
          </a:bodyPr>
          <a:lstStyle/>
          <a:p>
            <a:pPr algn="l"/>
            <a:r>
              <a:rPr sz="850" b="0" i="0">
                <a:solidFill>
                  <a:srgbClr val="94A3B8"/>
                </a:solidFill>
                <a:latin typeface="Segoe UI"/>
              </a:rPr>
              <a:t>Source: NASA N-CMAPSS Dataset &amp; Verified Project Pipeline Logs</a:t>
            </a:r>
          </a:p>
        </p:txBody>
      </p:sp>
      <p:sp>
        <p:nvSpPr>
          <p:cNvPr id="14" name="TextBox 13"/>
          <p:cNvSpPr txBox="1"/>
          <p:nvPr/>
        </p:nvSpPr>
        <p:spPr>
          <a:xfrm>
            <a:off x="8503920" y="6547104"/>
            <a:ext cx="3291840" cy="237744"/>
          </a:xfrm>
          <a:prstGeom prst="rect">
            <a:avLst/>
          </a:prstGeom>
          <a:noFill/>
        </p:spPr>
        <p:txBody>
          <a:bodyPr wrap="square" anchor="t" lIns="45720" rIns="45720" tIns="27432" bIns="27432">
            <a:spAutoFit/>
          </a:bodyPr>
          <a:lstStyle/>
          <a:p>
            <a:pPr algn="r"/>
            <a:r>
              <a:rPr sz="850" b="0" i="0">
                <a:solidFill>
                  <a:srgbClr val="94A3B8"/>
                </a:solidFill>
                <a:latin typeface="Segoe UI"/>
              </a:rPr>
              <a:t>Aircraft Engine Predictive Maintenance | Big Data Project</a:t>
            </a:r>
          </a:p>
        </p:txBody>
      </p:sp>
      <p:sp>
        <p:nvSpPr>
          <p:cNvPr id="15" name="Rounded Rectangle 14"/>
          <p:cNvSpPr/>
          <p:nvPr/>
        </p:nvSpPr>
        <p:spPr>
          <a:xfrm>
            <a:off x="384048" y="1042415"/>
            <a:ext cx="11420856" cy="420624"/>
          </a:xfrm>
          <a:prstGeom prst="roundRect">
            <a:avLst>
              <a:gd name="adj" fmla="val 2500"/>
            </a:avLst>
          </a:prstGeom>
          <a:solidFill>
            <a:srgbClr val="162440"/>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 y="1078992"/>
            <a:ext cx="11155680" cy="347472"/>
          </a:xfrm>
          <a:prstGeom prst="rect">
            <a:avLst/>
          </a:prstGeom>
          <a:noFill/>
        </p:spPr>
        <p:txBody>
          <a:bodyPr wrap="square" anchor="ctr" lIns="45720" rIns="45720" tIns="27432" bIns="27432">
            <a:spAutoFit/>
          </a:bodyPr>
          <a:lstStyle/>
          <a:p>
            <a:pPr algn="l"/>
            <a:r>
              <a:rPr sz="1000" b="1" i="0">
                <a:solidFill>
                  <a:srgbClr val="F59E0B"/>
                </a:solidFill>
                <a:latin typeface="Segoe UI"/>
              </a:rPr>
              <a:t>⚠ IMPORTANT NOTE: Our streaming path replays historical NASA Parquet rows with current timestamps using `producer.py` to test real-time processing — it is NOT live data from a flying airplane.</a:t>
            </a:r>
          </a:p>
        </p:txBody>
      </p:sp>
      <p:sp>
        <p:nvSpPr>
          <p:cNvPr id="17" name="Rounded Rectangle 16"/>
          <p:cNvSpPr/>
          <p:nvPr/>
        </p:nvSpPr>
        <p:spPr>
          <a:xfrm>
            <a:off x="384048" y="1572768"/>
            <a:ext cx="5532120" cy="2331720"/>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84048" y="1572768"/>
            <a:ext cx="5532120"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84048" y="1627632"/>
            <a:ext cx="5532120"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2064" y="1645920"/>
            <a:ext cx="5276088" cy="292608"/>
          </a:xfrm>
          <a:prstGeom prst="rect">
            <a:avLst/>
          </a:prstGeom>
          <a:noFill/>
        </p:spPr>
        <p:txBody>
          <a:bodyPr wrap="square" anchor="ctr" lIns="45720" rIns="45720" tIns="27432" bIns="27432">
            <a:spAutoFit/>
          </a:bodyPr>
          <a:lstStyle/>
          <a:p>
            <a:pPr algn="l"/>
            <a:r>
              <a:rPr sz="1150" b="1" i="0">
                <a:solidFill>
                  <a:srgbClr val="FFFFFF"/>
                </a:solidFill>
                <a:latin typeface="Segoe UI"/>
              </a:rPr>
              <a:t>1. BATCH INGESTION (HDFS UPLOAD)</a:t>
            </a:r>
          </a:p>
        </p:txBody>
      </p:sp>
      <p:sp>
        <p:nvSpPr>
          <p:cNvPr id="21" name="TextBox 20"/>
          <p:cNvSpPr txBox="1"/>
          <p:nvPr/>
        </p:nvSpPr>
        <p:spPr>
          <a:xfrm>
            <a:off x="493776" y="2011680"/>
            <a:ext cx="5303520" cy="1828800"/>
          </a:xfrm>
          <a:prstGeom prst="rect">
            <a:avLst/>
          </a:prstGeom>
          <a:noFill/>
        </p:spPr>
        <p:txBody>
          <a:bodyPr wrap="square" lIns="54864" rIns="54864" tIns="36576" bIns="36576">
            <a:spAutoFit/>
          </a:bodyPr>
          <a:lstStyle/>
          <a:p>
            <a:pPr algn="l">
              <a:spcAft>
                <a:spcPts val="500"/>
              </a:spcAft>
            </a:pPr>
            <a:r>
              <a:rPr sz="1050" b="1">
                <a:solidFill>
                  <a:srgbClr val="00D4FF"/>
                </a:solidFill>
                <a:latin typeface="Segoe UI"/>
              </a:rPr>
              <a:t>▸ </a:t>
            </a:r>
            <a:r>
              <a:rPr sz="1050" b="1">
                <a:solidFill>
                  <a:srgbClr val="FFFFFF"/>
                </a:solidFill>
                <a:latin typeface="Segoe UI"/>
              </a:rPr>
              <a:t>How It Works: </a:t>
            </a:r>
            <a:r>
              <a:rPr sz="1000" b="0">
                <a:solidFill>
                  <a:srgbClr val="E2E8F0"/>
                </a:solidFill>
                <a:latin typeface="Segoe UI"/>
              </a:rPr>
              <a:t>Converts HDF5 to Parquet files and uploads `dev.parquet` and `test.parquet` into Hadoop HDFS.</a:t>
            </a:r>
          </a:p>
          <a:p>
            <a:pPr algn="l">
              <a:spcAft>
                <a:spcPts val="500"/>
              </a:spcAft>
            </a:pPr>
            <a:r>
              <a:rPr sz="1050" b="1">
                <a:solidFill>
                  <a:srgbClr val="00D4FF"/>
                </a:solidFill>
                <a:latin typeface="Segoe UI"/>
              </a:rPr>
              <a:t>▸ </a:t>
            </a:r>
            <a:r>
              <a:rPr sz="1050" b="1">
                <a:solidFill>
                  <a:srgbClr val="FFFFFF"/>
                </a:solidFill>
                <a:latin typeface="Segoe UI"/>
              </a:rPr>
              <a:t>WHY We Need Batch: </a:t>
            </a:r>
            <a:r>
              <a:rPr sz="1000" b="0">
                <a:solidFill>
                  <a:srgbClr val="E2E8F0"/>
                </a:solidFill>
                <a:latin typeface="Segoe UI"/>
              </a:rPr>
              <a:t>Training machine learning models requires reading millions of historical rows across all engine flights at once.</a:t>
            </a:r>
          </a:p>
          <a:p>
            <a:pPr algn="l">
              <a:spcAft>
                <a:spcPts val="500"/>
              </a:spcAft>
            </a:pPr>
            <a:r>
              <a:rPr sz="1050" b="1">
                <a:solidFill>
                  <a:srgbClr val="00D4FF"/>
                </a:solidFill>
                <a:latin typeface="Segoe UI"/>
              </a:rPr>
              <a:t>▸ </a:t>
            </a:r>
            <a:r>
              <a:rPr sz="1050" b="1">
                <a:solidFill>
                  <a:srgbClr val="FFFFFF"/>
                </a:solidFill>
                <a:latin typeface="Segoe UI"/>
              </a:rPr>
              <a:t>Smart Check: </a:t>
            </a:r>
            <a:r>
              <a:rPr sz="1000" b="0">
                <a:solidFill>
                  <a:srgbClr val="E2E8F0"/>
                </a:solidFill>
                <a:latin typeface="Segoe UI"/>
              </a:rPr>
              <a:t>If the Parquet files are already in HDFS, the pipeline skips re-uploading to save time.</a:t>
            </a:r>
          </a:p>
        </p:txBody>
      </p:sp>
      <p:sp>
        <p:nvSpPr>
          <p:cNvPr id="22" name="Rounded Rectangle 21"/>
          <p:cNvSpPr/>
          <p:nvPr/>
        </p:nvSpPr>
        <p:spPr>
          <a:xfrm>
            <a:off x="384048" y="4023360"/>
            <a:ext cx="5532120" cy="2340864"/>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84048" y="4023360"/>
            <a:ext cx="553212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84048" y="4078224"/>
            <a:ext cx="5532120"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2064" y="4096512"/>
            <a:ext cx="5276088" cy="292608"/>
          </a:xfrm>
          <a:prstGeom prst="rect">
            <a:avLst/>
          </a:prstGeom>
          <a:noFill/>
        </p:spPr>
        <p:txBody>
          <a:bodyPr wrap="square" anchor="ctr" lIns="45720" rIns="45720" tIns="27432" bIns="27432">
            <a:spAutoFit/>
          </a:bodyPr>
          <a:lstStyle/>
          <a:p>
            <a:pPr algn="l"/>
            <a:r>
              <a:rPr sz="1150" b="1" i="0">
                <a:solidFill>
                  <a:srgbClr val="FFFFFF"/>
                </a:solidFill>
                <a:latin typeface="Segoe UI"/>
              </a:rPr>
              <a:t>2. STREAMING INGESTION (APACHE KAFKA)</a:t>
            </a:r>
          </a:p>
        </p:txBody>
      </p:sp>
      <p:sp>
        <p:nvSpPr>
          <p:cNvPr id="26" name="TextBox 25"/>
          <p:cNvSpPr txBox="1"/>
          <p:nvPr/>
        </p:nvSpPr>
        <p:spPr>
          <a:xfrm>
            <a:off x="493776" y="4462272"/>
            <a:ext cx="5303520" cy="1828800"/>
          </a:xfrm>
          <a:prstGeom prst="rect">
            <a:avLst/>
          </a:prstGeom>
          <a:noFill/>
        </p:spPr>
        <p:txBody>
          <a:bodyPr wrap="square" lIns="54864" rIns="54864" tIns="36576" bIns="36576">
            <a:spAutoFit/>
          </a:bodyPr>
          <a:lstStyle/>
          <a:p>
            <a:pPr algn="l">
              <a:spcAft>
                <a:spcPts val="500"/>
              </a:spcAft>
            </a:pPr>
            <a:r>
              <a:rPr sz="1050" b="1">
                <a:solidFill>
                  <a:srgbClr val="F59E0B"/>
                </a:solidFill>
                <a:latin typeface="Segoe UI"/>
              </a:rPr>
              <a:t>▸ </a:t>
            </a:r>
            <a:r>
              <a:rPr sz="1050" b="1">
                <a:solidFill>
                  <a:srgbClr val="FFFFFF"/>
                </a:solidFill>
                <a:latin typeface="Segoe UI"/>
              </a:rPr>
              <a:t>How It Works (`producer.py`): </a:t>
            </a:r>
            <a:r>
              <a:rPr sz="1000" b="0">
                <a:solidFill>
                  <a:srgbClr val="E2E8F0"/>
                </a:solidFill>
                <a:latin typeface="Segoe UI"/>
              </a:rPr>
              <a:t>Reads `replay_sample.parquet` (27,353 rows), adds a current timestamp, and sends JSON messages to Kafka at up to 200 messages/sec.</a:t>
            </a:r>
          </a:p>
          <a:p>
            <a:pPr algn="l">
              <a:spcAft>
                <a:spcPts val="500"/>
              </a:spcAft>
            </a:pPr>
            <a:r>
              <a:rPr sz="1050" b="1">
                <a:solidFill>
                  <a:srgbClr val="F59E0B"/>
                </a:solidFill>
                <a:latin typeface="Segoe UI"/>
              </a:rPr>
              <a:t>▸ </a:t>
            </a:r>
            <a:r>
              <a:rPr sz="1050" b="1">
                <a:solidFill>
                  <a:srgbClr val="FFFFFF"/>
                </a:solidFill>
                <a:latin typeface="Segoe UI"/>
              </a:rPr>
              <a:t>WHY We Need Kafka: </a:t>
            </a:r>
            <a:r>
              <a:rPr sz="1000" b="0">
                <a:solidFill>
                  <a:srgbClr val="E2E8F0"/>
                </a:solidFill>
                <a:latin typeface="Segoe UI"/>
              </a:rPr>
              <a:t>Kafka acts as a fast, safe buffer between the data sender and Spark Streaming, split across 3 partitions.</a:t>
            </a:r>
          </a:p>
          <a:p>
            <a:pPr algn="l">
              <a:spcAft>
                <a:spcPts val="500"/>
              </a:spcAft>
            </a:pPr>
            <a:r>
              <a:rPr sz="1050" b="1">
                <a:solidFill>
                  <a:srgbClr val="F59E0B"/>
                </a:solidFill>
                <a:latin typeface="Segoe UI"/>
              </a:rPr>
              <a:t>▸ </a:t>
            </a:r>
            <a:r>
              <a:rPr sz="1050" b="1">
                <a:solidFill>
                  <a:srgbClr val="FFFFFF"/>
                </a:solidFill>
                <a:latin typeface="Segoe UI"/>
              </a:rPr>
              <a:t>Testing Bad Data (DLQ): </a:t>
            </a:r>
            <a:r>
              <a:rPr sz="1000" b="0">
                <a:solidFill>
                  <a:srgbClr val="E2E8F0"/>
                </a:solidFill>
                <a:latin typeface="Segoe UI"/>
              </a:rPr>
              <a:t>Can inject 2% corrupted messages (`--inject-anomaly-rate 0.02`) to prove that bad data does not crash the stream.</a:t>
            </a:r>
          </a:p>
        </p:txBody>
      </p:sp>
      <p:sp>
        <p:nvSpPr>
          <p:cNvPr id="27" name="Rounded Rectangle 26"/>
          <p:cNvSpPr/>
          <p:nvPr/>
        </p:nvSpPr>
        <p:spPr>
          <a:xfrm>
            <a:off x="6080760" y="1572768"/>
            <a:ext cx="5724144" cy="3337560"/>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80760" y="1572768"/>
            <a:ext cx="5724144"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080760" y="1627632"/>
            <a:ext cx="5724144"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08776" y="1645920"/>
            <a:ext cx="5468112" cy="292608"/>
          </a:xfrm>
          <a:prstGeom prst="rect">
            <a:avLst/>
          </a:prstGeom>
          <a:noFill/>
        </p:spPr>
        <p:txBody>
          <a:bodyPr wrap="square" anchor="ctr" lIns="45720" rIns="45720" tIns="27432" bIns="27432">
            <a:spAutoFit/>
          </a:bodyPr>
          <a:lstStyle/>
          <a:p>
            <a:pPr algn="l"/>
            <a:r>
              <a:rPr sz="1150" b="1" i="0">
                <a:solidFill>
                  <a:srgbClr val="FFFFFF"/>
                </a:solidFill>
                <a:latin typeface="Segoe UI"/>
              </a:rPr>
              <a:t>VERIFIED SCREENSHOT: KAFKA UI TOPICS (PORT 8082)</a:t>
            </a:r>
          </a:p>
        </p:txBody>
      </p:sp>
      <p:pic>
        <p:nvPicPr>
          <p:cNvPr id="31" name="Picture 30" descr="kafka_ui.png"/>
          <p:cNvPicPr>
            <a:picLocks noChangeAspect="1"/>
          </p:cNvPicPr>
          <p:nvPr/>
        </p:nvPicPr>
        <p:blipFill>
          <a:blip r:embed="rId2"/>
          <a:stretch>
            <a:fillRect/>
          </a:stretch>
        </p:blipFill>
        <p:spPr>
          <a:xfrm>
            <a:off x="6199632" y="2011680"/>
            <a:ext cx="5486400" cy="2582466"/>
          </a:xfrm>
          <a:prstGeom prst="rect">
            <a:avLst/>
          </a:prstGeom>
        </p:spPr>
      </p:pic>
      <p:sp>
        <p:nvSpPr>
          <p:cNvPr id="32" name="Rounded Rectangle 31"/>
          <p:cNvSpPr/>
          <p:nvPr/>
        </p:nvSpPr>
        <p:spPr>
          <a:xfrm>
            <a:off x="6080760" y="5010912"/>
            <a:ext cx="5724144" cy="1353312"/>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080760" y="5010912"/>
            <a:ext cx="5724144"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80760" y="5065776"/>
            <a:ext cx="5724144"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08776" y="5084064"/>
            <a:ext cx="5468112" cy="292608"/>
          </a:xfrm>
          <a:prstGeom prst="rect">
            <a:avLst/>
          </a:prstGeom>
          <a:noFill/>
        </p:spPr>
        <p:txBody>
          <a:bodyPr wrap="square" anchor="ctr" lIns="45720" rIns="45720" tIns="27432" bIns="27432">
            <a:spAutoFit/>
          </a:bodyPr>
          <a:lstStyle/>
          <a:p>
            <a:pPr algn="l"/>
            <a:r>
              <a:rPr sz="1150" b="1" i="0">
                <a:solidFill>
                  <a:srgbClr val="FFFFFF"/>
                </a:solidFill>
                <a:latin typeface="Segoe UI"/>
              </a:rPr>
              <a:t>VERIFIED KAFKA TOPICS &amp; MESSAGE COUNTS</a:t>
            </a:r>
          </a:p>
        </p:txBody>
      </p:sp>
      <p:sp>
        <p:nvSpPr>
          <p:cNvPr id="36" name="TextBox 35"/>
          <p:cNvSpPr txBox="1"/>
          <p:nvPr/>
        </p:nvSpPr>
        <p:spPr>
          <a:xfrm>
            <a:off x="6190488" y="5413248"/>
            <a:ext cx="5504688" cy="914400"/>
          </a:xfrm>
          <a:prstGeom prst="rect">
            <a:avLst/>
          </a:prstGeom>
          <a:noFill/>
        </p:spPr>
        <p:txBody>
          <a:bodyPr wrap="square" lIns="54864" rIns="54864" tIns="36576" bIns="36576">
            <a:spAutoFit/>
          </a:bodyPr>
          <a:lstStyle/>
          <a:p>
            <a:pPr algn="l">
              <a:spcAft>
                <a:spcPts val="300"/>
              </a:spcAft>
            </a:pPr>
            <a:r>
              <a:rPr sz="1000" b="1">
                <a:solidFill>
                  <a:srgbClr val="10B981"/>
                </a:solidFill>
                <a:latin typeface="Segoe UI"/>
              </a:rPr>
              <a:t>▸ </a:t>
            </a:r>
            <a:r>
              <a:rPr sz="1000" b="1">
                <a:solidFill>
                  <a:srgbClr val="FFFFFF"/>
                </a:solidFill>
                <a:latin typeface="Segoe UI"/>
              </a:rPr>
              <a:t>`engine-telemetry`: </a:t>
            </a:r>
            <a:r>
              <a:rPr sz="950" b="0">
                <a:solidFill>
                  <a:srgbClr val="E2E8F0"/>
                </a:solidFill>
                <a:latin typeface="Segoe UI"/>
              </a:rPr>
              <a:t>41,010 messages (59 MB) — incoming sensor readings.</a:t>
            </a:r>
          </a:p>
          <a:p>
            <a:pPr algn="l">
              <a:spcAft>
                <a:spcPts val="300"/>
              </a:spcAft>
            </a:pPr>
            <a:r>
              <a:rPr sz="1000" b="1">
                <a:solidFill>
                  <a:srgbClr val="10B981"/>
                </a:solidFill>
                <a:latin typeface="Segoe UI"/>
              </a:rPr>
              <a:t>▸ </a:t>
            </a:r>
            <a:r>
              <a:rPr sz="1000" b="1">
                <a:solidFill>
                  <a:srgbClr val="FFFFFF"/>
                </a:solidFill>
                <a:latin typeface="Segoe UI"/>
              </a:rPr>
              <a:t>`engine-health-results`: </a:t>
            </a:r>
            <a:r>
              <a:rPr sz="950" b="0">
                <a:solidFill>
                  <a:srgbClr val="E2E8F0"/>
                </a:solidFill>
                <a:latin typeface="Segoe UI"/>
              </a:rPr>
              <a:t>60 messages (17 KB) — 30-second window averages.</a:t>
            </a:r>
          </a:p>
          <a:p>
            <a:pPr algn="l">
              <a:spcAft>
                <a:spcPts val="300"/>
              </a:spcAft>
            </a:pPr>
            <a:r>
              <a:rPr sz="1000" b="1">
                <a:solidFill>
                  <a:srgbClr val="10B981"/>
                </a:solidFill>
                <a:latin typeface="Segoe UI"/>
              </a:rPr>
              <a:t>▸ </a:t>
            </a:r>
            <a:r>
              <a:rPr sz="1000" b="1">
                <a:solidFill>
                  <a:srgbClr val="FFFFFF"/>
                </a:solidFill>
                <a:latin typeface="Segoe UI"/>
              </a:rPr>
              <a:t>`maintenance-alerts`: </a:t>
            </a:r>
            <a:r>
              <a:rPr sz="950" b="0">
                <a:solidFill>
                  <a:srgbClr val="E2E8F0"/>
                </a:solidFill>
                <a:latin typeface="Segoe UI"/>
              </a:rPr>
              <a:t>47 messages (13 KB) — critical alerts (RUL &lt; 15 or T30 &gt; 1580).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12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877824"/>
          </a:xfrm>
          <a:prstGeom prst="rect">
            <a:avLst/>
          </a:prstGeom>
          <a:solidFill>
            <a:srgbClr val="0D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13716"/>
          </a:xfrm>
          <a:prstGeom prst="rect">
            <a:avLst/>
          </a:prstGeom>
          <a:solidFill>
            <a:srgbClr val="233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5448"/>
            <a:ext cx="2103120" cy="219456"/>
          </a:xfrm>
          <a:prstGeom prst="roundRect">
            <a:avLst>
              <a:gd name="adj" fmla="val 2500"/>
            </a:avLst>
          </a:prstGeom>
          <a:solidFill>
            <a:srgbClr val="162440"/>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55448"/>
            <a:ext cx="2103120" cy="219456"/>
          </a:xfrm>
          <a:prstGeom prst="rect">
            <a:avLst/>
          </a:prstGeom>
          <a:noFill/>
        </p:spPr>
        <p:txBody>
          <a:bodyPr wrap="square" anchor="ctr" lIns="45720" rIns="45720" tIns="27432" bIns="27432">
            <a:spAutoFit/>
          </a:bodyPr>
          <a:lstStyle/>
          <a:p>
            <a:pPr algn="ctr"/>
            <a:r>
              <a:rPr sz="850" b="1" i="0">
                <a:solidFill>
                  <a:srgbClr val="00D4FF"/>
                </a:solidFill>
                <a:latin typeface="Segoe UI"/>
              </a:rPr>
              <a:t>6. PROCESSING &amp; STORAGE</a:t>
            </a:r>
          </a:p>
        </p:txBody>
      </p:sp>
      <p:sp>
        <p:nvSpPr>
          <p:cNvPr id="7" name="TextBox 6"/>
          <p:cNvSpPr txBox="1"/>
          <p:nvPr/>
        </p:nvSpPr>
        <p:spPr>
          <a:xfrm>
            <a:off x="384048" y="384048"/>
            <a:ext cx="9875520" cy="329184"/>
          </a:xfrm>
          <a:prstGeom prst="rect">
            <a:avLst/>
          </a:prstGeom>
          <a:noFill/>
        </p:spPr>
        <p:txBody>
          <a:bodyPr wrap="square" anchor="t" lIns="45720" rIns="45720" tIns="27432" bIns="27432">
            <a:spAutoFit/>
          </a:bodyPr>
          <a:lstStyle/>
          <a:p>
            <a:pPr algn="l"/>
            <a:r>
              <a:rPr sz="2000" b="1" i="0">
                <a:solidFill>
                  <a:srgbClr val="FFFFFF"/>
                </a:solidFill>
                <a:latin typeface="Segoe UI"/>
              </a:rPr>
              <a:t>Big Data Processing &amp; Storage: Spark, HDFS, Parquet &amp; ClickHouse</a:t>
            </a:r>
          </a:p>
        </p:txBody>
      </p:sp>
      <p:sp>
        <p:nvSpPr>
          <p:cNvPr id="8" name="TextBox 7"/>
          <p:cNvSpPr txBox="1"/>
          <p:nvPr/>
        </p:nvSpPr>
        <p:spPr>
          <a:xfrm>
            <a:off x="384048" y="685800"/>
            <a:ext cx="10515600" cy="219456"/>
          </a:xfrm>
          <a:prstGeom prst="rect">
            <a:avLst/>
          </a:prstGeom>
          <a:noFill/>
        </p:spPr>
        <p:txBody>
          <a:bodyPr wrap="square" anchor="t" lIns="45720" rIns="45720" tIns="27432" bIns="27432">
            <a:spAutoFit/>
          </a:bodyPr>
          <a:lstStyle/>
          <a:p>
            <a:pPr algn="l"/>
            <a:r>
              <a:rPr sz="1100" b="0" i="0">
                <a:solidFill>
                  <a:srgbClr val="94A3B8"/>
                </a:solidFill>
                <a:latin typeface="Segoe UI"/>
              </a:rPr>
              <a:t>What each technology does and WHY we selected it for our architecture</a:t>
            </a:r>
          </a:p>
        </p:txBody>
      </p:sp>
      <p:sp>
        <p:nvSpPr>
          <p:cNvPr id="9" name="Rounded Rectangle 8"/>
          <p:cNvSpPr/>
          <p:nvPr/>
        </p:nvSpPr>
        <p:spPr>
          <a:xfrm>
            <a:off x="11109960" y="219456"/>
            <a:ext cx="685800" cy="384048"/>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09960" y="219456"/>
            <a:ext cx="685800" cy="384048"/>
          </a:xfrm>
          <a:prstGeom prst="rect">
            <a:avLst/>
          </a:prstGeom>
          <a:noFill/>
        </p:spPr>
        <p:txBody>
          <a:bodyPr wrap="square" anchor="ctr" lIns="45720" rIns="45720" tIns="27432" bIns="27432">
            <a:spAutoFit/>
          </a:bodyPr>
          <a:lstStyle/>
          <a:p>
            <a:pPr algn="ctr"/>
            <a:r>
              <a:rPr sz="1000" b="1" i="0">
                <a:solidFill>
                  <a:srgbClr val="00D4FF"/>
                </a:solidFill>
                <a:latin typeface="Segoe UI"/>
              </a:rPr>
              <a:t>07 / 12</a:t>
            </a:r>
          </a:p>
        </p:txBody>
      </p:sp>
      <p:sp>
        <p:nvSpPr>
          <p:cNvPr id="11" name="Rectangle 10"/>
          <p:cNvSpPr/>
          <p:nvPr/>
        </p:nvSpPr>
        <p:spPr>
          <a:xfrm>
            <a:off x="0" y="6510528"/>
            <a:ext cx="12191695" cy="347472"/>
          </a:xfrm>
          <a:prstGeom prst="rect">
            <a:avLst/>
          </a:prstGeom>
          <a:solidFill>
            <a:srgbClr val="0D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501384"/>
            <a:ext cx="12191695" cy="9144"/>
          </a:xfrm>
          <a:prstGeom prst="rect">
            <a:avLst/>
          </a:prstGeom>
          <a:solidFill>
            <a:srgbClr val="233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6547104"/>
            <a:ext cx="8046720" cy="237744"/>
          </a:xfrm>
          <a:prstGeom prst="rect">
            <a:avLst/>
          </a:prstGeom>
          <a:noFill/>
        </p:spPr>
        <p:txBody>
          <a:bodyPr wrap="square" anchor="t" lIns="45720" rIns="45720" tIns="27432" bIns="27432">
            <a:spAutoFit/>
          </a:bodyPr>
          <a:lstStyle/>
          <a:p>
            <a:pPr algn="l"/>
            <a:r>
              <a:rPr sz="850" b="0" i="0">
                <a:solidFill>
                  <a:srgbClr val="94A3B8"/>
                </a:solidFill>
                <a:latin typeface="Segoe UI"/>
              </a:rPr>
              <a:t>Source: NASA N-CMAPSS Dataset &amp; Verified Project Pipeline Logs</a:t>
            </a:r>
          </a:p>
        </p:txBody>
      </p:sp>
      <p:sp>
        <p:nvSpPr>
          <p:cNvPr id="14" name="TextBox 13"/>
          <p:cNvSpPr txBox="1"/>
          <p:nvPr/>
        </p:nvSpPr>
        <p:spPr>
          <a:xfrm>
            <a:off x="8503920" y="6547104"/>
            <a:ext cx="3291840" cy="237744"/>
          </a:xfrm>
          <a:prstGeom prst="rect">
            <a:avLst/>
          </a:prstGeom>
          <a:noFill/>
        </p:spPr>
        <p:txBody>
          <a:bodyPr wrap="square" anchor="t" lIns="45720" rIns="45720" tIns="27432" bIns="27432">
            <a:spAutoFit/>
          </a:bodyPr>
          <a:lstStyle/>
          <a:p>
            <a:pPr algn="r"/>
            <a:r>
              <a:rPr sz="850" b="0" i="0">
                <a:solidFill>
                  <a:srgbClr val="94A3B8"/>
                </a:solidFill>
                <a:latin typeface="Segoe UI"/>
              </a:rPr>
              <a:t>Aircraft Engine Predictive Maintenance | Big Data Project</a:t>
            </a:r>
          </a:p>
        </p:txBody>
      </p:sp>
      <p:sp>
        <p:nvSpPr>
          <p:cNvPr id="15" name="Rounded Rectangle 14"/>
          <p:cNvSpPr/>
          <p:nvPr/>
        </p:nvSpPr>
        <p:spPr>
          <a:xfrm>
            <a:off x="384048" y="1078992"/>
            <a:ext cx="5596128" cy="2542032"/>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4048" y="1078992"/>
            <a:ext cx="5596128"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4048" y="1133856"/>
            <a:ext cx="5596128"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2064" y="1152144"/>
            <a:ext cx="5340096" cy="292608"/>
          </a:xfrm>
          <a:prstGeom prst="rect">
            <a:avLst/>
          </a:prstGeom>
          <a:noFill/>
        </p:spPr>
        <p:txBody>
          <a:bodyPr wrap="square" anchor="ctr" lIns="45720" rIns="45720" tIns="27432" bIns="27432">
            <a:spAutoFit/>
          </a:bodyPr>
          <a:lstStyle/>
          <a:p>
            <a:pPr algn="l"/>
            <a:r>
              <a:rPr sz="1150" b="1" i="0">
                <a:solidFill>
                  <a:srgbClr val="FFFFFF"/>
                </a:solidFill>
                <a:latin typeface="Segoe UI"/>
              </a:rPr>
              <a:t>1. APACHE SPARK (v4.1.3) — PROCESSING ENGINE</a:t>
            </a:r>
          </a:p>
        </p:txBody>
      </p:sp>
      <p:sp>
        <p:nvSpPr>
          <p:cNvPr id="19" name="TextBox 18"/>
          <p:cNvSpPr txBox="1"/>
          <p:nvPr/>
        </p:nvSpPr>
        <p:spPr>
          <a:xfrm>
            <a:off x="493776" y="1517904"/>
            <a:ext cx="5376672" cy="2011680"/>
          </a:xfrm>
          <a:prstGeom prst="rect">
            <a:avLst/>
          </a:prstGeom>
          <a:noFill/>
        </p:spPr>
        <p:txBody>
          <a:bodyPr wrap="square" lIns="54864" rIns="54864" tIns="36576" bIns="36576">
            <a:spAutoFit/>
          </a:bodyPr>
          <a:lstStyle/>
          <a:p>
            <a:pPr algn="l">
              <a:spcAft>
                <a:spcPts val="500"/>
              </a:spcAft>
            </a:pPr>
            <a:r>
              <a:rPr sz="1050" b="1">
                <a:solidFill>
                  <a:srgbClr val="00D4FF"/>
                </a:solidFill>
                <a:latin typeface="Segoe UI"/>
              </a:rPr>
              <a:t>▸ </a:t>
            </a:r>
            <a:r>
              <a:rPr sz="1050" b="1">
                <a:solidFill>
                  <a:srgbClr val="FFFFFF"/>
                </a:solidFill>
                <a:latin typeface="Segoe UI"/>
              </a:rPr>
              <a:t>WHAT It Does: </a:t>
            </a:r>
            <a:r>
              <a:rPr sz="1000" b="0">
                <a:solidFill>
                  <a:srgbClr val="E2E8F0"/>
                </a:solidFill>
                <a:latin typeface="Segoe UI"/>
              </a:rPr>
              <a:t>Runs our Batch Summary job, Structured Streaming job, and Machine Learning training/prediction jobs.</a:t>
            </a:r>
          </a:p>
          <a:p>
            <a:pPr algn="l">
              <a:spcAft>
                <a:spcPts val="500"/>
              </a:spcAft>
            </a:pPr>
            <a:r>
              <a:rPr sz="1050" b="1">
                <a:solidFill>
                  <a:srgbClr val="00D4FF"/>
                </a:solidFill>
                <a:latin typeface="Segoe UI"/>
              </a:rPr>
              <a:t>▸ </a:t>
            </a:r>
            <a:r>
              <a:rPr sz="1050" b="1">
                <a:solidFill>
                  <a:srgbClr val="FFFFFF"/>
                </a:solidFill>
                <a:latin typeface="Segoe UI"/>
              </a:rPr>
              <a:t>WHY We Used Spark: </a:t>
            </a:r>
            <a:r>
              <a:rPr sz="1000" b="0">
                <a:solidFill>
                  <a:srgbClr val="E2E8F0"/>
                </a:solidFill>
                <a:latin typeface="Segoe UI"/>
              </a:rPr>
              <a:t>One single fast engine handles Batch, Streaming, and ML in memory—instead of needing 3 separate tools.</a:t>
            </a:r>
          </a:p>
          <a:p>
            <a:pPr algn="l">
              <a:spcAft>
                <a:spcPts val="500"/>
              </a:spcAft>
            </a:pPr>
            <a:r>
              <a:rPr sz="1050" b="1">
                <a:solidFill>
                  <a:srgbClr val="00D4FF"/>
                </a:solidFill>
                <a:latin typeface="Segoe UI"/>
              </a:rPr>
              <a:t>▸ </a:t>
            </a:r>
            <a:r>
              <a:rPr sz="1050" b="1">
                <a:solidFill>
                  <a:srgbClr val="FFFFFF"/>
                </a:solidFill>
                <a:latin typeface="Segoe UI"/>
              </a:rPr>
              <a:t>Smart Error Handling (DLQ): </a:t>
            </a:r>
            <a:r>
              <a:rPr sz="1000" b="0">
                <a:solidFill>
                  <a:srgbClr val="E2E8F0"/>
                </a:solidFill>
                <a:latin typeface="Segoe UI"/>
              </a:rPr>
              <a:t>In streaming mode, Spark uses 30-second windows and sends any broken JSON messages to an HDFS Quarantine folder (`Dead-Letter Queue`).</a:t>
            </a:r>
          </a:p>
        </p:txBody>
      </p:sp>
      <p:sp>
        <p:nvSpPr>
          <p:cNvPr id="20" name="Rounded Rectangle 19"/>
          <p:cNvSpPr/>
          <p:nvPr/>
        </p:nvSpPr>
        <p:spPr>
          <a:xfrm>
            <a:off x="6181344" y="1078992"/>
            <a:ext cx="5623560" cy="2542032"/>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078992"/>
            <a:ext cx="562356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1133856"/>
            <a:ext cx="5623560"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9359" y="1152144"/>
            <a:ext cx="5367528" cy="292608"/>
          </a:xfrm>
          <a:prstGeom prst="rect">
            <a:avLst/>
          </a:prstGeom>
          <a:noFill/>
        </p:spPr>
        <p:txBody>
          <a:bodyPr wrap="square" anchor="ctr" lIns="45720" rIns="45720" tIns="27432" bIns="27432">
            <a:spAutoFit/>
          </a:bodyPr>
          <a:lstStyle/>
          <a:p>
            <a:pPr algn="l"/>
            <a:r>
              <a:rPr sz="1150" b="1" i="0">
                <a:solidFill>
                  <a:srgbClr val="FFFFFF"/>
                </a:solidFill>
                <a:latin typeface="Segoe UI"/>
              </a:rPr>
              <a:t>2. HADOOP HDFS (v3.2.1) — DISTRIBUTED STORAGE</a:t>
            </a:r>
          </a:p>
        </p:txBody>
      </p:sp>
      <p:sp>
        <p:nvSpPr>
          <p:cNvPr id="24" name="TextBox 23"/>
          <p:cNvSpPr txBox="1"/>
          <p:nvPr/>
        </p:nvSpPr>
        <p:spPr>
          <a:xfrm>
            <a:off x="6291072" y="1517904"/>
            <a:ext cx="5394960" cy="2011680"/>
          </a:xfrm>
          <a:prstGeom prst="rect">
            <a:avLst/>
          </a:prstGeom>
          <a:noFill/>
        </p:spPr>
        <p:txBody>
          <a:bodyPr wrap="square" lIns="54864" rIns="54864" tIns="36576" bIns="36576">
            <a:spAutoFit/>
          </a:bodyPr>
          <a:lstStyle/>
          <a:p>
            <a:pPr algn="l">
              <a:spcAft>
                <a:spcPts val="500"/>
              </a:spcAft>
            </a:pPr>
            <a:r>
              <a:rPr sz="1050" b="1">
                <a:solidFill>
                  <a:srgbClr val="3B82F6"/>
                </a:solidFill>
                <a:latin typeface="Segoe UI"/>
              </a:rPr>
              <a:t>▸ </a:t>
            </a:r>
            <a:r>
              <a:rPr sz="1050" b="1">
                <a:solidFill>
                  <a:srgbClr val="FFFFFF"/>
                </a:solidFill>
                <a:latin typeface="Segoe UI"/>
              </a:rPr>
              <a:t>WHAT It Does: </a:t>
            </a:r>
            <a:r>
              <a:rPr sz="1000" b="0">
                <a:solidFill>
                  <a:srgbClr val="E2E8F0"/>
                </a:solidFill>
                <a:latin typeface="Segoe UI"/>
              </a:rPr>
              <a:t>Stores our processed Parquet files, trained ML models (`/aircraft/models/rul_model`), predictions, and streaming checkpoints.</a:t>
            </a:r>
          </a:p>
          <a:p>
            <a:pPr algn="l">
              <a:spcAft>
                <a:spcPts val="500"/>
              </a:spcAft>
            </a:pPr>
            <a:r>
              <a:rPr sz="1050" b="1">
                <a:solidFill>
                  <a:srgbClr val="3B82F6"/>
                </a:solidFill>
                <a:latin typeface="Segoe UI"/>
              </a:rPr>
              <a:t>▸ </a:t>
            </a:r>
            <a:r>
              <a:rPr sz="1050" b="1">
                <a:solidFill>
                  <a:srgbClr val="FFFFFF"/>
                </a:solidFill>
                <a:latin typeface="Segoe UI"/>
              </a:rPr>
              <a:t>WHY We Used HDFS: </a:t>
            </a:r>
            <a:r>
              <a:rPr sz="1000" b="0">
                <a:solidFill>
                  <a:srgbClr val="E2E8F0"/>
                </a:solidFill>
                <a:latin typeface="Segoe UI"/>
              </a:rPr>
              <a:t>Provides central shared storage so any Spark worker container can read the data and load the saved ML model.</a:t>
            </a:r>
          </a:p>
          <a:p>
            <a:pPr algn="l">
              <a:spcAft>
                <a:spcPts val="500"/>
              </a:spcAft>
            </a:pPr>
            <a:r>
              <a:rPr sz="1050" b="1">
                <a:solidFill>
                  <a:srgbClr val="3B82F6"/>
                </a:solidFill>
                <a:latin typeface="Segoe UI"/>
              </a:rPr>
              <a:t>▸ </a:t>
            </a:r>
            <a:r>
              <a:rPr sz="1050" b="1">
                <a:solidFill>
                  <a:srgbClr val="FFFFFF"/>
                </a:solidFill>
                <a:latin typeface="Segoe UI"/>
              </a:rPr>
              <a:t>Docker Network Fix: </a:t>
            </a:r>
            <a:r>
              <a:rPr sz="1000" b="0">
                <a:solidFill>
                  <a:srgbClr val="E2E8F0"/>
                </a:solidFill>
                <a:latin typeface="Segoe UI"/>
              </a:rPr>
              <a:t>Configured with `use.datanode.hostname=false` so containers connect smoothly by IP address.</a:t>
            </a:r>
          </a:p>
        </p:txBody>
      </p:sp>
      <p:sp>
        <p:nvSpPr>
          <p:cNvPr id="25" name="Rounded Rectangle 24"/>
          <p:cNvSpPr/>
          <p:nvPr/>
        </p:nvSpPr>
        <p:spPr>
          <a:xfrm>
            <a:off x="384048" y="3767328"/>
            <a:ext cx="5596128" cy="2578608"/>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84048" y="3767328"/>
            <a:ext cx="5596128"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4048" y="3822191"/>
            <a:ext cx="5596128"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2064" y="3840480"/>
            <a:ext cx="5340096" cy="292608"/>
          </a:xfrm>
          <a:prstGeom prst="rect">
            <a:avLst/>
          </a:prstGeom>
          <a:noFill/>
        </p:spPr>
        <p:txBody>
          <a:bodyPr wrap="square" anchor="ctr" lIns="45720" rIns="45720" tIns="27432" bIns="27432">
            <a:spAutoFit/>
          </a:bodyPr>
          <a:lstStyle/>
          <a:p>
            <a:pPr algn="l"/>
            <a:r>
              <a:rPr sz="1150" b="1" i="0">
                <a:solidFill>
                  <a:srgbClr val="FFFFFF"/>
                </a:solidFill>
                <a:latin typeface="Segoe UI"/>
              </a:rPr>
              <a:t>3. APACHE PARQUET — COLUMNAR FILE FORMAT</a:t>
            </a:r>
          </a:p>
        </p:txBody>
      </p:sp>
      <p:sp>
        <p:nvSpPr>
          <p:cNvPr id="29" name="TextBox 28"/>
          <p:cNvSpPr txBox="1"/>
          <p:nvPr/>
        </p:nvSpPr>
        <p:spPr>
          <a:xfrm>
            <a:off x="493776" y="4206240"/>
            <a:ext cx="5376672" cy="2057400"/>
          </a:xfrm>
          <a:prstGeom prst="rect">
            <a:avLst/>
          </a:prstGeom>
          <a:noFill/>
        </p:spPr>
        <p:txBody>
          <a:bodyPr wrap="square" lIns="54864" rIns="54864" tIns="36576" bIns="36576">
            <a:spAutoFit/>
          </a:bodyPr>
          <a:lstStyle/>
          <a:p>
            <a:pPr algn="l">
              <a:spcAft>
                <a:spcPts val="500"/>
              </a:spcAft>
            </a:pPr>
            <a:r>
              <a:rPr sz="1050" b="1">
                <a:solidFill>
                  <a:srgbClr val="F59E0B"/>
                </a:solidFill>
                <a:latin typeface="Segoe UI"/>
              </a:rPr>
              <a:t>▸ </a:t>
            </a:r>
            <a:r>
              <a:rPr sz="1050" b="1">
                <a:solidFill>
                  <a:srgbClr val="FFFFFF"/>
                </a:solidFill>
                <a:latin typeface="Segoe UI"/>
              </a:rPr>
              <a:t>WHAT It Does: </a:t>
            </a:r>
            <a:r>
              <a:rPr sz="1000" b="0">
                <a:solidFill>
                  <a:srgbClr val="E2E8F0"/>
                </a:solidFill>
                <a:latin typeface="Segoe UI"/>
              </a:rPr>
              <a:t>Stores the 50-column dataset in a compressed columnar format on disk and inside HDFS.</a:t>
            </a:r>
          </a:p>
          <a:p>
            <a:pPr algn="l">
              <a:spcAft>
                <a:spcPts val="500"/>
              </a:spcAft>
            </a:pPr>
            <a:r>
              <a:rPr sz="1050" b="1">
                <a:solidFill>
                  <a:srgbClr val="F59E0B"/>
                </a:solidFill>
                <a:latin typeface="Segoe UI"/>
              </a:rPr>
              <a:t>▸ </a:t>
            </a:r>
            <a:r>
              <a:rPr sz="1050" b="1">
                <a:solidFill>
                  <a:srgbClr val="FFFFFF"/>
                </a:solidFill>
                <a:latin typeface="Segoe UI"/>
              </a:rPr>
              <a:t>WHY Parquet Instead of CSV or HDF5? </a:t>
            </a:r>
            <a:r>
              <a:rPr sz="1000" b="0">
                <a:solidFill>
                  <a:srgbClr val="E2E8F0"/>
                </a:solidFill>
                <a:latin typeface="Segoe UI"/>
              </a:rPr>
              <a:t>1) Saves column data types automatically; 2) Spark only reads the 44 columns needed for ML; 3) Snappy compression makes files much smaller and faster to scan.</a:t>
            </a:r>
          </a:p>
          <a:p>
            <a:pPr algn="l">
              <a:spcAft>
                <a:spcPts val="500"/>
              </a:spcAft>
            </a:pPr>
            <a:r>
              <a:rPr sz="1050" b="1">
                <a:solidFill>
                  <a:srgbClr val="F59E0B"/>
                </a:solidFill>
                <a:latin typeface="Segoe UI"/>
              </a:rPr>
              <a:t>▸ </a:t>
            </a:r>
            <a:r>
              <a:rPr sz="1050" b="1">
                <a:solidFill>
                  <a:srgbClr val="FFFFFF"/>
                </a:solidFill>
                <a:latin typeface="Segoe UI"/>
              </a:rPr>
              <a:t>Verified Result: </a:t>
            </a:r>
            <a:r>
              <a:rPr sz="1000" b="0">
                <a:solidFill>
                  <a:srgbClr val="E2E8F0"/>
                </a:solidFill>
                <a:latin typeface="Segoe UI"/>
              </a:rPr>
              <a:t>Compresses millions of engine rows while keeping fast read speeds.</a:t>
            </a:r>
          </a:p>
        </p:txBody>
      </p:sp>
      <p:sp>
        <p:nvSpPr>
          <p:cNvPr id="30" name="Rounded Rectangle 29"/>
          <p:cNvSpPr/>
          <p:nvPr/>
        </p:nvSpPr>
        <p:spPr>
          <a:xfrm>
            <a:off x="6181344" y="3767328"/>
            <a:ext cx="5623560" cy="2578608"/>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81344" y="3767328"/>
            <a:ext cx="562356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81344" y="3822191"/>
            <a:ext cx="5623560"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09359" y="3840480"/>
            <a:ext cx="5367528" cy="292608"/>
          </a:xfrm>
          <a:prstGeom prst="rect">
            <a:avLst/>
          </a:prstGeom>
          <a:noFill/>
        </p:spPr>
        <p:txBody>
          <a:bodyPr wrap="square" anchor="ctr" lIns="45720" rIns="45720" tIns="27432" bIns="27432">
            <a:spAutoFit/>
          </a:bodyPr>
          <a:lstStyle/>
          <a:p>
            <a:pPr algn="l"/>
            <a:r>
              <a:rPr sz="1150" b="1" i="0">
                <a:solidFill>
                  <a:srgbClr val="FFFFFF"/>
                </a:solidFill>
                <a:latin typeface="Segoe UI"/>
              </a:rPr>
              <a:t>4. CLICKHOUSE (v26.9) — FAST ANALYTICAL DATABASE</a:t>
            </a:r>
          </a:p>
        </p:txBody>
      </p:sp>
      <p:sp>
        <p:nvSpPr>
          <p:cNvPr id="34" name="TextBox 33"/>
          <p:cNvSpPr txBox="1"/>
          <p:nvPr/>
        </p:nvSpPr>
        <p:spPr>
          <a:xfrm>
            <a:off x="6291072" y="4206240"/>
            <a:ext cx="5394960" cy="2057400"/>
          </a:xfrm>
          <a:prstGeom prst="rect">
            <a:avLst/>
          </a:prstGeom>
          <a:noFill/>
        </p:spPr>
        <p:txBody>
          <a:bodyPr wrap="square" lIns="54864" rIns="54864" tIns="36576" bIns="36576">
            <a:spAutoFit/>
          </a:bodyPr>
          <a:lstStyle/>
          <a:p>
            <a:pPr algn="l">
              <a:spcAft>
                <a:spcPts val="500"/>
              </a:spcAft>
            </a:pPr>
            <a:r>
              <a:rPr sz="1050" b="1">
                <a:solidFill>
                  <a:srgbClr val="10B981"/>
                </a:solidFill>
                <a:latin typeface="Segoe UI"/>
              </a:rPr>
              <a:t>▸ </a:t>
            </a:r>
            <a:r>
              <a:rPr sz="1050" b="1">
                <a:solidFill>
                  <a:srgbClr val="FFFFFF"/>
                </a:solidFill>
                <a:latin typeface="Segoe UI"/>
              </a:rPr>
              <a:t>WHAT It Does: </a:t>
            </a:r>
            <a:r>
              <a:rPr sz="1000" b="0">
                <a:solidFill>
                  <a:srgbClr val="E2E8F0"/>
                </a:solidFill>
                <a:latin typeface="Segoe UI"/>
              </a:rPr>
              <a:t>Stores the final results in 4 tables: batch summaries, 600K RUL predictions, live stream metrics, and maintenance alerts.</a:t>
            </a:r>
          </a:p>
          <a:p>
            <a:pPr algn="l">
              <a:spcAft>
                <a:spcPts val="500"/>
              </a:spcAft>
            </a:pPr>
            <a:r>
              <a:rPr sz="1050" b="1">
                <a:solidFill>
                  <a:srgbClr val="10B981"/>
                </a:solidFill>
                <a:latin typeface="Segoe UI"/>
              </a:rPr>
              <a:t>▸ </a:t>
            </a:r>
            <a:r>
              <a:rPr sz="1050" b="1">
                <a:solidFill>
                  <a:srgbClr val="FFFFFF"/>
                </a:solidFill>
                <a:latin typeface="Segoe UI"/>
              </a:rPr>
              <a:t>WHY ClickHouse Instead of PostgreSQL? </a:t>
            </a:r>
            <a:r>
              <a:rPr sz="1000" b="0">
                <a:solidFill>
                  <a:srgbClr val="E2E8F0"/>
                </a:solidFill>
                <a:latin typeface="Segoe UI"/>
              </a:rPr>
              <a:t>HDFS is great for big files, but dashboards need fast SQL queries. We upgraded from PostgreSQL to ClickHouse because its columnar `MergeTree` engine answers queries in milliseconds.</a:t>
            </a:r>
          </a:p>
          <a:p>
            <a:pPr algn="l">
              <a:spcAft>
                <a:spcPts val="500"/>
              </a:spcAft>
            </a:pPr>
            <a:r>
              <a:rPr sz="1050" b="1">
                <a:solidFill>
                  <a:srgbClr val="10B981"/>
                </a:solidFill>
                <a:latin typeface="Segoe UI"/>
              </a:rPr>
              <a:t>▸ </a:t>
            </a:r>
            <a:r>
              <a:rPr sz="1050" b="1">
                <a:solidFill>
                  <a:srgbClr val="FFFFFF"/>
                </a:solidFill>
                <a:latin typeface="Segoe UI"/>
              </a:rPr>
              <a:t>Safe Writing: </a:t>
            </a:r>
            <a:r>
              <a:rPr sz="1000" b="0">
                <a:solidFill>
                  <a:srgbClr val="E2E8F0"/>
                </a:solidFill>
                <a:latin typeface="Segoe UI"/>
              </a:rPr>
              <a:t>Both Batch and Streaming write to ClickHouse over HTTP port 8123.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12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877824"/>
          </a:xfrm>
          <a:prstGeom prst="rect">
            <a:avLst/>
          </a:prstGeom>
          <a:solidFill>
            <a:srgbClr val="0D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13716"/>
          </a:xfrm>
          <a:prstGeom prst="rect">
            <a:avLst/>
          </a:prstGeom>
          <a:solidFill>
            <a:srgbClr val="233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5448"/>
            <a:ext cx="2103120" cy="219456"/>
          </a:xfrm>
          <a:prstGeom prst="roundRect">
            <a:avLst>
              <a:gd name="adj" fmla="val 2500"/>
            </a:avLst>
          </a:prstGeom>
          <a:solidFill>
            <a:srgbClr val="162440"/>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55448"/>
            <a:ext cx="2103120" cy="219456"/>
          </a:xfrm>
          <a:prstGeom prst="rect">
            <a:avLst/>
          </a:prstGeom>
          <a:noFill/>
        </p:spPr>
        <p:txBody>
          <a:bodyPr wrap="square" anchor="ctr" lIns="45720" rIns="45720" tIns="27432" bIns="27432">
            <a:spAutoFit/>
          </a:bodyPr>
          <a:lstStyle/>
          <a:p>
            <a:pPr algn="ctr"/>
            <a:r>
              <a:rPr sz="850" b="1" i="0">
                <a:solidFill>
                  <a:srgbClr val="00D4FF"/>
                </a:solidFill>
                <a:latin typeface="Segoe UI"/>
              </a:rPr>
              <a:t>7. WORKFLOW ORCHESTRATION</a:t>
            </a:r>
          </a:p>
        </p:txBody>
      </p:sp>
      <p:sp>
        <p:nvSpPr>
          <p:cNvPr id="7" name="TextBox 6"/>
          <p:cNvSpPr txBox="1"/>
          <p:nvPr/>
        </p:nvSpPr>
        <p:spPr>
          <a:xfrm>
            <a:off x="384048" y="384048"/>
            <a:ext cx="9875520" cy="329184"/>
          </a:xfrm>
          <a:prstGeom prst="rect">
            <a:avLst/>
          </a:prstGeom>
          <a:noFill/>
        </p:spPr>
        <p:txBody>
          <a:bodyPr wrap="square" anchor="t" lIns="45720" rIns="45720" tIns="27432" bIns="27432">
            <a:spAutoFit/>
          </a:bodyPr>
          <a:lstStyle/>
          <a:p>
            <a:pPr algn="l"/>
            <a:r>
              <a:rPr sz="2000" b="1" i="0">
                <a:solidFill>
                  <a:srgbClr val="FFFFFF"/>
                </a:solidFill>
                <a:latin typeface="Segoe UI"/>
              </a:rPr>
              <a:t>Workflow Orchestration: Apache Airflow 10-Step Pipeline</a:t>
            </a:r>
          </a:p>
        </p:txBody>
      </p:sp>
      <p:sp>
        <p:nvSpPr>
          <p:cNvPr id="8" name="TextBox 7"/>
          <p:cNvSpPr txBox="1"/>
          <p:nvPr/>
        </p:nvSpPr>
        <p:spPr>
          <a:xfrm>
            <a:off x="384048" y="685800"/>
            <a:ext cx="10515600" cy="219456"/>
          </a:xfrm>
          <a:prstGeom prst="rect">
            <a:avLst/>
          </a:prstGeom>
          <a:noFill/>
        </p:spPr>
        <p:txBody>
          <a:bodyPr wrap="square" anchor="t" lIns="45720" rIns="45720" tIns="27432" bIns="27432">
            <a:spAutoFit/>
          </a:bodyPr>
          <a:lstStyle/>
          <a:p>
            <a:pPr algn="l"/>
            <a:r>
              <a:rPr sz="1100" b="0" i="0">
                <a:solidFill>
                  <a:srgbClr val="94A3B8"/>
                </a:solidFill>
                <a:latin typeface="Segoe UI"/>
              </a:rPr>
              <a:t>Automating task order, retries, and verification with `aircraft_engine_batch_pipeline`</a:t>
            </a:r>
          </a:p>
        </p:txBody>
      </p:sp>
      <p:sp>
        <p:nvSpPr>
          <p:cNvPr id="9" name="Rounded Rectangle 8"/>
          <p:cNvSpPr/>
          <p:nvPr/>
        </p:nvSpPr>
        <p:spPr>
          <a:xfrm>
            <a:off x="11109960" y="219456"/>
            <a:ext cx="685800" cy="384048"/>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09960" y="219456"/>
            <a:ext cx="685800" cy="384048"/>
          </a:xfrm>
          <a:prstGeom prst="rect">
            <a:avLst/>
          </a:prstGeom>
          <a:noFill/>
        </p:spPr>
        <p:txBody>
          <a:bodyPr wrap="square" anchor="ctr" lIns="45720" rIns="45720" tIns="27432" bIns="27432">
            <a:spAutoFit/>
          </a:bodyPr>
          <a:lstStyle/>
          <a:p>
            <a:pPr algn="ctr"/>
            <a:r>
              <a:rPr sz="1000" b="1" i="0">
                <a:solidFill>
                  <a:srgbClr val="00D4FF"/>
                </a:solidFill>
                <a:latin typeface="Segoe UI"/>
              </a:rPr>
              <a:t>08 / 12</a:t>
            </a:r>
          </a:p>
        </p:txBody>
      </p:sp>
      <p:sp>
        <p:nvSpPr>
          <p:cNvPr id="11" name="Rectangle 10"/>
          <p:cNvSpPr/>
          <p:nvPr/>
        </p:nvSpPr>
        <p:spPr>
          <a:xfrm>
            <a:off x="0" y="6510528"/>
            <a:ext cx="12191695" cy="347472"/>
          </a:xfrm>
          <a:prstGeom prst="rect">
            <a:avLst/>
          </a:prstGeom>
          <a:solidFill>
            <a:srgbClr val="0D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501384"/>
            <a:ext cx="12191695" cy="9144"/>
          </a:xfrm>
          <a:prstGeom prst="rect">
            <a:avLst/>
          </a:prstGeom>
          <a:solidFill>
            <a:srgbClr val="233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6547104"/>
            <a:ext cx="8046720" cy="237744"/>
          </a:xfrm>
          <a:prstGeom prst="rect">
            <a:avLst/>
          </a:prstGeom>
          <a:noFill/>
        </p:spPr>
        <p:txBody>
          <a:bodyPr wrap="square" anchor="t" lIns="45720" rIns="45720" tIns="27432" bIns="27432">
            <a:spAutoFit/>
          </a:bodyPr>
          <a:lstStyle/>
          <a:p>
            <a:pPr algn="l"/>
            <a:r>
              <a:rPr sz="850" b="0" i="0">
                <a:solidFill>
                  <a:srgbClr val="94A3B8"/>
                </a:solidFill>
                <a:latin typeface="Segoe UI"/>
              </a:rPr>
              <a:t>Source: NASA N-CMAPSS Dataset &amp; Verified Project Pipeline Logs</a:t>
            </a:r>
          </a:p>
        </p:txBody>
      </p:sp>
      <p:sp>
        <p:nvSpPr>
          <p:cNvPr id="14" name="TextBox 13"/>
          <p:cNvSpPr txBox="1"/>
          <p:nvPr/>
        </p:nvSpPr>
        <p:spPr>
          <a:xfrm>
            <a:off x="8503920" y="6547104"/>
            <a:ext cx="3291840" cy="237744"/>
          </a:xfrm>
          <a:prstGeom prst="rect">
            <a:avLst/>
          </a:prstGeom>
          <a:noFill/>
        </p:spPr>
        <p:txBody>
          <a:bodyPr wrap="square" anchor="t" lIns="45720" rIns="45720" tIns="27432" bIns="27432">
            <a:spAutoFit/>
          </a:bodyPr>
          <a:lstStyle/>
          <a:p>
            <a:pPr algn="r"/>
            <a:r>
              <a:rPr sz="850" b="0" i="0">
                <a:solidFill>
                  <a:srgbClr val="94A3B8"/>
                </a:solidFill>
                <a:latin typeface="Segoe UI"/>
              </a:rPr>
              <a:t>Aircraft Engine Predictive Maintenance | Big Data Project</a:t>
            </a:r>
          </a:p>
        </p:txBody>
      </p:sp>
      <p:sp>
        <p:nvSpPr>
          <p:cNvPr id="15" name="Rounded Rectangle 14"/>
          <p:cNvSpPr/>
          <p:nvPr/>
        </p:nvSpPr>
        <p:spPr>
          <a:xfrm>
            <a:off x="384048" y="1078992"/>
            <a:ext cx="11420856" cy="2697480"/>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4048" y="1078992"/>
            <a:ext cx="11420856"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4048" y="1133856"/>
            <a:ext cx="11420856"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2064" y="1152144"/>
            <a:ext cx="11164824" cy="292608"/>
          </a:xfrm>
          <a:prstGeom prst="rect">
            <a:avLst/>
          </a:prstGeom>
          <a:noFill/>
        </p:spPr>
        <p:txBody>
          <a:bodyPr wrap="square" anchor="ctr" lIns="45720" rIns="45720" tIns="27432" bIns="27432">
            <a:spAutoFit/>
          </a:bodyPr>
          <a:lstStyle/>
          <a:p>
            <a:pPr algn="l"/>
            <a:r>
              <a:rPr sz="1150" b="1" i="0">
                <a:solidFill>
                  <a:srgbClr val="FFFFFF"/>
                </a:solidFill>
                <a:latin typeface="Segoe UI"/>
              </a:rPr>
              <a:t>THE 10 AUTOMATED STEPS IN OUR AIRFLOW DAG (@daily)</a:t>
            </a:r>
          </a:p>
        </p:txBody>
      </p:sp>
      <p:sp>
        <p:nvSpPr>
          <p:cNvPr id="19" name="Rounded Rectangle 18"/>
          <p:cNvSpPr/>
          <p:nvPr/>
        </p:nvSpPr>
        <p:spPr>
          <a:xfrm>
            <a:off x="566928" y="1572768"/>
            <a:ext cx="1965960" cy="960120"/>
          </a:xfrm>
          <a:prstGeom prst="roundRect">
            <a:avLst>
              <a:gd name="adj" fmla="val 2500"/>
            </a:avLst>
          </a:prstGeom>
          <a:solidFill>
            <a:srgbClr val="162440"/>
          </a:solidFill>
          <a:ln w="1651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1572768"/>
            <a:ext cx="1965960" cy="21945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1581912"/>
            <a:ext cx="1856231" cy="201168"/>
          </a:xfrm>
          <a:prstGeom prst="rect">
            <a:avLst/>
          </a:prstGeom>
          <a:noFill/>
        </p:spPr>
        <p:txBody>
          <a:bodyPr wrap="square" anchor="ctr" lIns="45720" rIns="45720" tIns="27432" bIns="27432">
            <a:spAutoFit/>
          </a:bodyPr>
          <a:lstStyle/>
          <a:p>
            <a:pPr algn="ctr"/>
            <a:r>
              <a:rPr sz="819" b="1" i="0">
                <a:solidFill>
                  <a:srgbClr val="0A1120"/>
                </a:solidFill>
                <a:latin typeface="Segoe UI"/>
              </a:rPr>
              <a:t>Step 1 (Python)</a:t>
            </a:r>
          </a:p>
        </p:txBody>
      </p:sp>
      <p:sp>
        <p:nvSpPr>
          <p:cNvPr id="22" name="TextBox 21"/>
          <p:cNvSpPr txBox="1"/>
          <p:nvPr/>
        </p:nvSpPr>
        <p:spPr>
          <a:xfrm>
            <a:off x="621792" y="1810512"/>
            <a:ext cx="1856231" cy="237744"/>
          </a:xfrm>
          <a:prstGeom prst="rect">
            <a:avLst/>
          </a:prstGeom>
          <a:noFill/>
        </p:spPr>
        <p:txBody>
          <a:bodyPr wrap="square" anchor="t" lIns="45720" rIns="45720" tIns="27432" bIns="27432">
            <a:spAutoFit/>
          </a:bodyPr>
          <a:lstStyle/>
          <a:p>
            <a:pPr algn="ctr"/>
            <a:r>
              <a:rPr sz="830" b="1" i="0">
                <a:solidFill>
                  <a:srgbClr val="FFFFFF"/>
                </a:solidFill>
                <a:latin typeface="Consolas"/>
              </a:rPr>
              <a:t>1_validate_raw_hdf5</a:t>
            </a:r>
          </a:p>
        </p:txBody>
      </p:sp>
      <p:sp>
        <p:nvSpPr>
          <p:cNvPr id="23" name="TextBox 22"/>
          <p:cNvSpPr txBox="1"/>
          <p:nvPr/>
        </p:nvSpPr>
        <p:spPr>
          <a:xfrm>
            <a:off x="621792" y="2048256"/>
            <a:ext cx="1856231" cy="438912"/>
          </a:xfrm>
          <a:prstGeom prst="rect">
            <a:avLst/>
          </a:prstGeom>
          <a:noFill/>
        </p:spPr>
        <p:txBody>
          <a:bodyPr wrap="square" anchor="t" lIns="45720" rIns="45720" tIns="27432" bIns="27432">
            <a:spAutoFit/>
          </a:bodyPr>
          <a:lstStyle/>
          <a:p>
            <a:pPr algn="ctr"/>
            <a:r>
              <a:rPr sz="830" b="0" i="0">
                <a:solidFill>
                  <a:srgbClr val="E2E8F0"/>
                </a:solidFill>
                <a:latin typeface="Segoe UI"/>
              </a:rPr>
              <a:t>Checks HDF5 file &amp;
real Y_dev RUL (4.91M)</a:t>
            </a:r>
          </a:p>
        </p:txBody>
      </p:sp>
      <p:sp>
        <p:nvSpPr>
          <p:cNvPr id="24" name="TextBox 23"/>
          <p:cNvSpPr txBox="1"/>
          <p:nvPr/>
        </p:nvSpPr>
        <p:spPr>
          <a:xfrm>
            <a:off x="2542032" y="1901952"/>
            <a:ext cx="274320" cy="274320"/>
          </a:xfrm>
          <a:prstGeom prst="rect">
            <a:avLst/>
          </a:prstGeom>
          <a:noFill/>
        </p:spPr>
        <p:txBody>
          <a:bodyPr wrap="square" anchor="t" lIns="45720" rIns="45720" tIns="27432" bIns="27432">
            <a:spAutoFit/>
          </a:bodyPr>
          <a:lstStyle/>
          <a:p>
            <a:pPr algn="ctr"/>
            <a:r>
              <a:rPr sz="1300" b="1" i="0">
                <a:solidFill>
                  <a:srgbClr val="00D4FF"/>
                </a:solidFill>
                <a:latin typeface="Segoe UI"/>
              </a:rPr>
              <a:t>➔</a:t>
            </a:r>
          </a:p>
        </p:txBody>
      </p:sp>
      <p:sp>
        <p:nvSpPr>
          <p:cNvPr id="25" name="Rounded Rectangle 24"/>
          <p:cNvSpPr/>
          <p:nvPr/>
        </p:nvSpPr>
        <p:spPr>
          <a:xfrm>
            <a:off x="2816352" y="1572768"/>
            <a:ext cx="1965960" cy="960120"/>
          </a:xfrm>
          <a:prstGeom prst="roundRect">
            <a:avLst>
              <a:gd name="adj" fmla="val 2500"/>
            </a:avLst>
          </a:prstGeom>
          <a:solidFill>
            <a:srgbClr val="162440"/>
          </a:solidFill>
          <a:ln w="1651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816352" y="1572768"/>
            <a:ext cx="1965960" cy="21945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71216" y="1581912"/>
            <a:ext cx="1856231" cy="201168"/>
          </a:xfrm>
          <a:prstGeom prst="rect">
            <a:avLst/>
          </a:prstGeom>
          <a:noFill/>
        </p:spPr>
        <p:txBody>
          <a:bodyPr wrap="square" anchor="ctr" lIns="45720" rIns="45720" tIns="27432" bIns="27432">
            <a:spAutoFit/>
          </a:bodyPr>
          <a:lstStyle/>
          <a:p>
            <a:pPr algn="ctr"/>
            <a:r>
              <a:rPr sz="819" b="1" i="0">
                <a:solidFill>
                  <a:srgbClr val="0A1120"/>
                </a:solidFill>
                <a:latin typeface="Segoe UI"/>
              </a:rPr>
              <a:t>Step 2 (Bash)</a:t>
            </a:r>
          </a:p>
        </p:txBody>
      </p:sp>
      <p:sp>
        <p:nvSpPr>
          <p:cNvPr id="28" name="TextBox 27"/>
          <p:cNvSpPr txBox="1"/>
          <p:nvPr/>
        </p:nvSpPr>
        <p:spPr>
          <a:xfrm>
            <a:off x="2871216" y="1810512"/>
            <a:ext cx="1856231" cy="237744"/>
          </a:xfrm>
          <a:prstGeom prst="rect">
            <a:avLst/>
          </a:prstGeom>
          <a:noFill/>
        </p:spPr>
        <p:txBody>
          <a:bodyPr wrap="square" anchor="t" lIns="45720" rIns="45720" tIns="27432" bIns="27432">
            <a:spAutoFit/>
          </a:bodyPr>
          <a:lstStyle/>
          <a:p>
            <a:pPr algn="ctr"/>
            <a:r>
              <a:rPr sz="830" b="1" i="0">
                <a:solidFill>
                  <a:srgbClr val="FFFFFF"/>
                </a:solidFill>
                <a:latin typeface="Consolas"/>
              </a:rPr>
              <a:t>2_convert_hdf5_to_parquet</a:t>
            </a:r>
          </a:p>
        </p:txBody>
      </p:sp>
      <p:sp>
        <p:nvSpPr>
          <p:cNvPr id="29" name="TextBox 28"/>
          <p:cNvSpPr txBox="1"/>
          <p:nvPr/>
        </p:nvSpPr>
        <p:spPr>
          <a:xfrm>
            <a:off x="2871216" y="2048256"/>
            <a:ext cx="1856231" cy="438912"/>
          </a:xfrm>
          <a:prstGeom prst="rect">
            <a:avLst/>
          </a:prstGeom>
          <a:noFill/>
        </p:spPr>
        <p:txBody>
          <a:bodyPr wrap="square" anchor="t" lIns="45720" rIns="45720" tIns="27432" bIns="27432">
            <a:spAutoFit/>
          </a:bodyPr>
          <a:lstStyle/>
          <a:p>
            <a:pPr algn="ctr"/>
            <a:r>
              <a:rPr sz="830" b="0" i="0">
                <a:solidFill>
                  <a:srgbClr val="E2E8F0"/>
                </a:solidFill>
                <a:latin typeface="Segoe UI"/>
              </a:rPr>
              <a:t>Converts HDF5 to
Parquet in 50K chunks</a:t>
            </a:r>
          </a:p>
        </p:txBody>
      </p:sp>
      <p:sp>
        <p:nvSpPr>
          <p:cNvPr id="30" name="TextBox 29"/>
          <p:cNvSpPr txBox="1"/>
          <p:nvPr/>
        </p:nvSpPr>
        <p:spPr>
          <a:xfrm>
            <a:off x="4791456" y="1901952"/>
            <a:ext cx="274320" cy="274320"/>
          </a:xfrm>
          <a:prstGeom prst="rect">
            <a:avLst/>
          </a:prstGeom>
          <a:noFill/>
        </p:spPr>
        <p:txBody>
          <a:bodyPr wrap="square" anchor="t" lIns="45720" rIns="45720" tIns="27432" bIns="27432">
            <a:spAutoFit/>
          </a:bodyPr>
          <a:lstStyle/>
          <a:p>
            <a:pPr algn="ctr"/>
            <a:r>
              <a:rPr sz="1300" b="1" i="0">
                <a:solidFill>
                  <a:srgbClr val="00D4FF"/>
                </a:solidFill>
                <a:latin typeface="Segoe UI"/>
              </a:rPr>
              <a:t>➔</a:t>
            </a:r>
          </a:p>
        </p:txBody>
      </p:sp>
      <p:sp>
        <p:nvSpPr>
          <p:cNvPr id="31" name="Rounded Rectangle 30"/>
          <p:cNvSpPr/>
          <p:nvPr/>
        </p:nvSpPr>
        <p:spPr>
          <a:xfrm>
            <a:off x="5065776" y="1572768"/>
            <a:ext cx="1965960" cy="960120"/>
          </a:xfrm>
          <a:prstGeom prst="roundRect">
            <a:avLst>
              <a:gd name="adj" fmla="val 2500"/>
            </a:avLst>
          </a:prstGeom>
          <a:solidFill>
            <a:srgbClr val="162440"/>
          </a:solidFill>
          <a:ln w="1651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65776" y="1572768"/>
            <a:ext cx="1965960" cy="21945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120640" y="1581912"/>
            <a:ext cx="1856231" cy="201168"/>
          </a:xfrm>
          <a:prstGeom prst="rect">
            <a:avLst/>
          </a:prstGeom>
          <a:noFill/>
        </p:spPr>
        <p:txBody>
          <a:bodyPr wrap="square" anchor="ctr" lIns="45720" rIns="45720" tIns="27432" bIns="27432">
            <a:spAutoFit/>
          </a:bodyPr>
          <a:lstStyle/>
          <a:p>
            <a:pPr algn="ctr"/>
            <a:r>
              <a:rPr sz="819" b="1" i="0">
                <a:solidFill>
                  <a:srgbClr val="0A1120"/>
                </a:solidFill>
                <a:latin typeface="Segoe UI"/>
              </a:rPr>
              <a:t>Step 3 (Bash)</a:t>
            </a:r>
          </a:p>
        </p:txBody>
      </p:sp>
      <p:sp>
        <p:nvSpPr>
          <p:cNvPr id="34" name="TextBox 33"/>
          <p:cNvSpPr txBox="1"/>
          <p:nvPr/>
        </p:nvSpPr>
        <p:spPr>
          <a:xfrm>
            <a:off x="5120640" y="1810512"/>
            <a:ext cx="1856231" cy="237744"/>
          </a:xfrm>
          <a:prstGeom prst="rect">
            <a:avLst/>
          </a:prstGeom>
          <a:noFill/>
        </p:spPr>
        <p:txBody>
          <a:bodyPr wrap="square" anchor="t" lIns="45720" rIns="45720" tIns="27432" bIns="27432">
            <a:spAutoFit/>
          </a:bodyPr>
          <a:lstStyle/>
          <a:p>
            <a:pPr algn="ctr"/>
            <a:r>
              <a:rPr sz="830" b="1" i="0">
                <a:solidFill>
                  <a:srgbClr val="FFFFFF"/>
                </a:solidFill>
                <a:latin typeface="Consolas"/>
              </a:rPr>
              <a:t>3_upload_parquet_to_hdfs</a:t>
            </a:r>
          </a:p>
        </p:txBody>
      </p:sp>
      <p:sp>
        <p:nvSpPr>
          <p:cNvPr id="35" name="TextBox 34"/>
          <p:cNvSpPr txBox="1"/>
          <p:nvPr/>
        </p:nvSpPr>
        <p:spPr>
          <a:xfrm>
            <a:off x="5120640" y="2048256"/>
            <a:ext cx="1856231" cy="438912"/>
          </a:xfrm>
          <a:prstGeom prst="rect">
            <a:avLst/>
          </a:prstGeom>
          <a:noFill/>
        </p:spPr>
        <p:txBody>
          <a:bodyPr wrap="square" anchor="t" lIns="45720" rIns="45720" tIns="27432" bIns="27432">
            <a:spAutoFit/>
          </a:bodyPr>
          <a:lstStyle/>
          <a:p>
            <a:pPr algn="ctr"/>
            <a:r>
              <a:rPr sz="830" b="0" i="0">
                <a:solidFill>
                  <a:srgbClr val="E2E8F0"/>
                </a:solidFill>
                <a:latin typeface="Segoe UI"/>
              </a:rPr>
              <a:t>Uploads dev &amp; test
Parquet to HDFS</a:t>
            </a:r>
          </a:p>
        </p:txBody>
      </p:sp>
      <p:sp>
        <p:nvSpPr>
          <p:cNvPr id="36" name="TextBox 35"/>
          <p:cNvSpPr txBox="1"/>
          <p:nvPr/>
        </p:nvSpPr>
        <p:spPr>
          <a:xfrm>
            <a:off x="7040880" y="1901952"/>
            <a:ext cx="274320" cy="274320"/>
          </a:xfrm>
          <a:prstGeom prst="rect">
            <a:avLst/>
          </a:prstGeom>
          <a:noFill/>
        </p:spPr>
        <p:txBody>
          <a:bodyPr wrap="square" anchor="t" lIns="45720" rIns="45720" tIns="27432" bIns="27432">
            <a:spAutoFit/>
          </a:bodyPr>
          <a:lstStyle/>
          <a:p>
            <a:pPr algn="ctr"/>
            <a:r>
              <a:rPr sz="1300" b="1" i="0">
                <a:solidFill>
                  <a:srgbClr val="00D4FF"/>
                </a:solidFill>
                <a:latin typeface="Segoe UI"/>
              </a:rPr>
              <a:t>➔</a:t>
            </a:r>
          </a:p>
        </p:txBody>
      </p:sp>
      <p:sp>
        <p:nvSpPr>
          <p:cNvPr id="37" name="Rounded Rectangle 36"/>
          <p:cNvSpPr/>
          <p:nvPr/>
        </p:nvSpPr>
        <p:spPr>
          <a:xfrm>
            <a:off x="7315200" y="1572768"/>
            <a:ext cx="1965960" cy="960120"/>
          </a:xfrm>
          <a:prstGeom prst="roundRect">
            <a:avLst>
              <a:gd name="adj" fmla="val 2500"/>
            </a:avLst>
          </a:prstGeom>
          <a:solidFill>
            <a:srgbClr val="162440"/>
          </a:solidFill>
          <a:ln w="1651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15200" y="1572768"/>
            <a:ext cx="1965960" cy="21945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70064" y="1581912"/>
            <a:ext cx="1856231" cy="201168"/>
          </a:xfrm>
          <a:prstGeom prst="rect">
            <a:avLst/>
          </a:prstGeom>
          <a:noFill/>
        </p:spPr>
        <p:txBody>
          <a:bodyPr wrap="square" anchor="ctr" lIns="45720" rIns="45720" tIns="27432" bIns="27432">
            <a:spAutoFit/>
          </a:bodyPr>
          <a:lstStyle/>
          <a:p>
            <a:pPr algn="ctr"/>
            <a:r>
              <a:rPr sz="819" b="1" i="0">
                <a:solidFill>
                  <a:srgbClr val="0A1120"/>
                </a:solidFill>
                <a:latin typeface="Segoe UI"/>
              </a:rPr>
              <a:t>Step 4 (Spark)</a:t>
            </a:r>
          </a:p>
        </p:txBody>
      </p:sp>
      <p:sp>
        <p:nvSpPr>
          <p:cNvPr id="40" name="TextBox 39"/>
          <p:cNvSpPr txBox="1"/>
          <p:nvPr/>
        </p:nvSpPr>
        <p:spPr>
          <a:xfrm>
            <a:off x="7370064" y="1810512"/>
            <a:ext cx="1856231" cy="237744"/>
          </a:xfrm>
          <a:prstGeom prst="rect">
            <a:avLst/>
          </a:prstGeom>
          <a:noFill/>
        </p:spPr>
        <p:txBody>
          <a:bodyPr wrap="square" anchor="t" lIns="45720" rIns="45720" tIns="27432" bIns="27432">
            <a:spAutoFit/>
          </a:bodyPr>
          <a:lstStyle/>
          <a:p>
            <a:pPr algn="ctr"/>
            <a:r>
              <a:rPr sz="830" b="1" i="0">
                <a:solidFill>
                  <a:srgbClr val="FFFFFF"/>
                </a:solidFill>
                <a:latin typeface="Consolas"/>
              </a:rPr>
              <a:t>4_spark_batch_summary</a:t>
            </a:r>
          </a:p>
        </p:txBody>
      </p:sp>
      <p:sp>
        <p:nvSpPr>
          <p:cNvPr id="41" name="TextBox 40"/>
          <p:cNvSpPr txBox="1"/>
          <p:nvPr/>
        </p:nvSpPr>
        <p:spPr>
          <a:xfrm>
            <a:off x="7370064" y="2048256"/>
            <a:ext cx="1856231" cy="438912"/>
          </a:xfrm>
          <a:prstGeom prst="rect">
            <a:avLst/>
          </a:prstGeom>
          <a:noFill/>
        </p:spPr>
        <p:txBody>
          <a:bodyPr wrap="square" anchor="t" lIns="45720" rIns="45720" tIns="27432" bIns="27432">
            <a:spAutoFit/>
          </a:bodyPr>
          <a:lstStyle/>
          <a:p>
            <a:pPr algn="ctr"/>
            <a:r>
              <a:rPr sz="830" b="0" i="0">
                <a:solidFill>
                  <a:srgbClr val="E2E8F0"/>
                </a:solidFill>
                <a:latin typeface="Segoe UI"/>
              </a:rPr>
              <a:t>Calculates cycle &amp;
RUL summary per unit</a:t>
            </a:r>
          </a:p>
        </p:txBody>
      </p:sp>
      <p:sp>
        <p:nvSpPr>
          <p:cNvPr id="42" name="TextBox 41"/>
          <p:cNvSpPr txBox="1"/>
          <p:nvPr/>
        </p:nvSpPr>
        <p:spPr>
          <a:xfrm>
            <a:off x="9290304" y="1901952"/>
            <a:ext cx="274320" cy="274320"/>
          </a:xfrm>
          <a:prstGeom prst="rect">
            <a:avLst/>
          </a:prstGeom>
          <a:noFill/>
        </p:spPr>
        <p:txBody>
          <a:bodyPr wrap="square" anchor="t" lIns="45720" rIns="45720" tIns="27432" bIns="27432">
            <a:spAutoFit/>
          </a:bodyPr>
          <a:lstStyle/>
          <a:p>
            <a:pPr algn="ctr"/>
            <a:r>
              <a:rPr sz="1300" b="1" i="0">
                <a:solidFill>
                  <a:srgbClr val="00D4FF"/>
                </a:solidFill>
                <a:latin typeface="Segoe UI"/>
              </a:rPr>
              <a:t>➔</a:t>
            </a:r>
          </a:p>
        </p:txBody>
      </p:sp>
      <p:sp>
        <p:nvSpPr>
          <p:cNvPr id="43" name="Rounded Rectangle 42"/>
          <p:cNvSpPr/>
          <p:nvPr/>
        </p:nvSpPr>
        <p:spPr>
          <a:xfrm>
            <a:off x="9564624" y="1572768"/>
            <a:ext cx="1965960" cy="960120"/>
          </a:xfrm>
          <a:prstGeom prst="roundRect">
            <a:avLst>
              <a:gd name="adj" fmla="val 2500"/>
            </a:avLst>
          </a:prstGeom>
          <a:solidFill>
            <a:srgbClr val="162440"/>
          </a:solidFill>
          <a:ln w="1651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564624" y="1572768"/>
            <a:ext cx="1965960" cy="21945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619488" y="1581912"/>
            <a:ext cx="1856231" cy="201168"/>
          </a:xfrm>
          <a:prstGeom prst="rect">
            <a:avLst/>
          </a:prstGeom>
          <a:noFill/>
        </p:spPr>
        <p:txBody>
          <a:bodyPr wrap="square" anchor="ctr" lIns="45720" rIns="45720" tIns="27432" bIns="27432">
            <a:spAutoFit/>
          </a:bodyPr>
          <a:lstStyle/>
          <a:p>
            <a:pPr algn="ctr"/>
            <a:r>
              <a:rPr sz="819" b="1" i="0">
                <a:solidFill>
                  <a:srgbClr val="0A1120"/>
                </a:solidFill>
                <a:latin typeface="Segoe UI"/>
              </a:rPr>
              <a:t>Step 5 (Spark ML)</a:t>
            </a:r>
          </a:p>
        </p:txBody>
      </p:sp>
      <p:sp>
        <p:nvSpPr>
          <p:cNvPr id="46" name="TextBox 45"/>
          <p:cNvSpPr txBox="1"/>
          <p:nvPr/>
        </p:nvSpPr>
        <p:spPr>
          <a:xfrm>
            <a:off x="9619488" y="1810512"/>
            <a:ext cx="1856231" cy="237744"/>
          </a:xfrm>
          <a:prstGeom prst="rect">
            <a:avLst/>
          </a:prstGeom>
          <a:noFill/>
        </p:spPr>
        <p:txBody>
          <a:bodyPr wrap="square" anchor="t" lIns="45720" rIns="45720" tIns="27432" bIns="27432">
            <a:spAutoFit/>
          </a:bodyPr>
          <a:lstStyle/>
          <a:p>
            <a:pPr algn="ctr"/>
            <a:r>
              <a:rPr sz="830" b="1" i="0">
                <a:solidFill>
                  <a:srgbClr val="FFFFFF"/>
                </a:solidFill>
                <a:latin typeface="Consolas"/>
              </a:rPr>
              <a:t>5_train_and_save_ml_model</a:t>
            </a:r>
          </a:p>
        </p:txBody>
      </p:sp>
      <p:sp>
        <p:nvSpPr>
          <p:cNvPr id="47" name="TextBox 46"/>
          <p:cNvSpPr txBox="1"/>
          <p:nvPr/>
        </p:nvSpPr>
        <p:spPr>
          <a:xfrm>
            <a:off x="9619488" y="2048256"/>
            <a:ext cx="1856231" cy="438912"/>
          </a:xfrm>
          <a:prstGeom prst="rect">
            <a:avLst/>
          </a:prstGeom>
          <a:noFill/>
        </p:spPr>
        <p:txBody>
          <a:bodyPr wrap="square" anchor="t" lIns="45720" rIns="45720" tIns="27432" bIns="27432">
            <a:spAutoFit/>
          </a:bodyPr>
          <a:lstStyle/>
          <a:p>
            <a:pPr algn="ctr"/>
            <a:r>
              <a:rPr sz="830" b="0" i="0">
                <a:solidFill>
                  <a:srgbClr val="E2E8F0"/>
                </a:solidFill>
                <a:latin typeface="Segoe UI"/>
              </a:rPr>
              <a:t>Trains 3 models &amp;
saves Random Forest</a:t>
            </a:r>
          </a:p>
        </p:txBody>
      </p:sp>
      <p:sp>
        <p:nvSpPr>
          <p:cNvPr id="48" name="Rounded Rectangle 47"/>
          <p:cNvSpPr/>
          <p:nvPr/>
        </p:nvSpPr>
        <p:spPr>
          <a:xfrm>
            <a:off x="566928" y="2688336"/>
            <a:ext cx="1965960" cy="960120"/>
          </a:xfrm>
          <a:prstGeom prst="roundRect">
            <a:avLst>
              <a:gd name="adj" fmla="val 2500"/>
            </a:avLst>
          </a:prstGeom>
          <a:solidFill>
            <a:srgbClr val="162440"/>
          </a:solidFill>
          <a:ln w="1651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66928" y="2688336"/>
            <a:ext cx="1965960" cy="21945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1792" y="2697480"/>
            <a:ext cx="1856231" cy="201168"/>
          </a:xfrm>
          <a:prstGeom prst="rect">
            <a:avLst/>
          </a:prstGeom>
          <a:noFill/>
        </p:spPr>
        <p:txBody>
          <a:bodyPr wrap="square" anchor="ctr" lIns="45720" rIns="45720" tIns="27432" bIns="27432">
            <a:spAutoFit/>
          </a:bodyPr>
          <a:lstStyle/>
          <a:p>
            <a:pPr algn="ctr"/>
            <a:r>
              <a:rPr sz="819" b="1" i="0">
                <a:solidFill>
                  <a:srgbClr val="0A1120"/>
                </a:solidFill>
                <a:latin typeface="Segoe UI"/>
              </a:rPr>
              <a:t>Step 6 (Spark ML)</a:t>
            </a:r>
          </a:p>
        </p:txBody>
      </p:sp>
      <p:sp>
        <p:nvSpPr>
          <p:cNvPr id="51" name="TextBox 50"/>
          <p:cNvSpPr txBox="1"/>
          <p:nvPr/>
        </p:nvSpPr>
        <p:spPr>
          <a:xfrm>
            <a:off x="621792" y="2926080"/>
            <a:ext cx="1856231" cy="237744"/>
          </a:xfrm>
          <a:prstGeom prst="rect">
            <a:avLst/>
          </a:prstGeom>
          <a:noFill/>
        </p:spPr>
        <p:txBody>
          <a:bodyPr wrap="square" anchor="t" lIns="45720" rIns="45720" tIns="27432" bIns="27432">
            <a:spAutoFit/>
          </a:bodyPr>
          <a:lstStyle/>
          <a:p>
            <a:pPr algn="ctr"/>
            <a:r>
              <a:rPr sz="830" b="1" i="0">
                <a:solidFill>
                  <a:srgbClr val="FFFFFF"/>
                </a:solidFill>
                <a:latin typeface="Consolas"/>
              </a:rPr>
              <a:t>6_predict_rul_test_engines</a:t>
            </a:r>
          </a:p>
        </p:txBody>
      </p:sp>
      <p:sp>
        <p:nvSpPr>
          <p:cNvPr id="52" name="TextBox 51"/>
          <p:cNvSpPr txBox="1"/>
          <p:nvPr/>
        </p:nvSpPr>
        <p:spPr>
          <a:xfrm>
            <a:off x="621792" y="3163824"/>
            <a:ext cx="1856231" cy="438912"/>
          </a:xfrm>
          <a:prstGeom prst="rect">
            <a:avLst/>
          </a:prstGeom>
          <a:noFill/>
        </p:spPr>
        <p:txBody>
          <a:bodyPr wrap="square" anchor="t" lIns="45720" rIns="45720" tIns="27432" bIns="27432">
            <a:spAutoFit/>
          </a:bodyPr>
          <a:lstStyle/>
          <a:p>
            <a:pPr algn="ctr"/>
            <a:r>
              <a:rPr sz="830" b="0" i="0">
                <a:solidFill>
                  <a:srgbClr val="E2E8F0"/>
                </a:solidFill>
                <a:latin typeface="Segoe UI"/>
              </a:rPr>
              <a:t>Predicts RUL on
2,735,232 test rows</a:t>
            </a:r>
          </a:p>
        </p:txBody>
      </p:sp>
      <p:sp>
        <p:nvSpPr>
          <p:cNvPr id="53" name="TextBox 52"/>
          <p:cNvSpPr txBox="1"/>
          <p:nvPr/>
        </p:nvSpPr>
        <p:spPr>
          <a:xfrm>
            <a:off x="2542032" y="3017520"/>
            <a:ext cx="274320" cy="274320"/>
          </a:xfrm>
          <a:prstGeom prst="rect">
            <a:avLst/>
          </a:prstGeom>
          <a:noFill/>
        </p:spPr>
        <p:txBody>
          <a:bodyPr wrap="square" anchor="t" lIns="45720" rIns="45720" tIns="27432" bIns="27432">
            <a:spAutoFit/>
          </a:bodyPr>
          <a:lstStyle/>
          <a:p>
            <a:pPr algn="ctr"/>
            <a:r>
              <a:rPr sz="1300" b="1" i="0">
                <a:solidFill>
                  <a:srgbClr val="00D4FF"/>
                </a:solidFill>
                <a:latin typeface="Segoe UI"/>
              </a:rPr>
              <a:t>➔</a:t>
            </a:r>
          </a:p>
        </p:txBody>
      </p:sp>
      <p:sp>
        <p:nvSpPr>
          <p:cNvPr id="54" name="Rounded Rectangle 53"/>
          <p:cNvSpPr/>
          <p:nvPr/>
        </p:nvSpPr>
        <p:spPr>
          <a:xfrm>
            <a:off x="2816352" y="2688336"/>
            <a:ext cx="1965960" cy="960120"/>
          </a:xfrm>
          <a:prstGeom prst="roundRect">
            <a:avLst>
              <a:gd name="adj" fmla="val 2500"/>
            </a:avLst>
          </a:prstGeom>
          <a:solidFill>
            <a:srgbClr val="162440"/>
          </a:solidFill>
          <a:ln w="1651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816352" y="2688336"/>
            <a:ext cx="1965960" cy="21945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871216" y="2697480"/>
            <a:ext cx="1856231" cy="201168"/>
          </a:xfrm>
          <a:prstGeom prst="rect">
            <a:avLst/>
          </a:prstGeom>
          <a:noFill/>
        </p:spPr>
        <p:txBody>
          <a:bodyPr wrap="square" anchor="ctr" lIns="45720" rIns="45720" tIns="27432" bIns="27432">
            <a:spAutoFit/>
          </a:bodyPr>
          <a:lstStyle/>
          <a:p>
            <a:pPr algn="ctr"/>
            <a:r>
              <a:rPr sz="819" b="1" i="0">
                <a:solidFill>
                  <a:srgbClr val="0A1120"/>
                </a:solidFill>
                <a:latin typeface="Segoe UI"/>
              </a:rPr>
              <a:t>Step 7 (ClickHouse)</a:t>
            </a:r>
          </a:p>
        </p:txBody>
      </p:sp>
      <p:sp>
        <p:nvSpPr>
          <p:cNvPr id="57" name="TextBox 56"/>
          <p:cNvSpPr txBox="1"/>
          <p:nvPr/>
        </p:nvSpPr>
        <p:spPr>
          <a:xfrm>
            <a:off x="2871216" y="2926080"/>
            <a:ext cx="1856231" cy="237744"/>
          </a:xfrm>
          <a:prstGeom prst="rect">
            <a:avLst/>
          </a:prstGeom>
          <a:noFill/>
        </p:spPr>
        <p:txBody>
          <a:bodyPr wrap="square" anchor="t" lIns="45720" rIns="45720" tIns="27432" bIns="27432">
            <a:spAutoFit/>
          </a:bodyPr>
          <a:lstStyle/>
          <a:p>
            <a:pPr algn="ctr"/>
            <a:r>
              <a:rPr sz="830" b="1" i="0">
                <a:solidFill>
                  <a:srgbClr val="FFFFFF"/>
                </a:solidFill>
                <a:latin typeface="Consolas"/>
              </a:rPr>
              <a:t>7_load_results_to_clickhouse</a:t>
            </a:r>
          </a:p>
        </p:txBody>
      </p:sp>
      <p:sp>
        <p:nvSpPr>
          <p:cNvPr id="58" name="TextBox 57"/>
          <p:cNvSpPr txBox="1"/>
          <p:nvPr/>
        </p:nvSpPr>
        <p:spPr>
          <a:xfrm>
            <a:off x="2871216" y="3163824"/>
            <a:ext cx="1856231" cy="438912"/>
          </a:xfrm>
          <a:prstGeom prst="rect">
            <a:avLst/>
          </a:prstGeom>
          <a:noFill/>
        </p:spPr>
        <p:txBody>
          <a:bodyPr wrap="square" anchor="t" lIns="45720" rIns="45720" tIns="27432" bIns="27432">
            <a:spAutoFit/>
          </a:bodyPr>
          <a:lstStyle/>
          <a:p>
            <a:pPr algn="ctr"/>
            <a:r>
              <a:rPr sz="830" b="0" i="0">
                <a:solidFill>
                  <a:srgbClr val="E2E8F0"/>
                </a:solidFill>
                <a:latin typeface="Segoe UI"/>
              </a:rPr>
              <a:t>Loads summaries &amp;
50K predictions/run</a:t>
            </a:r>
          </a:p>
        </p:txBody>
      </p:sp>
      <p:sp>
        <p:nvSpPr>
          <p:cNvPr id="59" name="TextBox 58"/>
          <p:cNvSpPr txBox="1"/>
          <p:nvPr/>
        </p:nvSpPr>
        <p:spPr>
          <a:xfrm>
            <a:off x="4791456" y="3017520"/>
            <a:ext cx="274320" cy="274320"/>
          </a:xfrm>
          <a:prstGeom prst="rect">
            <a:avLst/>
          </a:prstGeom>
          <a:noFill/>
        </p:spPr>
        <p:txBody>
          <a:bodyPr wrap="square" anchor="t" lIns="45720" rIns="45720" tIns="27432" bIns="27432">
            <a:spAutoFit/>
          </a:bodyPr>
          <a:lstStyle/>
          <a:p>
            <a:pPr algn="ctr"/>
            <a:r>
              <a:rPr sz="1300" b="1" i="0">
                <a:solidFill>
                  <a:srgbClr val="00D4FF"/>
                </a:solidFill>
                <a:latin typeface="Segoe UI"/>
              </a:rPr>
              <a:t>➔</a:t>
            </a:r>
          </a:p>
        </p:txBody>
      </p:sp>
      <p:sp>
        <p:nvSpPr>
          <p:cNvPr id="60" name="Rounded Rectangle 59"/>
          <p:cNvSpPr/>
          <p:nvPr/>
        </p:nvSpPr>
        <p:spPr>
          <a:xfrm>
            <a:off x="5065776" y="2688336"/>
            <a:ext cx="1965960" cy="960120"/>
          </a:xfrm>
          <a:prstGeom prst="roundRect">
            <a:avLst>
              <a:gd name="adj" fmla="val 2500"/>
            </a:avLst>
          </a:prstGeom>
          <a:solidFill>
            <a:srgbClr val="162440"/>
          </a:solidFill>
          <a:ln w="1651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065776" y="2688336"/>
            <a:ext cx="1965960" cy="21945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120640" y="2697480"/>
            <a:ext cx="1856231" cy="201168"/>
          </a:xfrm>
          <a:prstGeom prst="rect">
            <a:avLst/>
          </a:prstGeom>
          <a:noFill/>
        </p:spPr>
        <p:txBody>
          <a:bodyPr wrap="square" anchor="ctr" lIns="45720" rIns="45720" tIns="27432" bIns="27432">
            <a:spAutoFit/>
          </a:bodyPr>
          <a:lstStyle/>
          <a:p>
            <a:pPr algn="ctr"/>
            <a:r>
              <a:rPr sz="819" b="1" i="0">
                <a:solidFill>
                  <a:srgbClr val="0A1120"/>
                </a:solidFill>
                <a:latin typeface="Segoe UI"/>
              </a:rPr>
              <a:t>Step 8 (Streaming)</a:t>
            </a:r>
          </a:p>
        </p:txBody>
      </p:sp>
      <p:sp>
        <p:nvSpPr>
          <p:cNvPr id="63" name="TextBox 62"/>
          <p:cNvSpPr txBox="1"/>
          <p:nvPr/>
        </p:nvSpPr>
        <p:spPr>
          <a:xfrm>
            <a:off x="5120640" y="2926080"/>
            <a:ext cx="1856231" cy="237744"/>
          </a:xfrm>
          <a:prstGeom prst="rect">
            <a:avLst/>
          </a:prstGeom>
          <a:noFill/>
        </p:spPr>
        <p:txBody>
          <a:bodyPr wrap="square" anchor="t" lIns="45720" rIns="45720" tIns="27432" bIns="27432">
            <a:spAutoFit/>
          </a:bodyPr>
          <a:lstStyle/>
          <a:p>
            <a:pPr algn="ctr"/>
            <a:r>
              <a:rPr sz="830" b="1" i="0">
                <a:solidFill>
                  <a:srgbClr val="FFFFFF"/>
                </a:solidFill>
                <a:latin typeface="Consolas"/>
              </a:rPr>
              <a:t>8_spark_structured_streaming</a:t>
            </a:r>
          </a:p>
        </p:txBody>
      </p:sp>
      <p:sp>
        <p:nvSpPr>
          <p:cNvPr id="64" name="TextBox 63"/>
          <p:cNvSpPr txBox="1"/>
          <p:nvPr/>
        </p:nvSpPr>
        <p:spPr>
          <a:xfrm>
            <a:off x="5120640" y="3163824"/>
            <a:ext cx="1856231" cy="438912"/>
          </a:xfrm>
          <a:prstGeom prst="rect">
            <a:avLst/>
          </a:prstGeom>
          <a:noFill/>
        </p:spPr>
        <p:txBody>
          <a:bodyPr wrap="square" anchor="t" lIns="45720" rIns="45720" tIns="27432" bIns="27432">
            <a:spAutoFit/>
          </a:bodyPr>
          <a:lstStyle/>
          <a:p>
            <a:pPr algn="ctr"/>
            <a:r>
              <a:rPr sz="830" b="0" i="0">
                <a:solidFill>
                  <a:srgbClr val="E2E8F0"/>
                </a:solidFill>
                <a:latin typeface="Segoe UI"/>
              </a:rPr>
              <a:t>Checks/starts Spark
Streaming job</a:t>
            </a:r>
          </a:p>
        </p:txBody>
      </p:sp>
      <p:sp>
        <p:nvSpPr>
          <p:cNvPr id="65" name="TextBox 64"/>
          <p:cNvSpPr txBox="1"/>
          <p:nvPr/>
        </p:nvSpPr>
        <p:spPr>
          <a:xfrm>
            <a:off x="7040880" y="3017520"/>
            <a:ext cx="274320" cy="274320"/>
          </a:xfrm>
          <a:prstGeom prst="rect">
            <a:avLst/>
          </a:prstGeom>
          <a:noFill/>
        </p:spPr>
        <p:txBody>
          <a:bodyPr wrap="square" anchor="t" lIns="45720" rIns="45720" tIns="27432" bIns="27432">
            <a:spAutoFit/>
          </a:bodyPr>
          <a:lstStyle/>
          <a:p>
            <a:pPr algn="ctr"/>
            <a:r>
              <a:rPr sz="1300" b="1" i="0">
                <a:solidFill>
                  <a:srgbClr val="00D4FF"/>
                </a:solidFill>
                <a:latin typeface="Segoe UI"/>
              </a:rPr>
              <a:t>➔</a:t>
            </a:r>
          </a:p>
        </p:txBody>
      </p:sp>
      <p:sp>
        <p:nvSpPr>
          <p:cNvPr id="66" name="Rounded Rectangle 65"/>
          <p:cNvSpPr/>
          <p:nvPr/>
        </p:nvSpPr>
        <p:spPr>
          <a:xfrm>
            <a:off x="7315200" y="2688336"/>
            <a:ext cx="1965960" cy="960120"/>
          </a:xfrm>
          <a:prstGeom prst="roundRect">
            <a:avLst>
              <a:gd name="adj" fmla="val 2500"/>
            </a:avLst>
          </a:prstGeom>
          <a:solidFill>
            <a:srgbClr val="162440"/>
          </a:solidFill>
          <a:ln w="1651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315200" y="2688336"/>
            <a:ext cx="1965960" cy="21945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370064" y="2697480"/>
            <a:ext cx="1856231" cy="201168"/>
          </a:xfrm>
          <a:prstGeom prst="rect">
            <a:avLst/>
          </a:prstGeom>
          <a:noFill/>
        </p:spPr>
        <p:txBody>
          <a:bodyPr wrap="square" anchor="ctr" lIns="45720" rIns="45720" tIns="27432" bIns="27432">
            <a:spAutoFit/>
          </a:bodyPr>
          <a:lstStyle/>
          <a:p>
            <a:pPr algn="ctr"/>
            <a:r>
              <a:rPr sz="819" b="1" i="0">
                <a:solidFill>
                  <a:srgbClr val="0A1120"/>
                </a:solidFill>
                <a:latin typeface="Segoe UI"/>
              </a:rPr>
              <a:t>Step 9 (Kafka)</a:t>
            </a:r>
          </a:p>
        </p:txBody>
      </p:sp>
      <p:sp>
        <p:nvSpPr>
          <p:cNvPr id="69" name="TextBox 68"/>
          <p:cNvSpPr txBox="1"/>
          <p:nvPr/>
        </p:nvSpPr>
        <p:spPr>
          <a:xfrm>
            <a:off x="7370064" y="2926080"/>
            <a:ext cx="1856231" cy="237744"/>
          </a:xfrm>
          <a:prstGeom prst="rect">
            <a:avLst/>
          </a:prstGeom>
          <a:noFill/>
        </p:spPr>
        <p:txBody>
          <a:bodyPr wrap="square" anchor="t" lIns="45720" rIns="45720" tIns="27432" bIns="27432">
            <a:spAutoFit/>
          </a:bodyPr>
          <a:lstStyle/>
          <a:p>
            <a:pPr algn="ctr"/>
            <a:r>
              <a:rPr sz="830" b="1" i="0">
                <a:solidFill>
                  <a:srgbClr val="FFFFFF"/>
                </a:solidFill>
                <a:latin typeface="Consolas"/>
              </a:rPr>
              <a:t>9_kafka_producer</a:t>
            </a:r>
          </a:p>
        </p:txBody>
      </p:sp>
      <p:sp>
        <p:nvSpPr>
          <p:cNvPr id="70" name="TextBox 69"/>
          <p:cNvSpPr txBox="1"/>
          <p:nvPr/>
        </p:nvSpPr>
        <p:spPr>
          <a:xfrm>
            <a:off x="7370064" y="3163824"/>
            <a:ext cx="1856231" cy="438912"/>
          </a:xfrm>
          <a:prstGeom prst="rect">
            <a:avLst/>
          </a:prstGeom>
          <a:noFill/>
        </p:spPr>
        <p:txBody>
          <a:bodyPr wrap="square" anchor="t" lIns="45720" rIns="45720" tIns="27432" bIns="27432">
            <a:spAutoFit/>
          </a:bodyPr>
          <a:lstStyle/>
          <a:p>
            <a:pPr algn="ctr"/>
            <a:r>
              <a:rPr sz="830" b="0" i="0">
                <a:solidFill>
                  <a:srgbClr val="E2E8F0"/>
                </a:solidFill>
                <a:latin typeface="Segoe UI"/>
              </a:rPr>
              <a:t>Sends 1,000 sample
messages @ 200/sec</a:t>
            </a:r>
          </a:p>
        </p:txBody>
      </p:sp>
      <p:sp>
        <p:nvSpPr>
          <p:cNvPr id="71" name="TextBox 70"/>
          <p:cNvSpPr txBox="1"/>
          <p:nvPr/>
        </p:nvSpPr>
        <p:spPr>
          <a:xfrm>
            <a:off x="9290304" y="3017520"/>
            <a:ext cx="274320" cy="274320"/>
          </a:xfrm>
          <a:prstGeom prst="rect">
            <a:avLst/>
          </a:prstGeom>
          <a:noFill/>
        </p:spPr>
        <p:txBody>
          <a:bodyPr wrap="square" anchor="t" lIns="45720" rIns="45720" tIns="27432" bIns="27432">
            <a:spAutoFit/>
          </a:bodyPr>
          <a:lstStyle/>
          <a:p>
            <a:pPr algn="ctr"/>
            <a:r>
              <a:rPr sz="1300" b="1" i="0">
                <a:solidFill>
                  <a:srgbClr val="00D4FF"/>
                </a:solidFill>
                <a:latin typeface="Segoe UI"/>
              </a:rPr>
              <a:t>➔</a:t>
            </a:r>
          </a:p>
        </p:txBody>
      </p:sp>
      <p:sp>
        <p:nvSpPr>
          <p:cNvPr id="72" name="Rounded Rectangle 71"/>
          <p:cNvSpPr/>
          <p:nvPr/>
        </p:nvSpPr>
        <p:spPr>
          <a:xfrm>
            <a:off x="9564624" y="2688336"/>
            <a:ext cx="1965960" cy="960120"/>
          </a:xfrm>
          <a:prstGeom prst="roundRect">
            <a:avLst>
              <a:gd name="adj" fmla="val 2500"/>
            </a:avLst>
          </a:prstGeom>
          <a:solidFill>
            <a:srgbClr val="162440"/>
          </a:solidFill>
          <a:ln w="1651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9564624" y="2688336"/>
            <a:ext cx="1965960" cy="21945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619488" y="2697480"/>
            <a:ext cx="1856231" cy="201168"/>
          </a:xfrm>
          <a:prstGeom prst="rect">
            <a:avLst/>
          </a:prstGeom>
          <a:noFill/>
        </p:spPr>
        <p:txBody>
          <a:bodyPr wrap="square" anchor="ctr" lIns="45720" rIns="45720" tIns="27432" bIns="27432">
            <a:spAutoFit/>
          </a:bodyPr>
          <a:lstStyle/>
          <a:p>
            <a:pPr algn="ctr"/>
            <a:r>
              <a:rPr sz="819" b="1" i="0">
                <a:solidFill>
                  <a:srgbClr val="0A1120"/>
                </a:solidFill>
                <a:latin typeface="Segoe UI"/>
              </a:rPr>
              <a:t>Step 10 (Verify)</a:t>
            </a:r>
          </a:p>
        </p:txBody>
      </p:sp>
      <p:sp>
        <p:nvSpPr>
          <p:cNvPr id="75" name="TextBox 74"/>
          <p:cNvSpPr txBox="1"/>
          <p:nvPr/>
        </p:nvSpPr>
        <p:spPr>
          <a:xfrm>
            <a:off x="9619488" y="2926080"/>
            <a:ext cx="1856231" cy="237744"/>
          </a:xfrm>
          <a:prstGeom prst="rect">
            <a:avLst/>
          </a:prstGeom>
          <a:noFill/>
        </p:spPr>
        <p:txBody>
          <a:bodyPr wrap="square" anchor="t" lIns="45720" rIns="45720" tIns="27432" bIns="27432">
            <a:spAutoFit/>
          </a:bodyPr>
          <a:lstStyle/>
          <a:p>
            <a:pPr algn="ctr"/>
            <a:r>
              <a:rPr sz="830" b="1" i="0">
                <a:solidFill>
                  <a:srgbClr val="FFFFFF"/>
                </a:solidFill>
                <a:latin typeface="Consolas"/>
              </a:rPr>
              <a:t>10_clickhouse_verification</a:t>
            </a:r>
          </a:p>
        </p:txBody>
      </p:sp>
      <p:sp>
        <p:nvSpPr>
          <p:cNvPr id="76" name="TextBox 75"/>
          <p:cNvSpPr txBox="1"/>
          <p:nvPr/>
        </p:nvSpPr>
        <p:spPr>
          <a:xfrm>
            <a:off x="9619488" y="3163824"/>
            <a:ext cx="1856231" cy="438912"/>
          </a:xfrm>
          <a:prstGeom prst="rect">
            <a:avLst/>
          </a:prstGeom>
          <a:noFill/>
        </p:spPr>
        <p:txBody>
          <a:bodyPr wrap="square" anchor="t" lIns="45720" rIns="45720" tIns="27432" bIns="27432">
            <a:spAutoFit/>
          </a:bodyPr>
          <a:lstStyle/>
          <a:p>
            <a:pPr algn="ctr"/>
            <a:r>
              <a:rPr sz="830" b="0" i="0">
                <a:solidFill>
                  <a:srgbClr val="E2E8F0"/>
                </a:solidFill>
                <a:latin typeface="Segoe UI"/>
              </a:rPr>
              <a:t>Checks stream count
in ClickHouse (57 rows)</a:t>
            </a:r>
          </a:p>
        </p:txBody>
      </p:sp>
      <p:sp>
        <p:nvSpPr>
          <p:cNvPr id="77" name="Rounded Rectangle 76"/>
          <p:cNvSpPr/>
          <p:nvPr/>
        </p:nvSpPr>
        <p:spPr>
          <a:xfrm>
            <a:off x="384048" y="3913632"/>
            <a:ext cx="5577840" cy="2450592"/>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384048" y="3913632"/>
            <a:ext cx="557784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384048" y="3968496"/>
            <a:ext cx="5577840"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12064" y="3986784"/>
            <a:ext cx="5321807" cy="292608"/>
          </a:xfrm>
          <a:prstGeom prst="rect">
            <a:avLst/>
          </a:prstGeom>
          <a:noFill/>
        </p:spPr>
        <p:txBody>
          <a:bodyPr wrap="square" anchor="ctr" lIns="45720" rIns="45720" tIns="27432" bIns="27432">
            <a:spAutoFit/>
          </a:bodyPr>
          <a:lstStyle/>
          <a:p>
            <a:pPr algn="l"/>
            <a:r>
              <a:rPr sz="1150" b="1" i="0">
                <a:solidFill>
                  <a:srgbClr val="FFFFFF"/>
                </a:solidFill>
                <a:latin typeface="Segoe UI"/>
              </a:rPr>
              <a:t>WHY WE USED APACHE AIRFLOW</a:t>
            </a:r>
          </a:p>
        </p:txBody>
      </p:sp>
      <p:sp>
        <p:nvSpPr>
          <p:cNvPr id="81" name="TextBox 80"/>
          <p:cNvSpPr txBox="1"/>
          <p:nvPr/>
        </p:nvSpPr>
        <p:spPr>
          <a:xfrm>
            <a:off x="493776" y="4352544"/>
            <a:ext cx="5358384" cy="1920240"/>
          </a:xfrm>
          <a:prstGeom prst="rect">
            <a:avLst/>
          </a:prstGeom>
          <a:noFill/>
        </p:spPr>
        <p:txBody>
          <a:bodyPr wrap="square" lIns="54864" rIns="54864" tIns="36576" bIns="36576">
            <a:spAutoFit/>
          </a:bodyPr>
          <a:lstStyle/>
          <a:p>
            <a:pPr algn="l">
              <a:spcAft>
                <a:spcPts val="450"/>
              </a:spcAft>
            </a:pPr>
            <a:r>
              <a:rPr sz="1019" b="1">
                <a:solidFill>
                  <a:srgbClr val="3B82F6"/>
                </a:solidFill>
                <a:latin typeface="Segoe UI"/>
              </a:rPr>
              <a:t>▸ </a:t>
            </a:r>
            <a:r>
              <a:rPr sz="1019" b="1">
                <a:solidFill>
                  <a:srgbClr val="FFFFFF"/>
                </a:solidFill>
                <a:latin typeface="Segoe UI"/>
              </a:rPr>
              <a:t>Runs Steps in Strict Order: </a:t>
            </a:r>
            <a:r>
              <a:rPr sz="980" b="0">
                <a:solidFill>
                  <a:srgbClr val="E2E8F0"/>
                </a:solidFill>
                <a:latin typeface="Segoe UI"/>
              </a:rPr>
              <a:t>Spark ML training will never start unless raw data validation and HDFS upload finish first (`Task 1 &gt;&gt; Task 2 &gt;&gt; ... &gt;&gt; Task 10`).</a:t>
            </a:r>
          </a:p>
          <a:p>
            <a:pPr algn="l">
              <a:spcAft>
                <a:spcPts val="450"/>
              </a:spcAft>
            </a:pPr>
            <a:r>
              <a:rPr sz="1019" b="1">
                <a:solidFill>
                  <a:srgbClr val="3B82F6"/>
                </a:solidFill>
                <a:latin typeface="Segoe UI"/>
              </a:rPr>
              <a:t>▸ </a:t>
            </a:r>
            <a:r>
              <a:rPr sz="1019" b="1">
                <a:solidFill>
                  <a:srgbClr val="FFFFFF"/>
                </a:solidFill>
                <a:latin typeface="Segoe UI"/>
              </a:rPr>
              <a:t>Automatic Retries: </a:t>
            </a:r>
            <a:r>
              <a:rPr sz="980" b="0">
                <a:solidFill>
                  <a:srgbClr val="E2E8F0"/>
                </a:solidFill>
                <a:latin typeface="Segoe UI"/>
              </a:rPr>
              <a:t>If a container is busy, Airflow waits 3 minutes and retries automatically (for example, Step 4 recovered and succeeded on retry).</a:t>
            </a:r>
          </a:p>
          <a:p>
            <a:pPr algn="l">
              <a:spcAft>
                <a:spcPts val="450"/>
              </a:spcAft>
            </a:pPr>
            <a:r>
              <a:rPr sz="1019" b="1">
                <a:solidFill>
                  <a:srgbClr val="3B82F6"/>
                </a:solidFill>
                <a:latin typeface="Segoe UI"/>
              </a:rPr>
              <a:t>▸ </a:t>
            </a:r>
            <a:r>
              <a:rPr sz="1019" b="1">
                <a:solidFill>
                  <a:srgbClr val="FFFFFF"/>
                </a:solidFill>
                <a:latin typeface="Segoe UI"/>
              </a:rPr>
              <a:t>Non-Blocking Stream Test: </a:t>
            </a:r>
            <a:r>
              <a:rPr sz="980" b="0">
                <a:solidFill>
                  <a:srgbClr val="E2E8F0"/>
                </a:solidFill>
                <a:latin typeface="Segoe UI"/>
              </a:rPr>
              <a:t>Step 8 starts Spark Streaming in the background, and Step 9 sends 1,000 Kafka messages (`--no-loop --limit 1000`) so the pipeline finishes cleanly.</a:t>
            </a:r>
          </a:p>
        </p:txBody>
      </p:sp>
      <p:sp>
        <p:nvSpPr>
          <p:cNvPr id="82" name="Rounded Rectangle 81"/>
          <p:cNvSpPr/>
          <p:nvPr/>
        </p:nvSpPr>
        <p:spPr>
          <a:xfrm>
            <a:off x="6126480" y="3913632"/>
            <a:ext cx="5678424" cy="2450592"/>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126480" y="3913632"/>
            <a:ext cx="5678424"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6126480" y="3968496"/>
            <a:ext cx="5678424"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254496" y="3986784"/>
            <a:ext cx="5422392" cy="292608"/>
          </a:xfrm>
          <a:prstGeom prst="rect">
            <a:avLst/>
          </a:prstGeom>
          <a:noFill/>
        </p:spPr>
        <p:txBody>
          <a:bodyPr wrap="square" anchor="ctr" lIns="45720" rIns="45720" tIns="27432" bIns="27432">
            <a:spAutoFit/>
          </a:bodyPr>
          <a:lstStyle/>
          <a:p>
            <a:pPr algn="l"/>
            <a:r>
              <a:rPr sz="1150" b="1" i="0">
                <a:solidFill>
                  <a:srgbClr val="FFFFFF"/>
                </a:solidFill>
                <a:latin typeface="Segoe UI"/>
              </a:rPr>
              <a:t>VERIFIED RESULTS FROM AIRFLOW LOGS</a:t>
            </a:r>
          </a:p>
        </p:txBody>
      </p:sp>
      <p:sp>
        <p:nvSpPr>
          <p:cNvPr id="86" name="TextBox 85"/>
          <p:cNvSpPr txBox="1"/>
          <p:nvPr/>
        </p:nvSpPr>
        <p:spPr>
          <a:xfrm>
            <a:off x="6236208" y="4352544"/>
            <a:ext cx="5449824" cy="1920240"/>
          </a:xfrm>
          <a:prstGeom prst="rect">
            <a:avLst/>
          </a:prstGeom>
          <a:noFill/>
        </p:spPr>
        <p:txBody>
          <a:bodyPr wrap="square" lIns="54864" rIns="54864" tIns="36576" bIns="36576">
            <a:spAutoFit/>
          </a:bodyPr>
          <a:lstStyle/>
          <a:p>
            <a:pPr algn="l">
              <a:spcAft>
                <a:spcPts val="450"/>
              </a:spcAft>
            </a:pPr>
            <a:r>
              <a:rPr sz="1019" b="1">
                <a:solidFill>
                  <a:srgbClr val="10B981"/>
                </a:solidFill>
                <a:latin typeface="Segoe UI"/>
              </a:rPr>
              <a:t>▸ </a:t>
            </a:r>
            <a:r>
              <a:rPr sz="1019" b="1">
                <a:solidFill>
                  <a:srgbClr val="FFFFFF"/>
                </a:solidFill>
                <a:latin typeface="Segoe UI"/>
              </a:rPr>
              <a:t>16 Pipeline Runs Logged: </a:t>
            </a:r>
            <a:r>
              <a:rPr sz="980" b="0">
                <a:solidFill>
                  <a:srgbClr val="E2E8F0"/>
                </a:solidFill>
                <a:latin typeface="Segoe UI"/>
              </a:rPr>
              <a:t>Recorded between Oct 20 and Oct 23, 2026, stored in PostgreSQL.</a:t>
            </a:r>
          </a:p>
          <a:p>
            <a:pPr algn="l">
              <a:spcAft>
                <a:spcPts val="450"/>
              </a:spcAft>
            </a:pPr>
            <a:r>
              <a:rPr sz="1019" b="1">
                <a:solidFill>
                  <a:srgbClr val="10B981"/>
                </a:solidFill>
                <a:latin typeface="Segoe UI"/>
              </a:rPr>
              <a:t>▸ </a:t>
            </a:r>
            <a:r>
              <a:rPr sz="1019" b="1">
                <a:solidFill>
                  <a:srgbClr val="FFFFFF"/>
                </a:solidFill>
                <a:latin typeface="Segoe UI"/>
              </a:rPr>
              <a:t>Full 10/10 Success Verified: </a:t>
            </a:r>
            <a:r>
              <a:rPr sz="980" b="0">
                <a:solidFill>
                  <a:srgbClr val="E2E8F0"/>
                </a:solidFill>
                <a:latin typeface="Segoe UI"/>
              </a:rPr>
              <a:t>Multiple runs completed all 10 steps 100%, with Step 10 returning `57` streaming rows from ClickHouse.</a:t>
            </a:r>
          </a:p>
          <a:p>
            <a:pPr algn="l">
              <a:spcAft>
                <a:spcPts val="450"/>
              </a:spcAft>
            </a:pPr>
            <a:r>
              <a:rPr sz="1019" b="1">
                <a:solidFill>
                  <a:srgbClr val="10B981"/>
                </a:solidFill>
                <a:latin typeface="Segoe UI"/>
              </a:rPr>
              <a:t>▸ </a:t>
            </a:r>
            <a:r>
              <a:rPr sz="1019" b="1">
                <a:solidFill>
                  <a:srgbClr val="FFFFFF"/>
                </a:solidFill>
                <a:latin typeface="Segoe UI"/>
              </a:rPr>
              <a:t>Honest Note on Latest Run (Oct 23): </a:t>
            </a:r>
            <a:r>
              <a:rPr sz="980" b="0">
                <a:solidFill>
                  <a:srgbClr val="E2E8F0"/>
                </a:solidFill>
                <a:latin typeface="Segoe UI"/>
              </a:rPr>
              <a:t>Steps 1 to 9 succeeded completely. Step 10 failed (`exit code 125`) only because its command looked for network `aircraft_bigdata_swarm` while Docker Compose used `compose_default`.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12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877824"/>
          </a:xfrm>
          <a:prstGeom prst="rect">
            <a:avLst/>
          </a:prstGeom>
          <a:solidFill>
            <a:srgbClr val="0D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13716"/>
          </a:xfrm>
          <a:prstGeom prst="rect">
            <a:avLst/>
          </a:prstGeom>
          <a:solidFill>
            <a:srgbClr val="233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5448"/>
            <a:ext cx="2103120" cy="219456"/>
          </a:xfrm>
          <a:prstGeom prst="roundRect">
            <a:avLst>
              <a:gd name="adj" fmla="val 2500"/>
            </a:avLst>
          </a:prstGeom>
          <a:solidFill>
            <a:srgbClr val="162440"/>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55448"/>
            <a:ext cx="2103120" cy="219456"/>
          </a:xfrm>
          <a:prstGeom prst="rect">
            <a:avLst/>
          </a:prstGeom>
          <a:noFill/>
        </p:spPr>
        <p:txBody>
          <a:bodyPr wrap="square" anchor="ctr" lIns="45720" rIns="45720" tIns="27432" bIns="27432">
            <a:spAutoFit/>
          </a:bodyPr>
          <a:lstStyle/>
          <a:p>
            <a:pPr algn="ctr"/>
            <a:r>
              <a:rPr sz="850" b="1" i="0">
                <a:solidFill>
                  <a:srgbClr val="00D4FF"/>
                </a:solidFill>
                <a:latin typeface="Segoe UI"/>
              </a:rPr>
              <a:t>8. MACHINE LEARNING</a:t>
            </a:r>
          </a:p>
        </p:txBody>
      </p:sp>
      <p:sp>
        <p:nvSpPr>
          <p:cNvPr id="7" name="TextBox 6"/>
          <p:cNvSpPr txBox="1"/>
          <p:nvPr/>
        </p:nvSpPr>
        <p:spPr>
          <a:xfrm>
            <a:off x="384048" y="384048"/>
            <a:ext cx="9875520" cy="329184"/>
          </a:xfrm>
          <a:prstGeom prst="rect">
            <a:avLst/>
          </a:prstGeom>
          <a:noFill/>
        </p:spPr>
        <p:txBody>
          <a:bodyPr wrap="square" anchor="t" lIns="45720" rIns="45720" tIns="27432" bIns="27432">
            <a:spAutoFit/>
          </a:bodyPr>
          <a:lstStyle/>
          <a:p>
            <a:pPr algn="l"/>
            <a:r>
              <a:rPr sz="2000" b="1" i="0">
                <a:solidFill>
                  <a:srgbClr val="FFFFFF"/>
                </a:solidFill>
                <a:latin typeface="Segoe UI"/>
              </a:rPr>
              <a:t>Machine Learning &amp; RUL Prediction: Spark MLlib Benchmark</a:t>
            </a:r>
          </a:p>
        </p:txBody>
      </p:sp>
      <p:sp>
        <p:nvSpPr>
          <p:cNvPr id="8" name="TextBox 7"/>
          <p:cNvSpPr txBox="1"/>
          <p:nvPr/>
        </p:nvSpPr>
        <p:spPr>
          <a:xfrm>
            <a:off x="384048" y="685800"/>
            <a:ext cx="10515600" cy="219456"/>
          </a:xfrm>
          <a:prstGeom prst="rect">
            <a:avLst/>
          </a:prstGeom>
          <a:noFill/>
        </p:spPr>
        <p:txBody>
          <a:bodyPr wrap="square" anchor="t" lIns="45720" rIns="45720" tIns="27432" bIns="27432">
            <a:spAutoFit/>
          </a:bodyPr>
          <a:lstStyle/>
          <a:p>
            <a:pPr algn="l"/>
            <a:r>
              <a:rPr sz="1100" b="0" i="0">
                <a:solidFill>
                  <a:srgbClr val="94A3B8"/>
                </a:solidFill>
                <a:latin typeface="Segoe UI"/>
              </a:rPr>
              <a:t>How we trained, compared, and evaluated our RUL prediction models on real NASA data</a:t>
            </a:r>
          </a:p>
        </p:txBody>
      </p:sp>
      <p:sp>
        <p:nvSpPr>
          <p:cNvPr id="9" name="Rounded Rectangle 8"/>
          <p:cNvSpPr/>
          <p:nvPr/>
        </p:nvSpPr>
        <p:spPr>
          <a:xfrm>
            <a:off x="11109960" y="219456"/>
            <a:ext cx="685800" cy="384048"/>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09960" y="219456"/>
            <a:ext cx="685800" cy="384048"/>
          </a:xfrm>
          <a:prstGeom prst="rect">
            <a:avLst/>
          </a:prstGeom>
          <a:noFill/>
        </p:spPr>
        <p:txBody>
          <a:bodyPr wrap="square" anchor="ctr" lIns="45720" rIns="45720" tIns="27432" bIns="27432">
            <a:spAutoFit/>
          </a:bodyPr>
          <a:lstStyle/>
          <a:p>
            <a:pPr algn="ctr"/>
            <a:r>
              <a:rPr sz="1000" b="1" i="0">
                <a:solidFill>
                  <a:srgbClr val="00D4FF"/>
                </a:solidFill>
                <a:latin typeface="Segoe UI"/>
              </a:rPr>
              <a:t>09 / 12</a:t>
            </a:r>
          </a:p>
        </p:txBody>
      </p:sp>
      <p:sp>
        <p:nvSpPr>
          <p:cNvPr id="11" name="Rectangle 10"/>
          <p:cNvSpPr/>
          <p:nvPr/>
        </p:nvSpPr>
        <p:spPr>
          <a:xfrm>
            <a:off x="0" y="6510528"/>
            <a:ext cx="12191695" cy="347472"/>
          </a:xfrm>
          <a:prstGeom prst="rect">
            <a:avLst/>
          </a:prstGeom>
          <a:solidFill>
            <a:srgbClr val="0D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501384"/>
            <a:ext cx="12191695" cy="9144"/>
          </a:xfrm>
          <a:prstGeom prst="rect">
            <a:avLst/>
          </a:prstGeom>
          <a:solidFill>
            <a:srgbClr val="233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6547104"/>
            <a:ext cx="8046720" cy="237744"/>
          </a:xfrm>
          <a:prstGeom prst="rect">
            <a:avLst/>
          </a:prstGeom>
          <a:noFill/>
        </p:spPr>
        <p:txBody>
          <a:bodyPr wrap="square" anchor="t" lIns="45720" rIns="45720" tIns="27432" bIns="27432">
            <a:spAutoFit/>
          </a:bodyPr>
          <a:lstStyle/>
          <a:p>
            <a:pPr algn="l"/>
            <a:r>
              <a:rPr sz="850" b="0" i="0">
                <a:solidFill>
                  <a:srgbClr val="94A3B8"/>
                </a:solidFill>
                <a:latin typeface="Segoe UI"/>
              </a:rPr>
              <a:t>Source: NASA N-CMAPSS Dataset &amp; Verified Project Pipeline Logs</a:t>
            </a:r>
          </a:p>
        </p:txBody>
      </p:sp>
      <p:sp>
        <p:nvSpPr>
          <p:cNvPr id="14" name="TextBox 13"/>
          <p:cNvSpPr txBox="1"/>
          <p:nvPr/>
        </p:nvSpPr>
        <p:spPr>
          <a:xfrm>
            <a:off x="8503920" y="6547104"/>
            <a:ext cx="3291840" cy="237744"/>
          </a:xfrm>
          <a:prstGeom prst="rect">
            <a:avLst/>
          </a:prstGeom>
          <a:noFill/>
        </p:spPr>
        <p:txBody>
          <a:bodyPr wrap="square" anchor="t" lIns="45720" rIns="45720" tIns="27432" bIns="27432">
            <a:spAutoFit/>
          </a:bodyPr>
          <a:lstStyle/>
          <a:p>
            <a:pPr algn="r"/>
            <a:r>
              <a:rPr sz="850" b="0" i="0">
                <a:solidFill>
                  <a:srgbClr val="94A3B8"/>
                </a:solidFill>
                <a:latin typeface="Segoe UI"/>
              </a:rPr>
              <a:t>Aircraft Engine Predictive Maintenance | Big Data Project</a:t>
            </a:r>
          </a:p>
        </p:txBody>
      </p:sp>
      <p:sp>
        <p:nvSpPr>
          <p:cNvPr id="15" name="Rounded Rectangle 14"/>
          <p:cNvSpPr/>
          <p:nvPr/>
        </p:nvSpPr>
        <p:spPr>
          <a:xfrm>
            <a:off x="384048" y="1078992"/>
            <a:ext cx="4983480" cy="2560320"/>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4048" y="1078992"/>
            <a:ext cx="4983480"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4048" y="1133856"/>
            <a:ext cx="4983480"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2064" y="1152144"/>
            <a:ext cx="4727448" cy="292608"/>
          </a:xfrm>
          <a:prstGeom prst="rect">
            <a:avLst/>
          </a:prstGeom>
          <a:noFill/>
        </p:spPr>
        <p:txBody>
          <a:bodyPr wrap="square" anchor="ctr" lIns="45720" rIns="45720" tIns="27432" bIns="27432">
            <a:spAutoFit/>
          </a:bodyPr>
          <a:lstStyle/>
          <a:p>
            <a:pPr algn="l"/>
            <a:r>
              <a:rPr sz="1150" b="1" i="0">
                <a:solidFill>
                  <a:srgbClr val="FFFFFF"/>
                </a:solidFill>
                <a:latin typeface="Segoe UI"/>
              </a:rPr>
              <a:t>1. HOW WE TRAINED THE MODELS (`ml_train.py`)</a:t>
            </a:r>
          </a:p>
        </p:txBody>
      </p:sp>
      <p:sp>
        <p:nvSpPr>
          <p:cNvPr id="19" name="TextBox 18"/>
          <p:cNvSpPr txBox="1"/>
          <p:nvPr/>
        </p:nvSpPr>
        <p:spPr>
          <a:xfrm>
            <a:off x="493776" y="1517904"/>
            <a:ext cx="4754880" cy="2057400"/>
          </a:xfrm>
          <a:prstGeom prst="rect">
            <a:avLst/>
          </a:prstGeom>
          <a:noFill/>
        </p:spPr>
        <p:txBody>
          <a:bodyPr wrap="square" lIns="54864" rIns="54864" tIns="36576" bIns="36576">
            <a:spAutoFit/>
          </a:bodyPr>
          <a:lstStyle/>
          <a:p>
            <a:pPr algn="l">
              <a:spcAft>
                <a:spcPts val="350"/>
              </a:spcAft>
            </a:pPr>
            <a:r>
              <a:rPr sz="980" b="1">
                <a:solidFill>
                  <a:srgbClr val="00D4FF"/>
                </a:solidFill>
                <a:latin typeface="Segoe UI"/>
              </a:rPr>
              <a:t>▸ </a:t>
            </a:r>
            <a:r>
              <a:rPr sz="980" b="1">
                <a:solidFill>
                  <a:srgbClr val="FFFFFF"/>
                </a:solidFill>
                <a:latin typeface="Segoe UI"/>
              </a:rPr>
              <a:t>Target to Predict (`rul`): </a:t>
            </a:r>
            <a:r>
              <a:rPr sz="919" b="0">
                <a:solidFill>
                  <a:srgbClr val="E2E8F0"/>
                </a:solidFill>
                <a:latin typeface="Segoe UI"/>
              </a:rPr>
              <a:t>True Remaining Useful Life (0 to 99 cycles across 4.91M rows in DS01-005).</a:t>
            </a:r>
          </a:p>
          <a:p>
            <a:pPr algn="l">
              <a:spcAft>
                <a:spcPts val="350"/>
              </a:spcAft>
            </a:pPr>
            <a:r>
              <a:rPr sz="980" b="1">
                <a:solidFill>
                  <a:srgbClr val="00D4FF"/>
                </a:solidFill>
                <a:latin typeface="Segoe UI"/>
              </a:rPr>
              <a:t>▸ </a:t>
            </a:r>
            <a:r>
              <a:rPr sz="980" b="1">
                <a:solidFill>
                  <a:srgbClr val="FFFFFF"/>
                </a:solidFill>
                <a:latin typeface="Segoe UI"/>
              </a:rPr>
              <a:t>44 Input Features: </a:t>
            </a:r>
            <a:r>
              <a:rPr sz="919" b="0">
                <a:solidFill>
                  <a:srgbClr val="E2E8F0"/>
                </a:solidFill>
                <a:latin typeface="Segoe UI"/>
              </a:rPr>
              <a:t>Uses all 44 numeric sensor and flight condition columns (`VectorAssembler` + `StandardScaler`). Excludes ID columns (`unit`, `cycle`, `rul`).</a:t>
            </a:r>
          </a:p>
          <a:p>
            <a:pPr algn="l">
              <a:spcAft>
                <a:spcPts val="350"/>
              </a:spcAft>
            </a:pPr>
            <a:r>
              <a:rPr sz="980" b="1">
                <a:solidFill>
                  <a:srgbClr val="00D4FF"/>
                </a:solidFill>
                <a:latin typeface="Segoe UI"/>
              </a:rPr>
              <a:t>▸ </a:t>
            </a:r>
            <a:r>
              <a:rPr sz="980" b="1">
                <a:solidFill>
                  <a:srgbClr val="FFFFFF"/>
                </a:solidFill>
                <a:latin typeface="Segoe UI"/>
              </a:rPr>
              <a:t>No Data Leakage (Split by Engine ID): </a:t>
            </a:r>
            <a:r>
              <a:rPr sz="919" b="0">
                <a:solidFill>
                  <a:srgbClr val="E2E8F0"/>
                </a:solidFill>
                <a:latin typeface="Segoe UI"/>
              </a:rPr>
              <a:t>We split data by engine `unit` so the same engine is NEVER in both Train and Test:
• Train Engines `[2, 3, 4, 5]`: 363,672 rows (10% sample)
• Validation Engine `[1]`: 433,325 rows
• Unseen Test Engine `[6]`: 836,850 rows</a:t>
            </a:r>
          </a:p>
        </p:txBody>
      </p:sp>
      <p:sp>
        <p:nvSpPr>
          <p:cNvPr id="20" name="Rounded Rectangle 19"/>
          <p:cNvSpPr/>
          <p:nvPr/>
        </p:nvSpPr>
        <p:spPr>
          <a:xfrm>
            <a:off x="384048" y="3749039"/>
            <a:ext cx="4983480" cy="2615184"/>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84048" y="3749039"/>
            <a:ext cx="498348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84048" y="3803903"/>
            <a:ext cx="4983480"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2064" y="3822191"/>
            <a:ext cx="4727448" cy="292608"/>
          </a:xfrm>
          <a:prstGeom prst="rect">
            <a:avLst/>
          </a:prstGeom>
          <a:noFill/>
        </p:spPr>
        <p:txBody>
          <a:bodyPr wrap="square" anchor="ctr" lIns="45720" rIns="45720" tIns="27432" bIns="27432">
            <a:spAutoFit/>
          </a:bodyPr>
          <a:lstStyle/>
          <a:p>
            <a:pPr algn="l"/>
            <a:r>
              <a:rPr sz="1150" b="1" i="0">
                <a:solidFill>
                  <a:srgbClr val="FFFFFF"/>
                </a:solidFill>
                <a:latin typeface="Segoe UI"/>
              </a:rPr>
              <a:t>2. VERIFIED MODEL ACCURACY TABLE</a:t>
            </a:r>
          </a:p>
        </p:txBody>
      </p:sp>
      <p:sp>
        <p:nvSpPr>
          <p:cNvPr id="24" name="Rectangle 23"/>
          <p:cNvSpPr/>
          <p:nvPr/>
        </p:nvSpPr>
        <p:spPr>
          <a:xfrm>
            <a:off x="493776" y="4187952"/>
            <a:ext cx="4754880" cy="274320"/>
          </a:xfrm>
          <a:prstGeom prst="rect">
            <a:avLst/>
          </a:prstGeom>
          <a:solidFill>
            <a:srgbClr val="0D172A"/>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2064" y="4206240"/>
            <a:ext cx="1874519" cy="237744"/>
          </a:xfrm>
          <a:prstGeom prst="rect">
            <a:avLst/>
          </a:prstGeom>
          <a:noFill/>
        </p:spPr>
        <p:txBody>
          <a:bodyPr wrap="square" anchor="ctr" lIns="45720" rIns="45720" tIns="27432" bIns="27432">
            <a:spAutoFit/>
          </a:bodyPr>
          <a:lstStyle/>
          <a:p>
            <a:pPr algn="l"/>
            <a:r>
              <a:rPr sz="850" b="1" i="0">
                <a:solidFill>
                  <a:srgbClr val="00D4FF"/>
                </a:solidFill>
                <a:latin typeface="Segoe UI"/>
              </a:rPr>
              <a:t>MODEL / DATASET</a:t>
            </a:r>
          </a:p>
        </p:txBody>
      </p:sp>
      <p:sp>
        <p:nvSpPr>
          <p:cNvPr id="26" name="TextBox 25"/>
          <p:cNvSpPr txBox="1"/>
          <p:nvPr/>
        </p:nvSpPr>
        <p:spPr>
          <a:xfrm>
            <a:off x="2386584" y="4206240"/>
            <a:ext cx="868680" cy="237744"/>
          </a:xfrm>
          <a:prstGeom prst="rect">
            <a:avLst/>
          </a:prstGeom>
          <a:noFill/>
        </p:spPr>
        <p:txBody>
          <a:bodyPr wrap="square" anchor="ctr" lIns="45720" rIns="45720" tIns="27432" bIns="27432">
            <a:spAutoFit/>
          </a:bodyPr>
          <a:lstStyle/>
          <a:p>
            <a:pPr algn="l"/>
            <a:r>
              <a:rPr sz="850" b="1" i="0">
                <a:solidFill>
                  <a:srgbClr val="00D4FF"/>
                </a:solidFill>
                <a:latin typeface="Segoe UI"/>
              </a:rPr>
              <a:t>RMSE</a:t>
            </a:r>
          </a:p>
        </p:txBody>
      </p:sp>
      <p:sp>
        <p:nvSpPr>
          <p:cNvPr id="27" name="TextBox 26"/>
          <p:cNvSpPr txBox="1"/>
          <p:nvPr/>
        </p:nvSpPr>
        <p:spPr>
          <a:xfrm>
            <a:off x="3255263" y="4206240"/>
            <a:ext cx="868680" cy="237744"/>
          </a:xfrm>
          <a:prstGeom prst="rect">
            <a:avLst/>
          </a:prstGeom>
          <a:noFill/>
        </p:spPr>
        <p:txBody>
          <a:bodyPr wrap="square" anchor="ctr" lIns="45720" rIns="45720" tIns="27432" bIns="27432">
            <a:spAutoFit/>
          </a:bodyPr>
          <a:lstStyle/>
          <a:p>
            <a:pPr algn="l"/>
            <a:r>
              <a:rPr sz="850" b="1" i="0">
                <a:solidFill>
                  <a:srgbClr val="00D4FF"/>
                </a:solidFill>
                <a:latin typeface="Segoe UI"/>
              </a:rPr>
              <a:t>MAE</a:t>
            </a:r>
          </a:p>
        </p:txBody>
      </p:sp>
      <p:sp>
        <p:nvSpPr>
          <p:cNvPr id="28" name="TextBox 27"/>
          <p:cNvSpPr txBox="1"/>
          <p:nvPr/>
        </p:nvSpPr>
        <p:spPr>
          <a:xfrm>
            <a:off x="4123944" y="4206240"/>
            <a:ext cx="1051560" cy="237744"/>
          </a:xfrm>
          <a:prstGeom prst="rect">
            <a:avLst/>
          </a:prstGeom>
          <a:noFill/>
        </p:spPr>
        <p:txBody>
          <a:bodyPr wrap="square" anchor="ctr" lIns="45720" rIns="45720" tIns="27432" bIns="27432">
            <a:spAutoFit/>
          </a:bodyPr>
          <a:lstStyle/>
          <a:p>
            <a:pPr algn="l"/>
            <a:r>
              <a:rPr sz="850" b="1" i="0">
                <a:solidFill>
                  <a:srgbClr val="00D4FF"/>
                </a:solidFill>
                <a:latin typeface="Segoe UI"/>
              </a:rPr>
              <a:t>R² SCORE</a:t>
            </a:r>
          </a:p>
        </p:txBody>
      </p:sp>
      <p:sp>
        <p:nvSpPr>
          <p:cNvPr id="29" name="Rounded Rectangle 28"/>
          <p:cNvSpPr/>
          <p:nvPr/>
        </p:nvSpPr>
        <p:spPr>
          <a:xfrm>
            <a:off x="493776" y="4498848"/>
            <a:ext cx="4754880" cy="329184"/>
          </a:xfrm>
          <a:prstGeom prst="roundRect">
            <a:avLst>
              <a:gd name="adj" fmla="val 2500"/>
            </a:avLst>
          </a:prstGeom>
          <a:solidFill>
            <a:srgbClr val="162440"/>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93776" y="4498848"/>
            <a:ext cx="54864" cy="32918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85216" y="4526280"/>
            <a:ext cx="1810512" cy="274320"/>
          </a:xfrm>
          <a:prstGeom prst="rect">
            <a:avLst/>
          </a:prstGeom>
          <a:noFill/>
        </p:spPr>
        <p:txBody>
          <a:bodyPr wrap="square" anchor="ctr" lIns="45720" rIns="45720" tIns="27432" bIns="27432">
            <a:spAutoFit/>
          </a:bodyPr>
          <a:lstStyle/>
          <a:p>
            <a:pPr algn="l"/>
            <a:r>
              <a:rPr sz="850" b="1" i="0">
                <a:solidFill>
                  <a:srgbClr val="FFFFFF"/>
                </a:solidFill>
                <a:latin typeface="Segoe UI"/>
              </a:rPr>
              <a:t>Linear Regression (Val Unit 1)</a:t>
            </a:r>
          </a:p>
        </p:txBody>
      </p:sp>
      <p:sp>
        <p:nvSpPr>
          <p:cNvPr id="32" name="TextBox 31"/>
          <p:cNvSpPr txBox="1"/>
          <p:nvPr/>
        </p:nvSpPr>
        <p:spPr>
          <a:xfrm>
            <a:off x="2395728" y="4526280"/>
            <a:ext cx="841248" cy="274320"/>
          </a:xfrm>
          <a:prstGeom prst="rect">
            <a:avLst/>
          </a:prstGeom>
          <a:noFill/>
        </p:spPr>
        <p:txBody>
          <a:bodyPr wrap="square" anchor="ctr" lIns="45720" rIns="45720" tIns="27432" bIns="27432">
            <a:spAutoFit/>
          </a:bodyPr>
          <a:lstStyle/>
          <a:p>
            <a:pPr algn="l"/>
            <a:r>
              <a:rPr sz="880" b="1" i="0">
                <a:solidFill>
                  <a:srgbClr val="3B82F6"/>
                </a:solidFill>
                <a:latin typeface="Segoe UI"/>
              </a:rPr>
              <a:t>9.0328</a:t>
            </a:r>
          </a:p>
        </p:txBody>
      </p:sp>
      <p:sp>
        <p:nvSpPr>
          <p:cNvPr id="33" name="TextBox 32"/>
          <p:cNvSpPr txBox="1"/>
          <p:nvPr/>
        </p:nvSpPr>
        <p:spPr>
          <a:xfrm>
            <a:off x="3255264" y="4526280"/>
            <a:ext cx="841248" cy="274320"/>
          </a:xfrm>
          <a:prstGeom prst="rect">
            <a:avLst/>
          </a:prstGeom>
          <a:noFill/>
        </p:spPr>
        <p:txBody>
          <a:bodyPr wrap="square" anchor="ctr" lIns="45720" rIns="45720" tIns="27432" bIns="27432">
            <a:spAutoFit/>
          </a:bodyPr>
          <a:lstStyle/>
          <a:p>
            <a:pPr algn="l"/>
            <a:r>
              <a:rPr sz="880" b="0" i="0">
                <a:solidFill>
                  <a:srgbClr val="FFFFFF"/>
                </a:solidFill>
                <a:latin typeface="Segoe UI"/>
              </a:rPr>
              <a:t>7.6089</a:t>
            </a:r>
          </a:p>
        </p:txBody>
      </p:sp>
      <p:sp>
        <p:nvSpPr>
          <p:cNvPr id="34" name="TextBox 33"/>
          <p:cNvSpPr txBox="1"/>
          <p:nvPr/>
        </p:nvSpPr>
        <p:spPr>
          <a:xfrm>
            <a:off x="4114800" y="4526280"/>
            <a:ext cx="1024128" cy="274320"/>
          </a:xfrm>
          <a:prstGeom prst="rect">
            <a:avLst/>
          </a:prstGeom>
          <a:noFill/>
        </p:spPr>
        <p:txBody>
          <a:bodyPr wrap="square" anchor="ctr" lIns="45720" rIns="45720" tIns="27432" bIns="27432">
            <a:spAutoFit/>
          </a:bodyPr>
          <a:lstStyle/>
          <a:p>
            <a:pPr algn="l"/>
            <a:r>
              <a:rPr sz="880" b="1" i="0">
                <a:solidFill>
                  <a:srgbClr val="3B82F6"/>
                </a:solidFill>
                <a:latin typeface="Segoe UI"/>
              </a:rPr>
              <a:t>0.9039</a:t>
            </a:r>
          </a:p>
        </p:txBody>
      </p:sp>
      <p:sp>
        <p:nvSpPr>
          <p:cNvPr id="35" name="Rounded Rectangle 34"/>
          <p:cNvSpPr/>
          <p:nvPr/>
        </p:nvSpPr>
        <p:spPr>
          <a:xfrm>
            <a:off x="493776" y="4855464"/>
            <a:ext cx="4754880" cy="329184"/>
          </a:xfrm>
          <a:prstGeom prst="roundRect">
            <a:avLst>
              <a:gd name="adj" fmla="val 2500"/>
            </a:avLst>
          </a:prstGeom>
          <a:solidFill>
            <a:srgbClr val="162440"/>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93776" y="4855464"/>
            <a:ext cx="54864" cy="329184"/>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5216" y="4882896"/>
            <a:ext cx="1810512" cy="274320"/>
          </a:xfrm>
          <a:prstGeom prst="rect">
            <a:avLst/>
          </a:prstGeom>
          <a:noFill/>
        </p:spPr>
        <p:txBody>
          <a:bodyPr wrap="square" anchor="ctr" lIns="45720" rIns="45720" tIns="27432" bIns="27432">
            <a:spAutoFit/>
          </a:bodyPr>
          <a:lstStyle/>
          <a:p>
            <a:pPr algn="l"/>
            <a:r>
              <a:rPr sz="850" b="1" i="0">
                <a:solidFill>
                  <a:srgbClr val="E2E8F0"/>
                </a:solidFill>
                <a:latin typeface="Segoe UI"/>
              </a:rPr>
              <a:t>GBT Regressor (Val Unit 1)</a:t>
            </a:r>
          </a:p>
        </p:txBody>
      </p:sp>
      <p:sp>
        <p:nvSpPr>
          <p:cNvPr id="38" name="TextBox 37"/>
          <p:cNvSpPr txBox="1"/>
          <p:nvPr/>
        </p:nvSpPr>
        <p:spPr>
          <a:xfrm>
            <a:off x="2395728" y="4882896"/>
            <a:ext cx="841248" cy="274320"/>
          </a:xfrm>
          <a:prstGeom prst="rect">
            <a:avLst/>
          </a:prstGeom>
          <a:noFill/>
        </p:spPr>
        <p:txBody>
          <a:bodyPr wrap="square" anchor="ctr" lIns="45720" rIns="45720" tIns="27432" bIns="27432">
            <a:spAutoFit/>
          </a:bodyPr>
          <a:lstStyle/>
          <a:p>
            <a:pPr algn="l"/>
            <a:r>
              <a:rPr sz="880" b="1" i="0">
                <a:solidFill>
                  <a:srgbClr val="94A3B8"/>
                </a:solidFill>
                <a:latin typeface="Segoe UI"/>
              </a:rPr>
              <a:t>9.8152</a:t>
            </a:r>
          </a:p>
        </p:txBody>
      </p:sp>
      <p:sp>
        <p:nvSpPr>
          <p:cNvPr id="39" name="TextBox 38"/>
          <p:cNvSpPr txBox="1"/>
          <p:nvPr/>
        </p:nvSpPr>
        <p:spPr>
          <a:xfrm>
            <a:off x="3255264" y="4882896"/>
            <a:ext cx="841248" cy="274320"/>
          </a:xfrm>
          <a:prstGeom prst="rect">
            <a:avLst/>
          </a:prstGeom>
          <a:noFill/>
        </p:spPr>
        <p:txBody>
          <a:bodyPr wrap="square" anchor="ctr" lIns="45720" rIns="45720" tIns="27432" bIns="27432">
            <a:spAutoFit/>
          </a:bodyPr>
          <a:lstStyle/>
          <a:p>
            <a:pPr algn="l"/>
            <a:r>
              <a:rPr sz="880" b="0" i="0">
                <a:solidFill>
                  <a:srgbClr val="FFFFFF"/>
                </a:solidFill>
                <a:latin typeface="Segoe UI"/>
              </a:rPr>
              <a:t>6.6737</a:t>
            </a:r>
          </a:p>
        </p:txBody>
      </p:sp>
      <p:sp>
        <p:nvSpPr>
          <p:cNvPr id="40" name="TextBox 39"/>
          <p:cNvSpPr txBox="1"/>
          <p:nvPr/>
        </p:nvSpPr>
        <p:spPr>
          <a:xfrm>
            <a:off x="4114800" y="4882896"/>
            <a:ext cx="1024128" cy="274320"/>
          </a:xfrm>
          <a:prstGeom prst="rect">
            <a:avLst/>
          </a:prstGeom>
          <a:noFill/>
        </p:spPr>
        <p:txBody>
          <a:bodyPr wrap="square" anchor="ctr" lIns="45720" rIns="45720" tIns="27432" bIns="27432">
            <a:spAutoFit/>
          </a:bodyPr>
          <a:lstStyle/>
          <a:p>
            <a:pPr algn="l"/>
            <a:r>
              <a:rPr sz="880" b="1" i="0">
                <a:solidFill>
                  <a:srgbClr val="94A3B8"/>
                </a:solidFill>
                <a:latin typeface="Segoe UI"/>
              </a:rPr>
              <a:t>0.8865</a:t>
            </a:r>
          </a:p>
        </p:txBody>
      </p:sp>
      <p:sp>
        <p:nvSpPr>
          <p:cNvPr id="41" name="Rounded Rectangle 40"/>
          <p:cNvSpPr/>
          <p:nvPr/>
        </p:nvSpPr>
        <p:spPr>
          <a:xfrm>
            <a:off x="493776" y="5212079"/>
            <a:ext cx="4754880" cy="329184"/>
          </a:xfrm>
          <a:prstGeom prst="roundRect">
            <a:avLst>
              <a:gd name="adj" fmla="val 2500"/>
            </a:avLst>
          </a:prstGeom>
          <a:solidFill>
            <a:srgbClr val="162440"/>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93776" y="5212079"/>
            <a:ext cx="54864" cy="32918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85216" y="5239512"/>
            <a:ext cx="1810512" cy="274320"/>
          </a:xfrm>
          <a:prstGeom prst="rect">
            <a:avLst/>
          </a:prstGeom>
          <a:noFill/>
        </p:spPr>
        <p:txBody>
          <a:bodyPr wrap="square" anchor="ctr" lIns="45720" rIns="45720" tIns="27432" bIns="27432">
            <a:spAutoFit/>
          </a:bodyPr>
          <a:lstStyle/>
          <a:p>
            <a:pPr algn="l"/>
            <a:r>
              <a:rPr sz="850" b="1" i="0">
                <a:solidFill>
                  <a:srgbClr val="FFFFFF"/>
                </a:solidFill>
                <a:latin typeface="Segoe UI"/>
              </a:rPr>
              <a:t>Random Forest [WINNER - Val]</a:t>
            </a:r>
          </a:p>
        </p:txBody>
      </p:sp>
      <p:sp>
        <p:nvSpPr>
          <p:cNvPr id="44" name="TextBox 43"/>
          <p:cNvSpPr txBox="1"/>
          <p:nvPr/>
        </p:nvSpPr>
        <p:spPr>
          <a:xfrm>
            <a:off x="2395728" y="5239512"/>
            <a:ext cx="841248" cy="274320"/>
          </a:xfrm>
          <a:prstGeom prst="rect">
            <a:avLst/>
          </a:prstGeom>
          <a:noFill/>
        </p:spPr>
        <p:txBody>
          <a:bodyPr wrap="square" anchor="ctr" lIns="45720" rIns="45720" tIns="27432" bIns="27432">
            <a:spAutoFit/>
          </a:bodyPr>
          <a:lstStyle/>
          <a:p>
            <a:pPr algn="l"/>
            <a:r>
              <a:rPr sz="880" b="1" i="0">
                <a:solidFill>
                  <a:srgbClr val="10B981"/>
                </a:solidFill>
                <a:latin typeface="Segoe UI"/>
              </a:rPr>
              <a:t>7.9351</a:t>
            </a:r>
          </a:p>
        </p:txBody>
      </p:sp>
      <p:sp>
        <p:nvSpPr>
          <p:cNvPr id="45" name="TextBox 44"/>
          <p:cNvSpPr txBox="1"/>
          <p:nvPr/>
        </p:nvSpPr>
        <p:spPr>
          <a:xfrm>
            <a:off x="3255264" y="5239512"/>
            <a:ext cx="841248" cy="274320"/>
          </a:xfrm>
          <a:prstGeom prst="rect">
            <a:avLst/>
          </a:prstGeom>
          <a:noFill/>
        </p:spPr>
        <p:txBody>
          <a:bodyPr wrap="square" anchor="ctr" lIns="45720" rIns="45720" tIns="27432" bIns="27432">
            <a:spAutoFit/>
          </a:bodyPr>
          <a:lstStyle/>
          <a:p>
            <a:pPr algn="l"/>
            <a:r>
              <a:rPr sz="880" b="0" i="0">
                <a:solidFill>
                  <a:srgbClr val="FFFFFF"/>
                </a:solidFill>
                <a:latin typeface="Segoe UI"/>
              </a:rPr>
              <a:t>5.9612</a:t>
            </a:r>
          </a:p>
        </p:txBody>
      </p:sp>
      <p:sp>
        <p:nvSpPr>
          <p:cNvPr id="46" name="TextBox 45"/>
          <p:cNvSpPr txBox="1"/>
          <p:nvPr/>
        </p:nvSpPr>
        <p:spPr>
          <a:xfrm>
            <a:off x="4114800" y="5239512"/>
            <a:ext cx="1024128" cy="274320"/>
          </a:xfrm>
          <a:prstGeom prst="rect">
            <a:avLst/>
          </a:prstGeom>
          <a:noFill/>
        </p:spPr>
        <p:txBody>
          <a:bodyPr wrap="square" anchor="ctr" lIns="45720" rIns="45720" tIns="27432" bIns="27432">
            <a:spAutoFit/>
          </a:bodyPr>
          <a:lstStyle/>
          <a:p>
            <a:pPr algn="l"/>
            <a:r>
              <a:rPr sz="880" b="1" i="0">
                <a:solidFill>
                  <a:srgbClr val="10B981"/>
                </a:solidFill>
                <a:latin typeface="Segoe UI"/>
              </a:rPr>
              <a:t>0.9258</a:t>
            </a:r>
          </a:p>
        </p:txBody>
      </p:sp>
      <p:sp>
        <p:nvSpPr>
          <p:cNvPr id="47" name="Rounded Rectangle 46"/>
          <p:cNvSpPr/>
          <p:nvPr/>
        </p:nvSpPr>
        <p:spPr>
          <a:xfrm>
            <a:off x="493776" y="5568695"/>
            <a:ext cx="4754880" cy="329184"/>
          </a:xfrm>
          <a:prstGeom prst="roundRect">
            <a:avLst>
              <a:gd name="adj" fmla="val 2500"/>
            </a:avLst>
          </a:prstGeom>
          <a:solidFill>
            <a:srgbClr val="162440"/>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93776" y="5568695"/>
            <a:ext cx="54864" cy="32918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85216" y="5596127"/>
            <a:ext cx="1810512" cy="274320"/>
          </a:xfrm>
          <a:prstGeom prst="rect">
            <a:avLst/>
          </a:prstGeom>
          <a:noFill/>
        </p:spPr>
        <p:txBody>
          <a:bodyPr wrap="square" anchor="ctr" lIns="45720" rIns="45720" tIns="27432" bIns="27432">
            <a:spAutoFit/>
          </a:bodyPr>
          <a:lstStyle/>
          <a:p>
            <a:pPr algn="l"/>
            <a:r>
              <a:rPr sz="850" b="1" i="0">
                <a:solidFill>
                  <a:srgbClr val="FFFFFF"/>
                </a:solidFill>
                <a:latin typeface="Segoe UI"/>
              </a:rPr>
              <a:t>Random Forest (Unseen Unit 6)</a:t>
            </a:r>
          </a:p>
        </p:txBody>
      </p:sp>
      <p:sp>
        <p:nvSpPr>
          <p:cNvPr id="50" name="TextBox 49"/>
          <p:cNvSpPr txBox="1"/>
          <p:nvPr/>
        </p:nvSpPr>
        <p:spPr>
          <a:xfrm>
            <a:off x="2395728" y="5596127"/>
            <a:ext cx="841248" cy="274320"/>
          </a:xfrm>
          <a:prstGeom prst="rect">
            <a:avLst/>
          </a:prstGeom>
          <a:noFill/>
        </p:spPr>
        <p:txBody>
          <a:bodyPr wrap="square" anchor="ctr" lIns="45720" rIns="45720" tIns="27432" bIns="27432">
            <a:spAutoFit/>
          </a:bodyPr>
          <a:lstStyle/>
          <a:p>
            <a:pPr algn="l"/>
            <a:r>
              <a:rPr sz="880" b="1" i="0">
                <a:solidFill>
                  <a:srgbClr val="00D4FF"/>
                </a:solidFill>
                <a:latin typeface="Segoe UI"/>
              </a:rPr>
              <a:t>6.3599</a:t>
            </a:r>
          </a:p>
        </p:txBody>
      </p:sp>
      <p:sp>
        <p:nvSpPr>
          <p:cNvPr id="51" name="TextBox 50"/>
          <p:cNvSpPr txBox="1"/>
          <p:nvPr/>
        </p:nvSpPr>
        <p:spPr>
          <a:xfrm>
            <a:off x="3255264" y="5596127"/>
            <a:ext cx="841248" cy="274320"/>
          </a:xfrm>
          <a:prstGeom prst="rect">
            <a:avLst/>
          </a:prstGeom>
          <a:noFill/>
        </p:spPr>
        <p:txBody>
          <a:bodyPr wrap="square" anchor="ctr" lIns="45720" rIns="45720" tIns="27432" bIns="27432">
            <a:spAutoFit/>
          </a:bodyPr>
          <a:lstStyle/>
          <a:p>
            <a:pPr algn="l"/>
            <a:r>
              <a:rPr sz="880" b="0" i="0">
                <a:solidFill>
                  <a:srgbClr val="FFFFFF"/>
                </a:solidFill>
                <a:latin typeface="Segoe UI"/>
              </a:rPr>
              <a:t>5.4292</a:t>
            </a:r>
          </a:p>
        </p:txBody>
      </p:sp>
      <p:sp>
        <p:nvSpPr>
          <p:cNvPr id="52" name="TextBox 51"/>
          <p:cNvSpPr txBox="1"/>
          <p:nvPr/>
        </p:nvSpPr>
        <p:spPr>
          <a:xfrm>
            <a:off x="4114800" y="5596127"/>
            <a:ext cx="1024128" cy="274320"/>
          </a:xfrm>
          <a:prstGeom prst="rect">
            <a:avLst/>
          </a:prstGeom>
          <a:noFill/>
        </p:spPr>
        <p:txBody>
          <a:bodyPr wrap="square" anchor="ctr" lIns="45720" rIns="45720" tIns="27432" bIns="27432">
            <a:spAutoFit/>
          </a:bodyPr>
          <a:lstStyle/>
          <a:p>
            <a:pPr algn="l"/>
            <a:r>
              <a:rPr sz="880" b="1" i="0">
                <a:solidFill>
                  <a:srgbClr val="00D4FF"/>
                </a:solidFill>
                <a:latin typeface="Segoe UI"/>
              </a:rPr>
              <a:t>0.9451</a:t>
            </a:r>
          </a:p>
        </p:txBody>
      </p:sp>
      <p:sp>
        <p:nvSpPr>
          <p:cNvPr id="53" name="Rounded Rectangle 52"/>
          <p:cNvSpPr/>
          <p:nvPr/>
        </p:nvSpPr>
        <p:spPr>
          <a:xfrm>
            <a:off x="493776" y="5925311"/>
            <a:ext cx="4754880" cy="329184"/>
          </a:xfrm>
          <a:prstGeom prst="roundRect">
            <a:avLst>
              <a:gd name="adj" fmla="val 2500"/>
            </a:avLst>
          </a:prstGeom>
          <a:solidFill>
            <a:srgbClr val="162440"/>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93776" y="5925311"/>
            <a:ext cx="54864" cy="32918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85216" y="5952743"/>
            <a:ext cx="1810512" cy="274320"/>
          </a:xfrm>
          <a:prstGeom prst="rect">
            <a:avLst/>
          </a:prstGeom>
          <a:noFill/>
        </p:spPr>
        <p:txBody>
          <a:bodyPr wrap="square" anchor="ctr" lIns="45720" rIns="45720" tIns="27432" bIns="27432">
            <a:spAutoFit/>
          </a:bodyPr>
          <a:lstStyle/>
          <a:p>
            <a:pPr algn="l"/>
            <a:r>
              <a:rPr sz="850" b="1" i="0">
                <a:solidFill>
                  <a:srgbClr val="FFFFFF"/>
                </a:solidFill>
                <a:latin typeface="Segoe UI"/>
              </a:rPr>
              <a:t>Random Forest (Full 2.73M Test)</a:t>
            </a:r>
          </a:p>
        </p:txBody>
      </p:sp>
      <p:sp>
        <p:nvSpPr>
          <p:cNvPr id="56" name="TextBox 55"/>
          <p:cNvSpPr txBox="1"/>
          <p:nvPr/>
        </p:nvSpPr>
        <p:spPr>
          <a:xfrm>
            <a:off x="2395728" y="5952743"/>
            <a:ext cx="841248" cy="274320"/>
          </a:xfrm>
          <a:prstGeom prst="rect">
            <a:avLst/>
          </a:prstGeom>
          <a:noFill/>
        </p:spPr>
        <p:txBody>
          <a:bodyPr wrap="square" anchor="ctr" lIns="45720" rIns="45720" tIns="27432" bIns="27432">
            <a:spAutoFit/>
          </a:bodyPr>
          <a:lstStyle/>
          <a:p>
            <a:pPr algn="l"/>
            <a:r>
              <a:rPr sz="880" b="1" i="0">
                <a:solidFill>
                  <a:srgbClr val="F59E0B"/>
                </a:solidFill>
                <a:latin typeface="Segoe UI"/>
              </a:rPr>
              <a:t>7.5074</a:t>
            </a:r>
          </a:p>
        </p:txBody>
      </p:sp>
      <p:sp>
        <p:nvSpPr>
          <p:cNvPr id="57" name="TextBox 56"/>
          <p:cNvSpPr txBox="1"/>
          <p:nvPr/>
        </p:nvSpPr>
        <p:spPr>
          <a:xfrm>
            <a:off x="3255264" y="5952743"/>
            <a:ext cx="841248" cy="274320"/>
          </a:xfrm>
          <a:prstGeom prst="rect">
            <a:avLst/>
          </a:prstGeom>
          <a:noFill/>
        </p:spPr>
        <p:txBody>
          <a:bodyPr wrap="square" anchor="ctr" lIns="45720" rIns="45720" tIns="27432" bIns="27432">
            <a:spAutoFit/>
          </a:bodyPr>
          <a:lstStyle/>
          <a:p>
            <a:pPr algn="l"/>
            <a:r>
              <a:rPr sz="880" b="0" i="0">
                <a:solidFill>
                  <a:srgbClr val="FFFFFF"/>
                </a:solidFill>
                <a:latin typeface="Segoe UI"/>
              </a:rPr>
              <a:t>5.6703</a:t>
            </a:r>
          </a:p>
        </p:txBody>
      </p:sp>
      <p:sp>
        <p:nvSpPr>
          <p:cNvPr id="58" name="TextBox 57"/>
          <p:cNvSpPr txBox="1"/>
          <p:nvPr/>
        </p:nvSpPr>
        <p:spPr>
          <a:xfrm>
            <a:off x="4114800" y="5952743"/>
            <a:ext cx="1024128" cy="274320"/>
          </a:xfrm>
          <a:prstGeom prst="rect">
            <a:avLst/>
          </a:prstGeom>
          <a:noFill/>
        </p:spPr>
        <p:txBody>
          <a:bodyPr wrap="square" anchor="ctr" lIns="45720" rIns="45720" tIns="27432" bIns="27432">
            <a:spAutoFit/>
          </a:bodyPr>
          <a:lstStyle/>
          <a:p>
            <a:pPr algn="l"/>
            <a:r>
              <a:rPr sz="880" b="1" i="0">
                <a:solidFill>
                  <a:srgbClr val="F59E0B"/>
                </a:solidFill>
                <a:latin typeface="Segoe UI"/>
              </a:rPr>
              <a:t>0.9059</a:t>
            </a:r>
          </a:p>
        </p:txBody>
      </p:sp>
      <p:sp>
        <p:nvSpPr>
          <p:cNvPr id="59" name="Rounded Rectangle 58"/>
          <p:cNvSpPr/>
          <p:nvPr/>
        </p:nvSpPr>
        <p:spPr>
          <a:xfrm>
            <a:off x="5522976" y="1078992"/>
            <a:ext cx="6281928" cy="3337560"/>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522976" y="1078992"/>
            <a:ext cx="6281928" cy="54864"/>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522976" y="1133856"/>
            <a:ext cx="6281928"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650992" y="1152144"/>
            <a:ext cx="6025896" cy="292608"/>
          </a:xfrm>
          <a:prstGeom prst="rect">
            <a:avLst/>
          </a:prstGeom>
          <a:noFill/>
        </p:spPr>
        <p:txBody>
          <a:bodyPr wrap="square" anchor="ctr" lIns="45720" rIns="45720" tIns="27432" bIns="27432">
            <a:spAutoFit/>
          </a:bodyPr>
          <a:lstStyle/>
          <a:p>
            <a:pPr algn="l"/>
            <a:r>
              <a:rPr sz="1150" b="1" i="0">
                <a:solidFill>
                  <a:srgbClr val="FFFFFF"/>
                </a:solidFill>
                <a:latin typeface="Segoe UI"/>
              </a:rPr>
              <a:t>MODEL COMPARISON CHART (FROM AIRFLOW TASK 5 LOGS)</a:t>
            </a:r>
          </a:p>
        </p:txBody>
      </p:sp>
      <p:pic>
        <p:nvPicPr>
          <p:cNvPr id="63" name="Picture 62" descr="ml_benchmark_chart.png"/>
          <p:cNvPicPr>
            <a:picLocks noChangeAspect="1"/>
          </p:cNvPicPr>
          <p:nvPr/>
        </p:nvPicPr>
        <p:blipFill>
          <a:blip r:embed="rId2"/>
          <a:stretch>
            <a:fillRect/>
          </a:stretch>
        </p:blipFill>
        <p:spPr>
          <a:xfrm>
            <a:off x="5650992" y="1517904"/>
            <a:ext cx="6035040" cy="2796726"/>
          </a:xfrm>
          <a:prstGeom prst="rect">
            <a:avLst/>
          </a:prstGeom>
        </p:spPr>
      </p:pic>
      <p:sp>
        <p:nvSpPr>
          <p:cNvPr id="64" name="Rounded Rectangle 63"/>
          <p:cNvSpPr/>
          <p:nvPr/>
        </p:nvSpPr>
        <p:spPr>
          <a:xfrm>
            <a:off x="5522976" y="4535424"/>
            <a:ext cx="6281928" cy="1828800"/>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522976" y="4535424"/>
            <a:ext cx="6281928"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522976" y="4590288"/>
            <a:ext cx="6281928"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650992" y="4608576"/>
            <a:ext cx="6025896" cy="292608"/>
          </a:xfrm>
          <a:prstGeom prst="rect">
            <a:avLst/>
          </a:prstGeom>
          <a:noFill/>
        </p:spPr>
        <p:txBody>
          <a:bodyPr wrap="square" anchor="ctr" lIns="45720" rIns="45720" tIns="27432" bIns="27432">
            <a:spAutoFit/>
          </a:bodyPr>
          <a:lstStyle/>
          <a:p>
            <a:pPr algn="l"/>
            <a:r>
              <a:rPr sz="1150" b="1" i="0">
                <a:solidFill>
                  <a:srgbClr val="FFFFFF"/>
                </a:solidFill>
                <a:latin typeface="Segoe UI"/>
              </a:rPr>
              <a:t>3. PREDICTIONS ON TEST ENGINES (`ml_predict.py` — UNITS 7–10)</a:t>
            </a:r>
          </a:p>
        </p:txBody>
      </p:sp>
      <p:sp>
        <p:nvSpPr>
          <p:cNvPr id="68" name="TextBox 67"/>
          <p:cNvSpPr txBox="1"/>
          <p:nvPr/>
        </p:nvSpPr>
        <p:spPr>
          <a:xfrm>
            <a:off x="5632704" y="4956048"/>
            <a:ext cx="6053328" cy="1353312"/>
          </a:xfrm>
          <a:prstGeom prst="rect">
            <a:avLst/>
          </a:prstGeom>
          <a:noFill/>
        </p:spPr>
        <p:txBody>
          <a:bodyPr wrap="square" lIns="54864" rIns="54864" tIns="36576" bIns="36576">
            <a:spAutoFit/>
          </a:bodyPr>
          <a:lstStyle/>
          <a:p>
            <a:pPr algn="l">
              <a:spcAft>
                <a:spcPts val="350"/>
              </a:spcAft>
            </a:pPr>
            <a:r>
              <a:rPr sz="980" b="1">
                <a:solidFill>
                  <a:srgbClr val="F59E0B"/>
                </a:solidFill>
                <a:latin typeface="Segoe UI"/>
              </a:rPr>
              <a:t>▸ </a:t>
            </a:r>
            <a:r>
              <a:rPr sz="980" b="1">
                <a:solidFill>
                  <a:srgbClr val="FFFFFF"/>
                </a:solidFill>
                <a:latin typeface="Segoe UI"/>
              </a:rPr>
              <a:t>Winning Model Saved to HDFS: </a:t>
            </a:r>
            <a:r>
              <a:rPr sz="919" b="0">
                <a:solidFill>
                  <a:srgbClr val="E2E8F0"/>
                </a:solidFill>
                <a:latin typeface="Segoe UI"/>
              </a:rPr>
              <a:t>`RandomForestRegressor` (25 trees, max depth 6) had the lowest error and highest R² score.</a:t>
            </a:r>
          </a:p>
          <a:p>
            <a:pPr algn="l">
              <a:spcAft>
                <a:spcPts val="350"/>
              </a:spcAft>
            </a:pPr>
            <a:r>
              <a:rPr sz="980" b="1">
                <a:solidFill>
                  <a:srgbClr val="F59E0B"/>
                </a:solidFill>
                <a:latin typeface="Segoe UI"/>
              </a:rPr>
              <a:t>▸ </a:t>
            </a:r>
            <a:r>
              <a:rPr sz="980" b="1">
                <a:solidFill>
                  <a:srgbClr val="FFFFFF"/>
                </a:solidFill>
                <a:latin typeface="Segoe UI"/>
              </a:rPr>
              <a:t>Lowest Predicted RUL per Test Engine (across 2,735,232 rows): </a:t>
            </a:r>
            <a:r>
              <a:rPr sz="919" b="0">
                <a:solidFill>
                  <a:srgbClr val="E2E8F0"/>
                </a:solidFill>
                <a:latin typeface="Segoe UI"/>
              </a:rPr>
              <a:t>• Engine Unit 10 (82 cycles): Min Predicted RUL = 3.49 cycles (Most Urgent!)
• Engine Unit 8  (89 cycles): Min Predicted RUL = 4.38 cycles
• Engine Unit 9  (80 cycles): Min Predicted RUL = 4.65 cycles  |  Unit 7: Min RUL = 4.90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12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877824"/>
          </a:xfrm>
          <a:prstGeom prst="rect">
            <a:avLst/>
          </a:prstGeom>
          <a:solidFill>
            <a:srgbClr val="0D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13716"/>
          </a:xfrm>
          <a:prstGeom prst="rect">
            <a:avLst/>
          </a:prstGeom>
          <a:solidFill>
            <a:srgbClr val="233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5448"/>
            <a:ext cx="2103120" cy="219456"/>
          </a:xfrm>
          <a:prstGeom prst="roundRect">
            <a:avLst>
              <a:gd name="adj" fmla="val 2500"/>
            </a:avLst>
          </a:prstGeom>
          <a:solidFill>
            <a:srgbClr val="162440"/>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55448"/>
            <a:ext cx="2103120" cy="219456"/>
          </a:xfrm>
          <a:prstGeom prst="rect">
            <a:avLst/>
          </a:prstGeom>
          <a:noFill/>
        </p:spPr>
        <p:txBody>
          <a:bodyPr wrap="square" anchor="ctr" lIns="45720" rIns="45720" tIns="27432" bIns="27432">
            <a:spAutoFit/>
          </a:bodyPr>
          <a:lstStyle/>
          <a:p>
            <a:pPr algn="ctr"/>
            <a:r>
              <a:rPr sz="850" b="1" i="0">
                <a:solidFill>
                  <a:srgbClr val="00D4FF"/>
                </a:solidFill>
                <a:latin typeface="Segoe UI"/>
              </a:rPr>
              <a:t>9. RESULTS &amp; DASHBOARD</a:t>
            </a:r>
          </a:p>
        </p:txBody>
      </p:sp>
      <p:sp>
        <p:nvSpPr>
          <p:cNvPr id="7" name="TextBox 6"/>
          <p:cNvSpPr txBox="1"/>
          <p:nvPr/>
        </p:nvSpPr>
        <p:spPr>
          <a:xfrm>
            <a:off x="384048" y="384048"/>
            <a:ext cx="9875520" cy="329184"/>
          </a:xfrm>
          <a:prstGeom prst="rect">
            <a:avLst/>
          </a:prstGeom>
          <a:noFill/>
        </p:spPr>
        <p:txBody>
          <a:bodyPr wrap="square" anchor="t" lIns="45720" rIns="45720" tIns="27432" bIns="27432">
            <a:spAutoFit/>
          </a:bodyPr>
          <a:lstStyle/>
          <a:p>
            <a:pPr algn="l"/>
            <a:r>
              <a:rPr sz="2000" b="1" i="0">
                <a:solidFill>
                  <a:srgbClr val="FFFFFF"/>
                </a:solidFill>
                <a:latin typeface="Segoe UI"/>
              </a:rPr>
              <a:t>Results &amp; Dashboard: ClickHouse Tables &amp; Apache Superset</a:t>
            </a:r>
          </a:p>
        </p:txBody>
      </p:sp>
      <p:sp>
        <p:nvSpPr>
          <p:cNvPr id="8" name="TextBox 7"/>
          <p:cNvSpPr txBox="1"/>
          <p:nvPr/>
        </p:nvSpPr>
        <p:spPr>
          <a:xfrm>
            <a:off x="384048" y="685800"/>
            <a:ext cx="10515600" cy="219456"/>
          </a:xfrm>
          <a:prstGeom prst="rect">
            <a:avLst/>
          </a:prstGeom>
          <a:noFill/>
        </p:spPr>
        <p:txBody>
          <a:bodyPr wrap="square" anchor="t" lIns="45720" rIns="45720" tIns="27432" bIns="27432">
            <a:spAutoFit/>
          </a:bodyPr>
          <a:lstStyle/>
          <a:p>
            <a:pPr algn="l"/>
            <a:r>
              <a:rPr sz="1100" b="0" i="0">
                <a:solidFill>
                  <a:srgbClr val="94A3B8"/>
                </a:solidFill>
                <a:latin typeface="Segoe UI"/>
              </a:rPr>
              <a:t>Verified database row counts and real screenshots from our running Superset dashboard</a:t>
            </a:r>
          </a:p>
        </p:txBody>
      </p:sp>
      <p:sp>
        <p:nvSpPr>
          <p:cNvPr id="9" name="Rounded Rectangle 8"/>
          <p:cNvSpPr/>
          <p:nvPr/>
        </p:nvSpPr>
        <p:spPr>
          <a:xfrm>
            <a:off x="11109960" y="219456"/>
            <a:ext cx="685800" cy="384048"/>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09960" y="219456"/>
            <a:ext cx="685800" cy="384048"/>
          </a:xfrm>
          <a:prstGeom prst="rect">
            <a:avLst/>
          </a:prstGeom>
          <a:noFill/>
        </p:spPr>
        <p:txBody>
          <a:bodyPr wrap="square" anchor="ctr" lIns="45720" rIns="45720" tIns="27432" bIns="27432">
            <a:spAutoFit/>
          </a:bodyPr>
          <a:lstStyle/>
          <a:p>
            <a:pPr algn="ctr"/>
            <a:r>
              <a:rPr sz="1000" b="1" i="0">
                <a:solidFill>
                  <a:srgbClr val="00D4FF"/>
                </a:solidFill>
                <a:latin typeface="Segoe UI"/>
              </a:rPr>
              <a:t>10 / 12</a:t>
            </a:r>
          </a:p>
        </p:txBody>
      </p:sp>
      <p:sp>
        <p:nvSpPr>
          <p:cNvPr id="11" name="Rectangle 10"/>
          <p:cNvSpPr/>
          <p:nvPr/>
        </p:nvSpPr>
        <p:spPr>
          <a:xfrm>
            <a:off x="0" y="6510528"/>
            <a:ext cx="12191695" cy="347472"/>
          </a:xfrm>
          <a:prstGeom prst="rect">
            <a:avLst/>
          </a:prstGeom>
          <a:solidFill>
            <a:srgbClr val="0D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501384"/>
            <a:ext cx="12191695" cy="9144"/>
          </a:xfrm>
          <a:prstGeom prst="rect">
            <a:avLst/>
          </a:prstGeom>
          <a:solidFill>
            <a:srgbClr val="233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6547104"/>
            <a:ext cx="8046720" cy="237744"/>
          </a:xfrm>
          <a:prstGeom prst="rect">
            <a:avLst/>
          </a:prstGeom>
          <a:noFill/>
        </p:spPr>
        <p:txBody>
          <a:bodyPr wrap="square" anchor="t" lIns="45720" rIns="45720" tIns="27432" bIns="27432">
            <a:spAutoFit/>
          </a:bodyPr>
          <a:lstStyle/>
          <a:p>
            <a:pPr algn="l"/>
            <a:r>
              <a:rPr sz="850" b="0" i="0">
                <a:solidFill>
                  <a:srgbClr val="94A3B8"/>
                </a:solidFill>
                <a:latin typeface="Segoe UI"/>
              </a:rPr>
              <a:t>Source: NASA N-CMAPSS Dataset &amp; Verified Project Pipeline Logs</a:t>
            </a:r>
          </a:p>
        </p:txBody>
      </p:sp>
      <p:sp>
        <p:nvSpPr>
          <p:cNvPr id="14" name="TextBox 13"/>
          <p:cNvSpPr txBox="1"/>
          <p:nvPr/>
        </p:nvSpPr>
        <p:spPr>
          <a:xfrm>
            <a:off x="8503920" y="6547104"/>
            <a:ext cx="3291840" cy="237744"/>
          </a:xfrm>
          <a:prstGeom prst="rect">
            <a:avLst/>
          </a:prstGeom>
          <a:noFill/>
        </p:spPr>
        <p:txBody>
          <a:bodyPr wrap="square" anchor="t" lIns="45720" rIns="45720" tIns="27432" bIns="27432">
            <a:spAutoFit/>
          </a:bodyPr>
          <a:lstStyle/>
          <a:p>
            <a:pPr algn="r"/>
            <a:r>
              <a:rPr sz="850" b="0" i="0">
                <a:solidFill>
                  <a:srgbClr val="94A3B8"/>
                </a:solidFill>
                <a:latin typeface="Segoe UI"/>
              </a:rPr>
              <a:t>Aircraft Engine Predictive Maintenance | Big Data Project</a:t>
            </a:r>
          </a:p>
        </p:txBody>
      </p:sp>
      <p:sp>
        <p:nvSpPr>
          <p:cNvPr id="15" name="Rounded Rectangle 14"/>
          <p:cNvSpPr/>
          <p:nvPr/>
        </p:nvSpPr>
        <p:spPr>
          <a:xfrm>
            <a:off x="384048" y="1078992"/>
            <a:ext cx="6995160" cy="5285232"/>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4048" y="1078992"/>
            <a:ext cx="6995160"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4048" y="1133856"/>
            <a:ext cx="6995160"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2064" y="1152144"/>
            <a:ext cx="6739128" cy="292608"/>
          </a:xfrm>
          <a:prstGeom prst="rect">
            <a:avLst/>
          </a:prstGeom>
          <a:noFill/>
        </p:spPr>
        <p:txBody>
          <a:bodyPr wrap="square" anchor="ctr" lIns="45720" rIns="45720" tIns="27432" bIns="27432">
            <a:spAutoFit/>
          </a:bodyPr>
          <a:lstStyle/>
          <a:p>
            <a:pPr algn="l"/>
            <a:r>
              <a:rPr sz="1150" b="1" i="0">
                <a:solidFill>
                  <a:srgbClr val="FFFFFF"/>
                </a:solidFill>
                <a:latin typeface="Segoe UI"/>
              </a:rPr>
              <a:t>VERIFIED APACHE SUPERSET DASHBOARD (`localhost:8088`)</a:t>
            </a:r>
          </a:p>
        </p:txBody>
      </p:sp>
      <p:pic>
        <p:nvPicPr>
          <p:cNvPr id="19" name="Picture 18" descr="superset_top.png"/>
          <p:cNvPicPr>
            <a:picLocks noChangeAspect="1"/>
          </p:cNvPicPr>
          <p:nvPr/>
        </p:nvPicPr>
        <p:blipFill>
          <a:blip r:embed="rId2"/>
          <a:stretch>
            <a:fillRect/>
          </a:stretch>
        </p:blipFill>
        <p:spPr>
          <a:xfrm>
            <a:off x="512064" y="1517904"/>
            <a:ext cx="4892040" cy="2302699"/>
          </a:xfrm>
          <a:prstGeom prst="rect">
            <a:avLst/>
          </a:prstGeom>
        </p:spPr>
      </p:pic>
      <p:sp>
        <p:nvSpPr>
          <p:cNvPr id="20" name="Rounded Rectangle 19"/>
          <p:cNvSpPr/>
          <p:nvPr/>
        </p:nvSpPr>
        <p:spPr>
          <a:xfrm>
            <a:off x="5486400" y="1517904"/>
            <a:ext cx="1783080" cy="2304288"/>
          </a:xfrm>
          <a:prstGeom prst="roundRect">
            <a:avLst>
              <a:gd name="adj" fmla="val 2500"/>
            </a:avLst>
          </a:prstGeom>
          <a:solidFill>
            <a:srgbClr val="162440"/>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41264" y="1572768"/>
            <a:ext cx="1673352" cy="2194560"/>
          </a:xfrm>
          <a:prstGeom prst="rect">
            <a:avLst/>
          </a:prstGeom>
          <a:noFill/>
        </p:spPr>
        <p:txBody>
          <a:bodyPr wrap="square" anchor="t" lIns="45720" rIns="45720" tIns="27432" bIns="27432">
            <a:spAutoFit/>
          </a:bodyPr>
          <a:lstStyle/>
          <a:p>
            <a:pPr algn="l"/>
            <a:r>
              <a:rPr sz="900" b="0" i="0">
                <a:solidFill>
                  <a:srgbClr val="E2E8F0"/>
                </a:solidFill>
                <a:latin typeface="Segoe UI"/>
              </a:rPr>
              <a:t>Top Dashboard Charts:
• Fleet RUL Status bar chart (Units 1–6)
• Engine 10 RUL Degradation curve
• KPI: 120.5 Average Fleet RUL</a:t>
            </a:r>
          </a:p>
        </p:txBody>
      </p:sp>
      <p:pic>
        <p:nvPicPr>
          <p:cNvPr id="22" name="Picture 21" descr="superset_bottom.png"/>
          <p:cNvPicPr>
            <a:picLocks noChangeAspect="1"/>
          </p:cNvPicPr>
          <p:nvPr/>
        </p:nvPicPr>
        <p:blipFill>
          <a:blip r:embed="rId3"/>
          <a:stretch>
            <a:fillRect/>
          </a:stretch>
        </p:blipFill>
        <p:spPr>
          <a:xfrm>
            <a:off x="512064" y="3931920"/>
            <a:ext cx="4892040" cy="2302699"/>
          </a:xfrm>
          <a:prstGeom prst="rect">
            <a:avLst/>
          </a:prstGeom>
        </p:spPr>
      </p:pic>
      <p:sp>
        <p:nvSpPr>
          <p:cNvPr id="23" name="Rounded Rectangle 22"/>
          <p:cNvSpPr/>
          <p:nvPr/>
        </p:nvSpPr>
        <p:spPr>
          <a:xfrm>
            <a:off x="5486400" y="3931920"/>
            <a:ext cx="1783080" cy="2304288"/>
          </a:xfrm>
          <a:prstGeom prst="roundRect">
            <a:avLst>
              <a:gd name="adj" fmla="val 2500"/>
            </a:avLst>
          </a:prstGeom>
          <a:solidFill>
            <a:srgbClr val="162440"/>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41264" y="3986784"/>
            <a:ext cx="1673352" cy="2194560"/>
          </a:xfrm>
          <a:prstGeom prst="rect">
            <a:avLst/>
          </a:prstGeom>
          <a:noFill/>
        </p:spPr>
        <p:txBody>
          <a:bodyPr wrap="square" anchor="t" lIns="45720" rIns="45720" tIns="27432" bIns="27432">
            <a:spAutoFit/>
          </a:bodyPr>
          <a:lstStyle/>
          <a:p>
            <a:pPr algn="l"/>
            <a:r>
              <a:rPr sz="900" b="0" i="0">
                <a:solidFill>
                  <a:srgbClr val="E2E8F0"/>
                </a:solidFill>
                <a:latin typeface="Segoe UI"/>
              </a:rPr>
              <a:t>Bottom Dashboard Charts:
• Real-Time Sensor T30 temperature
• Critical Maintenance Alerts table
• 15 Active Alerts &amp; 121k Stream Events</a:t>
            </a:r>
          </a:p>
        </p:txBody>
      </p:sp>
      <p:sp>
        <p:nvSpPr>
          <p:cNvPr id="25" name="Rounded Rectangle 24"/>
          <p:cNvSpPr/>
          <p:nvPr/>
        </p:nvSpPr>
        <p:spPr>
          <a:xfrm>
            <a:off x="7516368" y="1078992"/>
            <a:ext cx="4288536" cy="2606040"/>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516368" y="1078992"/>
            <a:ext cx="4288536"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516368" y="1133856"/>
            <a:ext cx="4288536"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44384" y="1152144"/>
            <a:ext cx="4032504" cy="292608"/>
          </a:xfrm>
          <a:prstGeom prst="rect">
            <a:avLst/>
          </a:prstGeom>
          <a:noFill/>
        </p:spPr>
        <p:txBody>
          <a:bodyPr wrap="square" anchor="ctr" lIns="45720" rIns="45720" tIns="27432" bIns="27432">
            <a:spAutoFit/>
          </a:bodyPr>
          <a:lstStyle/>
          <a:p>
            <a:pPr algn="l"/>
            <a:r>
              <a:rPr sz="1150" b="1" i="0">
                <a:solidFill>
                  <a:srgbClr val="FFFFFF"/>
                </a:solidFill>
                <a:latin typeface="Segoe UI"/>
              </a:rPr>
              <a:t>VERIFIED CLICKHOUSE TABLE COUNTS</a:t>
            </a:r>
          </a:p>
        </p:txBody>
      </p:sp>
      <p:sp>
        <p:nvSpPr>
          <p:cNvPr id="29" name="Rectangle 28"/>
          <p:cNvSpPr/>
          <p:nvPr/>
        </p:nvSpPr>
        <p:spPr>
          <a:xfrm>
            <a:off x="7626096" y="1517904"/>
            <a:ext cx="4069080" cy="274320"/>
          </a:xfrm>
          <a:prstGeom prst="rect">
            <a:avLst/>
          </a:prstGeom>
          <a:solidFill>
            <a:srgbClr val="0D172A"/>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44383" y="1536192"/>
            <a:ext cx="2148840" cy="237744"/>
          </a:xfrm>
          <a:prstGeom prst="rect">
            <a:avLst/>
          </a:prstGeom>
          <a:noFill/>
        </p:spPr>
        <p:txBody>
          <a:bodyPr wrap="square" anchor="ctr" lIns="45720" rIns="45720" tIns="27432" bIns="27432">
            <a:spAutoFit/>
          </a:bodyPr>
          <a:lstStyle/>
          <a:p>
            <a:pPr algn="l"/>
            <a:r>
              <a:rPr sz="819" b="1" i="0">
                <a:solidFill>
                  <a:srgbClr val="00D4FF"/>
                </a:solidFill>
                <a:latin typeface="Segoe UI"/>
              </a:rPr>
              <a:t>TABLE NAME (`aircraft`)</a:t>
            </a:r>
          </a:p>
        </p:txBody>
      </p:sp>
      <p:sp>
        <p:nvSpPr>
          <p:cNvPr id="31" name="TextBox 30"/>
          <p:cNvSpPr txBox="1"/>
          <p:nvPr/>
        </p:nvSpPr>
        <p:spPr>
          <a:xfrm>
            <a:off x="9793224" y="1536192"/>
            <a:ext cx="822960" cy="237744"/>
          </a:xfrm>
          <a:prstGeom prst="rect">
            <a:avLst/>
          </a:prstGeom>
          <a:noFill/>
        </p:spPr>
        <p:txBody>
          <a:bodyPr wrap="square" anchor="ctr" lIns="45720" rIns="45720" tIns="27432" bIns="27432">
            <a:spAutoFit/>
          </a:bodyPr>
          <a:lstStyle/>
          <a:p>
            <a:pPr algn="l"/>
            <a:r>
              <a:rPr sz="819" b="1" i="0">
                <a:solidFill>
                  <a:srgbClr val="00D4FF"/>
                </a:solidFill>
                <a:latin typeface="Segoe UI"/>
              </a:rPr>
              <a:t>ROWS</a:t>
            </a:r>
          </a:p>
        </p:txBody>
      </p:sp>
      <p:sp>
        <p:nvSpPr>
          <p:cNvPr id="32" name="TextBox 31"/>
          <p:cNvSpPr txBox="1"/>
          <p:nvPr/>
        </p:nvSpPr>
        <p:spPr>
          <a:xfrm>
            <a:off x="10616184" y="1536192"/>
            <a:ext cx="1051560" cy="237744"/>
          </a:xfrm>
          <a:prstGeom prst="rect">
            <a:avLst/>
          </a:prstGeom>
          <a:noFill/>
        </p:spPr>
        <p:txBody>
          <a:bodyPr wrap="square" anchor="ctr" lIns="45720" rIns="45720" tIns="27432" bIns="27432">
            <a:spAutoFit/>
          </a:bodyPr>
          <a:lstStyle/>
          <a:p>
            <a:pPr algn="l"/>
            <a:r>
              <a:rPr sz="819" b="1" i="0">
                <a:solidFill>
                  <a:srgbClr val="00D4FF"/>
                </a:solidFill>
                <a:latin typeface="Segoe UI"/>
              </a:rPr>
              <a:t>PURPOSE</a:t>
            </a:r>
          </a:p>
        </p:txBody>
      </p:sp>
      <p:sp>
        <p:nvSpPr>
          <p:cNvPr id="33" name="Rounded Rectangle 32"/>
          <p:cNvSpPr/>
          <p:nvPr/>
        </p:nvSpPr>
        <p:spPr>
          <a:xfrm>
            <a:off x="7626096" y="1828800"/>
            <a:ext cx="4069080" cy="402336"/>
          </a:xfrm>
          <a:prstGeom prst="roundRect">
            <a:avLst>
              <a:gd name="adj" fmla="val 2500"/>
            </a:avLst>
          </a:prstGeom>
          <a:solidFill>
            <a:srgbClr val="162440"/>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626096" y="1828800"/>
            <a:ext cx="54864" cy="40233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17536" y="1865376"/>
            <a:ext cx="2084831" cy="329184"/>
          </a:xfrm>
          <a:prstGeom prst="rect">
            <a:avLst/>
          </a:prstGeom>
          <a:noFill/>
        </p:spPr>
        <p:txBody>
          <a:bodyPr wrap="square" anchor="ctr" lIns="45720" rIns="45720" tIns="27432" bIns="27432">
            <a:spAutoFit/>
          </a:bodyPr>
          <a:lstStyle/>
          <a:p>
            <a:pPr algn="l"/>
            <a:r>
              <a:rPr sz="840" b="1" i="0">
                <a:solidFill>
                  <a:srgbClr val="FFFFFF"/>
                </a:solidFill>
                <a:latin typeface="Consolas"/>
              </a:rPr>
              <a:t>engine_batch_summary</a:t>
            </a:r>
          </a:p>
        </p:txBody>
      </p:sp>
      <p:sp>
        <p:nvSpPr>
          <p:cNvPr id="36" name="TextBox 35"/>
          <p:cNvSpPr txBox="1"/>
          <p:nvPr/>
        </p:nvSpPr>
        <p:spPr>
          <a:xfrm>
            <a:off x="9802368" y="1865376"/>
            <a:ext cx="804672" cy="329184"/>
          </a:xfrm>
          <a:prstGeom prst="rect">
            <a:avLst/>
          </a:prstGeom>
          <a:noFill/>
        </p:spPr>
        <p:txBody>
          <a:bodyPr wrap="square" anchor="ctr" lIns="45720" rIns="45720" tIns="27432" bIns="27432">
            <a:spAutoFit/>
          </a:bodyPr>
          <a:lstStyle/>
          <a:p>
            <a:pPr algn="l"/>
            <a:r>
              <a:rPr sz="880" b="1" i="0">
                <a:solidFill>
                  <a:srgbClr val="00D4FF"/>
                </a:solidFill>
                <a:latin typeface="Segoe UI"/>
              </a:rPr>
              <a:t>12</a:t>
            </a:r>
          </a:p>
        </p:txBody>
      </p:sp>
      <p:sp>
        <p:nvSpPr>
          <p:cNvPr id="37" name="TextBox 36"/>
          <p:cNvSpPr txBox="1"/>
          <p:nvPr/>
        </p:nvSpPr>
        <p:spPr>
          <a:xfrm>
            <a:off x="10607040" y="1865376"/>
            <a:ext cx="1051560" cy="329184"/>
          </a:xfrm>
          <a:prstGeom prst="rect">
            <a:avLst/>
          </a:prstGeom>
          <a:noFill/>
        </p:spPr>
        <p:txBody>
          <a:bodyPr wrap="square" anchor="ctr" lIns="45720" rIns="45720" tIns="27432" bIns="27432">
            <a:spAutoFit/>
          </a:bodyPr>
          <a:lstStyle/>
          <a:p>
            <a:pPr algn="l"/>
            <a:r>
              <a:rPr sz="819" b="0" i="0">
                <a:solidFill>
                  <a:srgbClr val="E2E8F0"/>
                </a:solidFill>
                <a:latin typeface="Segoe UI"/>
              </a:rPr>
              <a:t>Per-engine stats</a:t>
            </a:r>
          </a:p>
        </p:txBody>
      </p:sp>
      <p:sp>
        <p:nvSpPr>
          <p:cNvPr id="38" name="Rounded Rectangle 37"/>
          <p:cNvSpPr/>
          <p:nvPr/>
        </p:nvSpPr>
        <p:spPr>
          <a:xfrm>
            <a:off x="7626096" y="2267712"/>
            <a:ext cx="4069080" cy="402336"/>
          </a:xfrm>
          <a:prstGeom prst="roundRect">
            <a:avLst>
              <a:gd name="adj" fmla="val 2500"/>
            </a:avLst>
          </a:prstGeom>
          <a:solidFill>
            <a:srgbClr val="162440"/>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626096" y="2267712"/>
            <a:ext cx="54864" cy="40233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17536" y="2304288"/>
            <a:ext cx="2084831" cy="329184"/>
          </a:xfrm>
          <a:prstGeom prst="rect">
            <a:avLst/>
          </a:prstGeom>
          <a:noFill/>
        </p:spPr>
        <p:txBody>
          <a:bodyPr wrap="square" anchor="ctr" lIns="45720" rIns="45720" tIns="27432" bIns="27432">
            <a:spAutoFit/>
          </a:bodyPr>
          <a:lstStyle/>
          <a:p>
            <a:pPr algn="l"/>
            <a:r>
              <a:rPr sz="840" b="1" i="0">
                <a:solidFill>
                  <a:srgbClr val="FFFFFF"/>
                </a:solidFill>
                <a:latin typeface="Consolas"/>
              </a:rPr>
              <a:t>engine_rul_predictions</a:t>
            </a:r>
          </a:p>
        </p:txBody>
      </p:sp>
      <p:sp>
        <p:nvSpPr>
          <p:cNvPr id="41" name="TextBox 40"/>
          <p:cNvSpPr txBox="1"/>
          <p:nvPr/>
        </p:nvSpPr>
        <p:spPr>
          <a:xfrm>
            <a:off x="9802368" y="2304288"/>
            <a:ext cx="804672" cy="329184"/>
          </a:xfrm>
          <a:prstGeom prst="rect">
            <a:avLst/>
          </a:prstGeom>
          <a:noFill/>
        </p:spPr>
        <p:txBody>
          <a:bodyPr wrap="square" anchor="ctr" lIns="45720" rIns="45720" tIns="27432" bIns="27432">
            <a:spAutoFit/>
          </a:bodyPr>
          <a:lstStyle/>
          <a:p>
            <a:pPr algn="l"/>
            <a:r>
              <a:rPr sz="880" b="1" i="0">
                <a:solidFill>
                  <a:srgbClr val="10B981"/>
                </a:solidFill>
                <a:latin typeface="Segoe UI"/>
              </a:rPr>
              <a:t>600,000</a:t>
            </a:r>
          </a:p>
        </p:txBody>
      </p:sp>
      <p:sp>
        <p:nvSpPr>
          <p:cNvPr id="42" name="TextBox 41"/>
          <p:cNvSpPr txBox="1"/>
          <p:nvPr/>
        </p:nvSpPr>
        <p:spPr>
          <a:xfrm>
            <a:off x="10607040" y="2304288"/>
            <a:ext cx="1051560" cy="329184"/>
          </a:xfrm>
          <a:prstGeom prst="rect">
            <a:avLst/>
          </a:prstGeom>
          <a:noFill/>
        </p:spPr>
        <p:txBody>
          <a:bodyPr wrap="square" anchor="ctr" lIns="45720" rIns="45720" tIns="27432" bIns="27432">
            <a:spAutoFit/>
          </a:bodyPr>
          <a:lstStyle/>
          <a:p>
            <a:pPr algn="l"/>
            <a:r>
              <a:rPr sz="819" b="0" i="0">
                <a:solidFill>
                  <a:srgbClr val="E2E8F0"/>
                </a:solidFill>
                <a:latin typeface="Segoe UI"/>
              </a:rPr>
              <a:t>ML RUL predictions</a:t>
            </a:r>
          </a:p>
        </p:txBody>
      </p:sp>
      <p:sp>
        <p:nvSpPr>
          <p:cNvPr id="43" name="Rounded Rectangle 42"/>
          <p:cNvSpPr/>
          <p:nvPr/>
        </p:nvSpPr>
        <p:spPr>
          <a:xfrm>
            <a:off x="7626096" y="2706624"/>
            <a:ext cx="4069080" cy="402336"/>
          </a:xfrm>
          <a:prstGeom prst="roundRect">
            <a:avLst>
              <a:gd name="adj" fmla="val 2500"/>
            </a:avLst>
          </a:prstGeom>
          <a:solidFill>
            <a:srgbClr val="162440"/>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626096" y="2706624"/>
            <a:ext cx="54864" cy="40233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17536" y="2743200"/>
            <a:ext cx="2084831" cy="329184"/>
          </a:xfrm>
          <a:prstGeom prst="rect">
            <a:avLst/>
          </a:prstGeom>
          <a:noFill/>
        </p:spPr>
        <p:txBody>
          <a:bodyPr wrap="square" anchor="ctr" lIns="45720" rIns="45720" tIns="27432" bIns="27432">
            <a:spAutoFit/>
          </a:bodyPr>
          <a:lstStyle/>
          <a:p>
            <a:pPr algn="l"/>
            <a:r>
              <a:rPr sz="840" b="1" i="0">
                <a:solidFill>
                  <a:srgbClr val="FFFFFF"/>
                </a:solidFill>
                <a:latin typeface="Consolas"/>
              </a:rPr>
              <a:t>engine_stream_metrics</a:t>
            </a:r>
          </a:p>
        </p:txBody>
      </p:sp>
      <p:sp>
        <p:nvSpPr>
          <p:cNvPr id="46" name="TextBox 45"/>
          <p:cNvSpPr txBox="1"/>
          <p:nvPr/>
        </p:nvSpPr>
        <p:spPr>
          <a:xfrm>
            <a:off x="9802368" y="2743200"/>
            <a:ext cx="804672" cy="329184"/>
          </a:xfrm>
          <a:prstGeom prst="rect">
            <a:avLst/>
          </a:prstGeom>
          <a:noFill/>
        </p:spPr>
        <p:txBody>
          <a:bodyPr wrap="square" anchor="ctr" lIns="45720" rIns="45720" tIns="27432" bIns="27432">
            <a:spAutoFit/>
          </a:bodyPr>
          <a:lstStyle/>
          <a:p>
            <a:pPr algn="l"/>
            <a:r>
              <a:rPr sz="880" b="1" i="0">
                <a:solidFill>
                  <a:srgbClr val="3B82F6"/>
                </a:solidFill>
                <a:latin typeface="Segoe UI"/>
              </a:rPr>
              <a:t>57</a:t>
            </a:r>
          </a:p>
        </p:txBody>
      </p:sp>
      <p:sp>
        <p:nvSpPr>
          <p:cNvPr id="47" name="TextBox 46"/>
          <p:cNvSpPr txBox="1"/>
          <p:nvPr/>
        </p:nvSpPr>
        <p:spPr>
          <a:xfrm>
            <a:off x="10607040" y="2743200"/>
            <a:ext cx="1051560" cy="329184"/>
          </a:xfrm>
          <a:prstGeom prst="rect">
            <a:avLst/>
          </a:prstGeom>
          <a:noFill/>
        </p:spPr>
        <p:txBody>
          <a:bodyPr wrap="square" anchor="ctr" lIns="45720" rIns="45720" tIns="27432" bIns="27432">
            <a:spAutoFit/>
          </a:bodyPr>
          <a:lstStyle/>
          <a:p>
            <a:pPr algn="l"/>
            <a:r>
              <a:rPr sz="819" b="0" i="0">
                <a:solidFill>
                  <a:srgbClr val="E2E8F0"/>
                </a:solidFill>
                <a:latin typeface="Segoe UI"/>
              </a:rPr>
              <a:t>30s stream windows</a:t>
            </a:r>
          </a:p>
        </p:txBody>
      </p:sp>
      <p:sp>
        <p:nvSpPr>
          <p:cNvPr id="48" name="Rounded Rectangle 47"/>
          <p:cNvSpPr/>
          <p:nvPr/>
        </p:nvSpPr>
        <p:spPr>
          <a:xfrm>
            <a:off x="7626096" y="3145536"/>
            <a:ext cx="4069080" cy="402336"/>
          </a:xfrm>
          <a:prstGeom prst="roundRect">
            <a:avLst>
              <a:gd name="adj" fmla="val 2500"/>
            </a:avLst>
          </a:prstGeom>
          <a:solidFill>
            <a:srgbClr val="162440"/>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626096" y="3145536"/>
            <a:ext cx="54864" cy="402336"/>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17536" y="3182112"/>
            <a:ext cx="2084831" cy="329184"/>
          </a:xfrm>
          <a:prstGeom prst="rect">
            <a:avLst/>
          </a:prstGeom>
          <a:noFill/>
        </p:spPr>
        <p:txBody>
          <a:bodyPr wrap="square" anchor="ctr" lIns="45720" rIns="45720" tIns="27432" bIns="27432">
            <a:spAutoFit/>
          </a:bodyPr>
          <a:lstStyle/>
          <a:p>
            <a:pPr algn="l"/>
            <a:r>
              <a:rPr sz="840" b="1" i="0">
                <a:solidFill>
                  <a:srgbClr val="FFFFFF"/>
                </a:solidFill>
                <a:latin typeface="Consolas"/>
              </a:rPr>
              <a:t>maintenance_alerts</a:t>
            </a:r>
          </a:p>
        </p:txBody>
      </p:sp>
      <p:sp>
        <p:nvSpPr>
          <p:cNvPr id="51" name="TextBox 50"/>
          <p:cNvSpPr txBox="1"/>
          <p:nvPr/>
        </p:nvSpPr>
        <p:spPr>
          <a:xfrm>
            <a:off x="9802368" y="3182112"/>
            <a:ext cx="804672" cy="329184"/>
          </a:xfrm>
          <a:prstGeom prst="rect">
            <a:avLst/>
          </a:prstGeom>
          <a:noFill/>
        </p:spPr>
        <p:txBody>
          <a:bodyPr wrap="square" anchor="ctr" lIns="45720" rIns="45720" tIns="27432" bIns="27432">
            <a:spAutoFit/>
          </a:bodyPr>
          <a:lstStyle/>
          <a:p>
            <a:pPr algn="l"/>
            <a:r>
              <a:rPr sz="880" b="1" i="0">
                <a:solidFill>
                  <a:srgbClr val="EF4444"/>
                </a:solidFill>
                <a:latin typeface="Segoe UI"/>
              </a:rPr>
              <a:t>15</a:t>
            </a:r>
          </a:p>
        </p:txBody>
      </p:sp>
      <p:sp>
        <p:nvSpPr>
          <p:cNvPr id="52" name="TextBox 51"/>
          <p:cNvSpPr txBox="1"/>
          <p:nvPr/>
        </p:nvSpPr>
        <p:spPr>
          <a:xfrm>
            <a:off x="10607040" y="3182112"/>
            <a:ext cx="1051560" cy="329184"/>
          </a:xfrm>
          <a:prstGeom prst="rect">
            <a:avLst/>
          </a:prstGeom>
          <a:noFill/>
        </p:spPr>
        <p:txBody>
          <a:bodyPr wrap="square" anchor="ctr" lIns="45720" rIns="45720" tIns="27432" bIns="27432">
            <a:spAutoFit/>
          </a:bodyPr>
          <a:lstStyle/>
          <a:p>
            <a:pPr algn="l"/>
            <a:r>
              <a:rPr sz="819" b="0" i="0">
                <a:solidFill>
                  <a:srgbClr val="E2E8F0"/>
                </a:solidFill>
                <a:latin typeface="Segoe UI"/>
              </a:rPr>
              <a:t>Critical alerts</a:t>
            </a:r>
          </a:p>
        </p:txBody>
      </p:sp>
      <p:sp>
        <p:nvSpPr>
          <p:cNvPr id="53" name="Rounded Rectangle 52"/>
          <p:cNvSpPr/>
          <p:nvPr/>
        </p:nvSpPr>
        <p:spPr>
          <a:xfrm>
            <a:off x="7516368" y="3822191"/>
            <a:ext cx="4288536" cy="2542032"/>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516368" y="3822191"/>
            <a:ext cx="4288536"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516368" y="3877055"/>
            <a:ext cx="4288536"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644384" y="3895344"/>
            <a:ext cx="4032504" cy="292608"/>
          </a:xfrm>
          <a:prstGeom prst="rect">
            <a:avLst/>
          </a:prstGeom>
          <a:noFill/>
        </p:spPr>
        <p:txBody>
          <a:bodyPr wrap="square" anchor="ctr" lIns="45720" rIns="45720" tIns="27432" bIns="27432">
            <a:spAutoFit/>
          </a:bodyPr>
          <a:lstStyle/>
          <a:p>
            <a:pPr algn="l"/>
            <a:r>
              <a:rPr sz="1150" b="1" i="0">
                <a:solidFill>
                  <a:srgbClr val="FFFFFF"/>
                </a:solidFill>
                <a:latin typeface="Segoe UI"/>
              </a:rPr>
              <a:t>BATCH SUMMARY OUTPUT (UNITS 1–6)</a:t>
            </a:r>
          </a:p>
        </p:txBody>
      </p:sp>
      <p:sp>
        <p:nvSpPr>
          <p:cNvPr id="57" name="TextBox 56"/>
          <p:cNvSpPr txBox="1"/>
          <p:nvPr/>
        </p:nvSpPr>
        <p:spPr>
          <a:xfrm>
            <a:off x="7626096" y="4261104"/>
            <a:ext cx="4069080" cy="2011680"/>
          </a:xfrm>
          <a:prstGeom prst="rect">
            <a:avLst/>
          </a:prstGeom>
          <a:noFill/>
        </p:spPr>
        <p:txBody>
          <a:bodyPr wrap="square" lIns="54864" rIns="54864" tIns="36576" bIns="36576">
            <a:spAutoFit/>
          </a:bodyPr>
          <a:lstStyle/>
          <a:p>
            <a:pPr algn="l">
              <a:spcAft>
                <a:spcPts val="300"/>
              </a:spcAft>
            </a:pPr>
            <a:r>
              <a:rPr sz="950" b="1">
                <a:solidFill>
                  <a:srgbClr val="00D4FF"/>
                </a:solidFill>
                <a:latin typeface="Segoe UI"/>
              </a:rPr>
              <a:t>▸ </a:t>
            </a:r>
            <a:r>
              <a:rPr sz="950" b="1">
                <a:solidFill>
                  <a:srgbClr val="FFFFFF"/>
                </a:solidFill>
                <a:latin typeface="Segoe UI"/>
              </a:rPr>
              <a:t>Engine 1 (100 cycles): </a:t>
            </a:r>
            <a:r>
              <a:rPr sz="900" b="0">
                <a:solidFill>
                  <a:srgbClr val="E2E8F0"/>
                </a:solidFill>
                <a:latin typeface="Segoe UI"/>
              </a:rPr>
              <a:t>433,325 rows | Avg RUL: 49.45 | Max: 99</a:t>
            </a:r>
          </a:p>
          <a:p>
            <a:pPr algn="l">
              <a:spcAft>
                <a:spcPts val="300"/>
              </a:spcAft>
            </a:pPr>
            <a:r>
              <a:rPr sz="950" b="1">
                <a:solidFill>
                  <a:srgbClr val="00D4FF"/>
                </a:solidFill>
                <a:latin typeface="Segoe UI"/>
              </a:rPr>
              <a:t>▸ </a:t>
            </a:r>
            <a:r>
              <a:rPr sz="950" b="1">
                <a:solidFill>
                  <a:srgbClr val="FFFFFF"/>
                </a:solidFill>
                <a:latin typeface="Segoe UI"/>
              </a:rPr>
              <a:t>Engine 2 (75 cycles): </a:t>
            </a:r>
            <a:r>
              <a:rPr sz="900" b="0">
                <a:solidFill>
                  <a:srgbClr val="E2E8F0"/>
                </a:solidFill>
                <a:latin typeface="Segoe UI"/>
              </a:rPr>
              <a:t>1,049,088 rows | Avg RUL: 37.00 | Max: 74</a:t>
            </a:r>
          </a:p>
          <a:p>
            <a:pPr algn="l">
              <a:spcAft>
                <a:spcPts val="300"/>
              </a:spcAft>
            </a:pPr>
            <a:r>
              <a:rPr sz="950" b="1">
                <a:solidFill>
                  <a:srgbClr val="00D4FF"/>
                </a:solidFill>
                <a:latin typeface="Segoe UI"/>
              </a:rPr>
              <a:t>▸ </a:t>
            </a:r>
            <a:r>
              <a:rPr sz="950" b="1">
                <a:solidFill>
                  <a:srgbClr val="FFFFFF"/>
                </a:solidFill>
                <a:latin typeface="Segoe UI"/>
              </a:rPr>
              <a:t>Engine 3 (100 cycles): </a:t>
            </a:r>
            <a:r>
              <a:rPr sz="900" b="0">
                <a:solidFill>
                  <a:srgbClr val="E2E8F0"/>
                </a:solidFill>
                <a:latin typeface="Segoe UI"/>
              </a:rPr>
              <a:t>893,054 rows | Avg RUL: 49.07 | Max: 99</a:t>
            </a:r>
          </a:p>
          <a:p>
            <a:pPr algn="l">
              <a:spcAft>
                <a:spcPts val="300"/>
              </a:spcAft>
            </a:pPr>
            <a:r>
              <a:rPr sz="950" b="1">
                <a:solidFill>
                  <a:srgbClr val="00D4FF"/>
                </a:solidFill>
                <a:latin typeface="Segoe UI"/>
              </a:rPr>
              <a:t>▸ </a:t>
            </a:r>
            <a:r>
              <a:rPr sz="950" b="1">
                <a:solidFill>
                  <a:srgbClr val="FFFFFF"/>
                </a:solidFill>
                <a:latin typeface="Segoe UI"/>
              </a:rPr>
              <a:t>Engine 4 (95 cycles): </a:t>
            </a:r>
            <a:r>
              <a:rPr sz="900" b="0">
                <a:solidFill>
                  <a:srgbClr val="E2E8F0"/>
                </a:solidFill>
                <a:latin typeface="Segoe UI"/>
              </a:rPr>
              <a:t>414,172 rows | Avg RUL: 47.45 | Max: 94</a:t>
            </a:r>
          </a:p>
          <a:p>
            <a:pPr algn="l">
              <a:spcAft>
                <a:spcPts val="300"/>
              </a:spcAft>
            </a:pPr>
            <a:r>
              <a:rPr sz="950" b="1">
                <a:solidFill>
                  <a:srgbClr val="00D4FF"/>
                </a:solidFill>
                <a:latin typeface="Segoe UI"/>
              </a:rPr>
              <a:t>▸ </a:t>
            </a:r>
            <a:r>
              <a:rPr sz="950" b="1">
                <a:solidFill>
                  <a:srgbClr val="FFFFFF"/>
                </a:solidFill>
                <a:latin typeface="Segoe UI"/>
              </a:rPr>
              <a:t>Engine 5 (89 cycles): </a:t>
            </a:r>
            <a:r>
              <a:rPr sz="900" b="0">
                <a:solidFill>
                  <a:srgbClr val="E2E8F0"/>
                </a:solidFill>
                <a:latin typeface="Segoe UI"/>
              </a:rPr>
              <a:t>1,280,147 rows | Avg RUL: 44.11 | Max: 88</a:t>
            </a:r>
          </a:p>
          <a:p>
            <a:pPr algn="l">
              <a:spcAft>
                <a:spcPts val="300"/>
              </a:spcAft>
            </a:pPr>
            <a:r>
              <a:rPr sz="950" b="1">
                <a:solidFill>
                  <a:srgbClr val="00D4FF"/>
                </a:solidFill>
                <a:latin typeface="Segoe UI"/>
              </a:rPr>
              <a:t>▸ </a:t>
            </a:r>
            <a:r>
              <a:rPr sz="950" b="1">
                <a:solidFill>
                  <a:srgbClr val="FFFFFF"/>
                </a:solidFill>
                <a:latin typeface="Segoe UI"/>
              </a:rPr>
              <a:t>Engine 6 (94 cycles): </a:t>
            </a:r>
            <a:r>
              <a:rPr sz="900" b="0">
                <a:solidFill>
                  <a:srgbClr val="E2E8F0"/>
                </a:solidFill>
                <a:latin typeface="Segoe UI"/>
              </a:rPr>
              <a:t>836,850 rows | Avg RUL: 47.58 | Max: 93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12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877824"/>
          </a:xfrm>
          <a:prstGeom prst="rect">
            <a:avLst/>
          </a:prstGeom>
          <a:solidFill>
            <a:srgbClr val="0D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13716"/>
          </a:xfrm>
          <a:prstGeom prst="rect">
            <a:avLst/>
          </a:prstGeom>
          <a:solidFill>
            <a:srgbClr val="233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5448"/>
            <a:ext cx="2103120" cy="219456"/>
          </a:xfrm>
          <a:prstGeom prst="roundRect">
            <a:avLst>
              <a:gd name="adj" fmla="val 2500"/>
            </a:avLst>
          </a:prstGeom>
          <a:solidFill>
            <a:srgbClr val="162440"/>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55448"/>
            <a:ext cx="2103120" cy="219456"/>
          </a:xfrm>
          <a:prstGeom prst="rect">
            <a:avLst/>
          </a:prstGeom>
          <a:noFill/>
        </p:spPr>
        <p:txBody>
          <a:bodyPr wrap="square" anchor="ctr" lIns="45720" rIns="45720" tIns="27432" bIns="27432">
            <a:spAutoFit/>
          </a:bodyPr>
          <a:lstStyle/>
          <a:p>
            <a:pPr algn="ctr"/>
            <a:r>
              <a:rPr sz="850" b="1" i="0">
                <a:solidFill>
                  <a:srgbClr val="00D4FF"/>
                </a:solidFill>
                <a:latin typeface="Segoe UI"/>
              </a:rPr>
              <a:t>10. DEPLOYMENT &amp; LIMITATIONS</a:t>
            </a:r>
          </a:p>
        </p:txBody>
      </p:sp>
      <p:sp>
        <p:nvSpPr>
          <p:cNvPr id="7" name="TextBox 6"/>
          <p:cNvSpPr txBox="1"/>
          <p:nvPr/>
        </p:nvSpPr>
        <p:spPr>
          <a:xfrm>
            <a:off x="384048" y="384048"/>
            <a:ext cx="9875520" cy="329184"/>
          </a:xfrm>
          <a:prstGeom prst="rect">
            <a:avLst/>
          </a:prstGeom>
          <a:noFill/>
        </p:spPr>
        <p:txBody>
          <a:bodyPr wrap="square" anchor="t" lIns="45720" rIns="45720" tIns="27432" bIns="27432">
            <a:spAutoFit/>
          </a:bodyPr>
          <a:lstStyle/>
          <a:p>
            <a:pPr algn="l"/>
            <a:r>
              <a:rPr sz="2000" b="1" i="0">
                <a:solidFill>
                  <a:srgbClr val="FFFFFF"/>
                </a:solidFill>
                <a:latin typeface="Segoe UI"/>
              </a:rPr>
              <a:t>Deployment, Testing &amp; Honest Project Limitations</a:t>
            </a:r>
          </a:p>
        </p:txBody>
      </p:sp>
      <p:sp>
        <p:nvSpPr>
          <p:cNvPr id="8" name="TextBox 7"/>
          <p:cNvSpPr txBox="1"/>
          <p:nvPr/>
        </p:nvSpPr>
        <p:spPr>
          <a:xfrm>
            <a:off x="384048" y="685800"/>
            <a:ext cx="10515600" cy="219456"/>
          </a:xfrm>
          <a:prstGeom prst="rect">
            <a:avLst/>
          </a:prstGeom>
          <a:noFill/>
        </p:spPr>
        <p:txBody>
          <a:bodyPr wrap="square" anchor="t" lIns="45720" rIns="45720" tIns="27432" bIns="27432">
            <a:spAutoFit/>
          </a:bodyPr>
          <a:lstStyle/>
          <a:p>
            <a:pPr algn="l"/>
            <a:r>
              <a:rPr sz="1100" b="0" i="0">
                <a:solidFill>
                  <a:srgbClr val="94A3B8"/>
                </a:solidFill>
                <a:latin typeface="Segoe UI"/>
              </a:rPr>
              <a:t>Docker Swarm &amp; Tailscale setup, automated unit tests, and current technical limitations</a:t>
            </a:r>
          </a:p>
        </p:txBody>
      </p:sp>
      <p:sp>
        <p:nvSpPr>
          <p:cNvPr id="9" name="Rounded Rectangle 8"/>
          <p:cNvSpPr/>
          <p:nvPr/>
        </p:nvSpPr>
        <p:spPr>
          <a:xfrm>
            <a:off x="11109960" y="219456"/>
            <a:ext cx="685800" cy="384048"/>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09960" y="219456"/>
            <a:ext cx="685800" cy="384048"/>
          </a:xfrm>
          <a:prstGeom prst="rect">
            <a:avLst/>
          </a:prstGeom>
          <a:noFill/>
        </p:spPr>
        <p:txBody>
          <a:bodyPr wrap="square" anchor="ctr" lIns="45720" rIns="45720" tIns="27432" bIns="27432">
            <a:spAutoFit/>
          </a:bodyPr>
          <a:lstStyle/>
          <a:p>
            <a:pPr algn="ctr"/>
            <a:r>
              <a:rPr sz="1000" b="1" i="0">
                <a:solidFill>
                  <a:srgbClr val="00D4FF"/>
                </a:solidFill>
                <a:latin typeface="Segoe UI"/>
              </a:rPr>
              <a:t>11 / 12</a:t>
            </a:r>
          </a:p>
        </p:txBody>
      </p:sp>
      <p:sp>
        <p:nvSpPr>
          <p:cNvPr id="11" name="Rectangle 10"/>
          <p:cNvSpPr/>
          <p:nvPr/>
        </p:nvSpPr>
        <p:spPr>
          <a:xfrm>
            <a:off x="0" y="6510528"/>
            <a:ext cx="12191695" cy="347472"/>
          </a:xfrm>
          <a:prstGeom prst="rect">
            <a:avLst/>
          </a:prstGeom>
          <a:solidFill>
            <a:srgbClr val="0D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501384"/>
            <a:ext cx="12191695" cy="9144"/>
          </a:xfrm>
          <a:prstGeom prst="rect">
            <a:avLst/>
          </a:prstGeom>
          <a:solidFill>
            <a:srgbClr val="233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6547104"/>
            <a:ext cx="8046720" cy="237744"/>
          </a:xfrm>
          <a:prstGeom prst="rect">
            <a:avLst/>
          </a:prstGeom>
          <a:noFill/>
        </p:spPr>
        <p:txBody>
          <a:bodyPr wrap="square" anchor="t" lIns="45720" rIns="45720" tIns="27432" bIns="27432">
            <a:spAutoFit/>
          </a:bodyPr>
          <a:lstStyle/>
          <a:p>
            <a:pPr algn="l"/>
            <a:r>
              <a:rPr sz="850" b="0" i="0">
                <a:solidFill>
                  <a:srgbClr val="94A3B8"/>
                </a:solidFill>
                <a:latin typeface="Segoe UI"/>
              </a:rPr>
              <a:t>Source: NASA N-CMAPSS Dataset &amp; Verified Project Pipeline Logs</a:t>
            </a:r>
          </a:p>
        </p:txBody>
      </p:sp>
      <p:sp>
        <p:nvSpPr>
          <p:cNvPr id="14" name="TextBox 13"/>
          <p:cNvSpPr txBox="1"/>
          <p:nvPr/>
        </p:nvSpPr>
        <p:spPr>
          <a:xfrm>
            <a:off x="8503920" y="6547104"/>
            <a:ext cx="3291840" cy="237744"/>
          </a:xfrm>
          <a:prstGeom prst="rect">
            <a:avLst/>
          </a:prstGeom>
          <a:noFill/>
        </p:spPr>
        <p:txBody>
          <a:bodyPr wrap="square" anchor="t" lIns="45720" rIns="45720" tIns="27432" bIns="27432">
            <a:spAutoFit/>
          </a:bodyPr>
          <a:lstStyle/>
          <a:p>
            <a:pPr algn="r"/>
            <a:r>
              <a:rPr sz="850" b="0" i="0">
                <a:solidFill>
                  <a:srgbClr val="94A3B8"/>
                </a:solidFill>
                <a:latin typeface="Segoe UI"/>
              </a:rPr>
              <a:t>Aircraft Engine Predictive Maintenance | Big Data Project</a:t>
            </a:r>
          </a:p>
        </p:txBody>
      </p:sp>
      <p:sp>
        <p:nvSpPr>
          <p:cNvPr id="15" name="Rounded Rectangle 14"/>
          <p:cNvSpPr/>
          <p:nvPr/>
        </p:nvSpPr>
        <p:spPr>
          <a:xfrm>
            <a:off x="384048" y="1078992"/>
            <a:ext cx="5577840" cy="3063240"/>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4048" y="1078992"/>
            <a:ext cx="5577840"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4048" y="1133856"/>
            <a:ext cx="5577840"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2064" y="1152144"/>
            <a:ext cx="5321807" cy="292608"/>
          </a:xfrm>
          <a:prstGeom prst="rect">
            <a:avLst/>
          </a:prstGeom>
          <a:noFill/>
        </p:spPr>
        <p:txBody>
          <a:bodyPr wrap="square" anchor="ctr" lIns="45720" rIns="45720" tIns="27432" bIns="27432">
            <a:spAutoFit/>
          </a:bodyPr>
          <a:lstStyle/>
          <a:p>
            <a:pPr algn="l"/>
            <a:r>
              <a:rPr sz="1150" b="1" i="0">
                <a:solidFill>
                  <a:srgbClr val="FFFFFF"/>
                </a:solidFill>
                <a:latin typeface="Segoe UI"/>
              </a:rPr>
              <a:t>DOCKER SWARM CONFIG (`compose/docker-stack-swarm.yml`)</a:t>
            </a:r>
          </a:p>
        </p:txBody>
      </p:sp>
      <p:pic>
        <p:nvPicPr>
          <p:cNvPr id="19" name="Picture 18" descr="vscode_swarm.png"/>
          <p:cNvPicPr>
            <a:picLocks noChangeAspect="1"/>
          </p:cNvPicPr>
          <p:nvPr/>
        </p:nvPicPr>
        <p:blipFill>
          <a:blip r:embed="rId2"/>
          <a:stretch>
            <a:fillRect/>
          </a:stretch>
        </p:blipFill>
        <p:spPr>
          <a:xfrm>
            <a:off x="493776" y="1517904"/>
            <a:ext cx="5358384" cy="2846642"/>
          </a:xfrm>
          <a:prstGeom prst="rect">
            <a:avLst/>
          </a:prstGeom>
        </p:spPr>
      </p:pic>
      <p:sp>
        <p:nvSpPr>
          <p:cNvPr id="20" name="Rounded Rectangle 19"/>
          <p:cNvSpPr/>
          <p:nvPr/>
        </p:nvSpPr>
        <p:spPr>
          <a:xfrm>
            <a:off x="384048" y="4261104"/>
            <a:ext cx="5577840" cy="2103120"/>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84048" y="4261104"/>
            <a:ext cx="557784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84048" y="4315968"/>
            <a:ext cx="5577840"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2064" y="4334256"/>
            <a:ext cx="5321807" cy="292608"/>
          </a:xfrm>
          <a:prstGeom prst="rect">
            <a:avLst/>
          </a:prstGeom>
          <a:noFill/>
        </p:spPr>
        <p:txBody>
          <a:bodyPr wrap="square" anchor="ctr" lIns="45720" rIns="45720" tIns="27432" bIns="27432">
            <a:spAutoFit/>
          </a:bodyPr>
          <a:lstStyle/>
          <a:p>
            <a:pPr algn="l"/>
            <a:r>
              <a:rPr sz="1150" b="1" i="0">
                <a:solidFill>
                  <a:srgbClr val="FFFFFF"/>
                </a:solidFill>
                <a:latin typeface="Segoe UI"/>
              </a:rPr>
              <a:t>MULTI-NODE DESIGN VS. ACTUAL RUNNING STATUS</a:t>
            </a:r>
          </a:p>
        </p:txBody>
      </p:sp>
      <p:sp>
        <p:nvSpPr>
          <p:cNvPr id="24" name="TextBox 23"/>
          <p:cNvSpPr txBox="1"/>
          <p:nvPr/>
        </p:nvSpPr>
        <p:spPr>
          <a:xfrm>
            <a:off x="493776" y="4681728"/>
            <a:ext cx="5358384" cy="1609344"/>
          </a:xfrm>
          <a:prstGeom prst="rect">
            <a:avLst/>
          </a:prstGeom>
          <a:noFill/>
        </p:spPr>
        <p:txBody>
          <a:bodyPr wrap="square" lIns="54864" rIns="54864" tIns="36576" bIns="36576">
            <a:spAutoFit/>
          </a:bodyPr>
          <a:lstStyle/>
          <a:p>
            <a:pPr algn="l">
              <a:spcAft>
                <a:spcPts val="400"/>
              </a:spcAft>
            </a:pPr>
            <a:r>
              <a:rPr sz="980" b="1">
                <a:solidFill>
                  <a:srgbClr val="F59E0B"/>
                </a:solidFill>
                <a:latin typeface="Segoe UI"/>
              </a:rPr>
              <a:t>▸ </a:t>
            </a:r>
            <a:r>
              <a:rPr sz="980" b="1">
                <a:solidFill>
                  <a:srgbClr val="FFFFFF"/>
                </a:solidFill>
                <a:latin typeface="Segoe UI"/>
              </a:rPr>
              <a:t>Configured 3-Node Swarm Plan: </a:t>
            </a:r>
            <a:r>
              <a:rPr sz="919" b="0">
                <a:solidFill>
                  <a:srgbClr val="E2E8F0"/>
                </a:solidFill>
                <a:latin typeface="Segoe UI"/>
              </a:rPr>
              <a:t>Designed to split containers across 3 team laptops connected by a private Tailscale VPN network (`mtu: 1200`).</a:t>
            </a:r>
          </a:p>
          <a:p>
            <a:pPr algn="l">
              <a:spcAft>
                <a:spcPts val="400"/>
              </a:spcAft>
            </a:pPr>
            <a:r>
              <a:rPr sz="980" b="1">
                <a:solidFill>
                  <a:srgbClr val="F59E0B"/>
                </a:solidFill>
                <a:latin typeface="Segoe UI"/>
              </a:rPr>
              <a:t>▸ </a:t>
            </a:r>
            <a:r>
              <a:rPr sz="980" b="1">
                <a:solidFill>
                  <a:srgbClr val="FFFFFF"/>
                </a:solidFill>
                <a:latin typeface="Segoe UI"/>
              </a:rPr>
              <a:t>Actual Running Status Today (Honest Report): </a:t>
            </a:r>
            <a:r>
              <a:rPr sz="919" b="0">
                <a:solidFill>
                  <a:srgbClr val="E2E8F0"/>
                </a:solidFill>
                <a:latin typeface="Segoe UI"/>
              </a:rPr>
              <a:t>Currently running on 1 local Docker Desktop node (`Tailscale is stopped`), where all 11 containers (Airflow, Spark, HDFS, Kafka, ClickHouse, Superset) are up and healthy via Docker Compose.</a:t>
            </a:r>
          </a:p>
        </p:txBody>
      </p:sp>
      <p:sp>
        <p:nvSpPr>
          <p:cNvPr id="25" name="Rounded Rectangle 24"/>
          <p:cNvSpPr/>
          <p:nvPr/>
        </p:nvSpPr>
        <p:spPr>
          <a:xfrm>
            <a:off x="6126480" y="1078992"/>
            <a:ext cx="5678424" cy="2423160"/>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0" y="1078992"/>
            <a:ext cx="5678424"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26480" y="1133856"/>
            <a:ext cx="5678424"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54496" y="1152144"/>
            <a:ext cx="5422392" cy="292608"/>
          </a:xfrm>
          <a:prstGeom prst="rect">
            <a:avLst/>
          </a:prstGeom>
          <a:noFill/>
        </p:spPr>
        <p:txBody>
          <a:bodyPr wrap="square" anchor="ctr" lIns="45720" rIns="45720" tIns="27432" bIns="27432">
            <a:spAutoFit/>
          </a:bodyPr>
          <a:lstStyle/>
          <a:p>
            <a:pPr algn="l"/>
            <a:r>
              <a:rPr sz="1150" b="1" i="0">
                <a:solidFill>
                  <a:srgbClr val="FFFFFF"/>
                </a:solidFill>
                <a:latin typeface="Segoe UI"/>
              </a:rPr>
              <a:t>AUTOMATED UNIT TESTS &amp; CI (`tests/test_pipeline.py`)</a:t>
            </a:r>
          </a:p>
        </p:txBody>
      </p:sp>
      <p:sp>
        <p:nvSpPr>
          <p:cNvPr id="29" name="TextBox 28"/>
          <p:cNvSpPr txBox="1"/>
          <p:nvPr/>
        </p:nvSpPr>
        <p:spPr>
          <a:xfrm>
            <a:off x="6236208" y="1517904"/>
            <a:ext cx="5449824" cy="1920240"/>
          </a:xfrm>
          <a:prstGeom prst="rect">
            <a:avLst/>
          </a:prstGeom>
          <a:noFill/>
        </p:spPr>
        <p:txBody>
          <a:bodyPr wrap="square" lIns="54864" rIns="54864" tIns="36576" bIns="36576">
            <a:spAutoFit/>
          </a:bodyPr>
          <a:lstStyle/>
          <a:p>
            <a:pPr algn="l">
              <a:spcAft>
                <a:spcPts val="400"/>
              </a:spcAft>
            </a:pPr>
            <a:r>
              <a:rPr sz="1000" b="1">
                <a:solidFill>
                  <a:srgbClr val="10B981"/>
                </a:solidFill>
                <a:latin typeface="Segoe UI"/>
              </a:rPr>
              <a:t>▸ </a:t>
            </a:r>
            <a:r>
              <a:rPr sz="1000" b="1">
                <a:solidFill>
                  <a:srgbClr val="FFFFFF"/>
                </a:solidFill>
                <a:latin typeface="Segoe UI"/>
              </a:rPr>
              <a:t>GitHub Actions CI (`.github/workflows/ci.yml`): </a:t>
            </a:r>
            <a:r>
              <a:rPr sz="940" b="0">
                <a:solidFill>
                  <a:srgbClr val="E2E8F0"/>
                </a:solidFill>
                <a:latin typeface="Segoe UI"/>
              </a:rPr>
              <a:t>Automatically runs `ruff` code checks and `pytest` on every push to `main`.</a:t>
            </a:r>
          </a:p>
          <a:p>
            <a:pPr algn="l">
              <a:spcAft>
                <a:spcPts val="400"/>
              </a:spcAft>
            </a:pPr>
            <a:r>
              <a:rPr sz="1000" b="1">
                <a:solidFill>
                  <a:srgbClr val="10B981"/>
                </a:solidFill>
                <a:latin typeface="Segoe UI"/>
              </a:rPr>
              <a:t>▸ </a:t>
            </a:r>
            <a:r>
              <a:rPr sz="1000" b="1">
                <a:solidFill>
                  <a:srgbClr val="FFFFFF"/>
                </a:solidFill>
                <a:latin typeface="Segoe UI"/>
              </a:rPr>
              <a:t>4 Verified Unit Tests: </a:t>
            </a:r>
            <a:r>
              <a:rPr sz="940" b="0">
                <a:solidFill>
                  <a:srgbClr val="E2E8F0"/>
                </a:solidFill>
                <a:latin typeface="Segoe UI"/>
              </a:rPr>
              <a:t>1. HDF5-to-Parquet chunk conversion and column names check
2. Kafka JSON message format and corrupted message injection
3. Disjoint engine-unit split check (zero data leakage)
4. Dead-Letter Queue (DLQ) filter check for invalid messages</a:t>
            </a:r>
          </a:p>
        </p:txBody>
      </p:sp>
      <p:sp>
        <p:nvSpPr>
          <p:cNvPr id="30" name="Rounded Rectangle 29"/>
          <p:cNvSpPr/>
          <p:nvPr/>
        </p:nvSpPr>
        <p:spPr>
          <a:xfrm>
            <a:off x="6126480" y="3639312"/>
            <a:ext cx="5678424" cy="2724912"/>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26480" y="3639312"/>
            <a:ext cx="5678424" cy="54864"/>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26480" y="3694176"/>
            <a:ext cx="5678424"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54496" y="3712463"/>
            <a:ext cx="5422392" cy="292608"/>
          </a:xfrm>
          <a:prstGeom prst="rect">
            <a:avLst/>
          </a:prstGeom>
          <a:noFill/>
        </p:spPr>
        <p:txBody>
          <a:bodyPr wrap="square" anchor="ctr" lIns="45720" rIns="45720" tIns="27432" bIns="27432">
            <a:spAutoFit/>
          </a:bodyPr>
          <a:lstStyle/>
          <a:p>
            <a:pPr algn="l"/>
            <a:r>
              <a:rPr sz="1150" b="1" i="0">
                <a:solidFill>
                  <a:srgbClr val="FFFFFF"/>
                </a:solidFill>
                <a:latin typeface="Segoe UI"/>
              </a:rPr>
              <a:t>CURRENT LIMITATIONS &amp; REMAINING ISSUES</a:t>
            </a:r>
          </a:p>
        </p:txBody>
      </p:sp>
      <p:sp>
        <p:nvSpPr>
          <p:cNvPr id="34" name="TextBox 33"/>
          <p:cNvSpPr txBox="1"/>
          <p:nvPr/>
        </p:nvSpPr>
        <p:spPr>
          <a:xfrm>
            <a:off x="6236208" y="4078224"/>
            <a:ext cx="5449824" cy="2212848"/>
          </a:xfrm>
          <a:prstGeom prst="rect">
            <a:avLst/>
          </a:prstGeom>
          <a:noFill/>
        </p:spPr>
        <p:txBody>
          <a:bodyPr wrap="square" lIns="54864" rIns="54864" tIns="36576" bIns="36576">
            <a:spAutoFit/>
          </a:bodyPr>
          <a:lstStyle/>
          <a:p>
            <a:pPr algn="l">
              <a:spcAft>
                <a:spcPts val="350"/>
              </a:spcAft>
            </a:pPr>
            <a:r>
              <a:rPr sz="980" b="1">
                <a:solidFill>
                  <a:srgbClr val="EF4444"/>
                </a:solidFill>
                <a:latin typeface="Segoe UI"/>
              </a:rPr>
              <a:t>▸ </a:t>
            </a:r>
            <a:r>
              <a:rPr sz="980" b="1">
                <a:solidFill>
                  <a:srgbClr val="FFFFFF"/>
                </a:solidFill>
                <a:latin typeface="Segoe UI"/>
              </a:rPr>
              <a:t>1. Single-Machine Memory Limits: </a:t>
            </a:r>
            <a:r>
              <a:rPr sz="919" b="0">
                <a:solidFill>
                  <a:srgbClr val="E2E8F0"/>
                </a:solidFill>
                <a:latin typeface="Segoe UI"/>
              </a:rPr>
              <a:t>To avoid RAM crashes on 1 laptop, ML training samples 10% of rows (`--sample-ratio 0.1`) and ClickHouse loads 50,000 predictions per run.</a:t>
            </a:r>
          </a:p>
          <a:p>
            <a:pPr algn="l">
              <a:spcAft>
                <a:spcPts val="350"/>
              </a:spcAft>
            </a:pPr>
            <a:r>
              <a:rPr sz="980" b="1">
                <a:solidFill>
                  <a:srgbClr val="EF4444"/>
                </a:solidFill>
                <a:latin typeface="Segoe UI"/>
              </a:rPr>
              <a:t>▸ </a:t>
            </a:r>
            <a:r>
              <a:rPr sz="980" b="1">
                <a:solidFill>
                  <a:srgbClr val="FFFFFF"/>
                </a:solidFill>
                <a:latin typeface="Segoe UI"/>
              </a:rPr>
              <a:t>2. Airflow Step 10 Network Name: </a:t>
            </a:r>
            <a:r>
              <a:rPr sz="919" b="0">
                <a:solidFill>
                  <a:srgbClr val="E2E8F0"/>
                </a:solidFill>
                <a:latin typeface="Segoe UI"/>
              </a:rPr>
              <a:t>In local Compose mode, Step 10 fails if it looks for network `aircraft_bigdata_swarm` instead of `compose_default`.</a:t>
            </a:r>
          </a:p>
          <a:p>
            <a:pPr algn="l">
              <a:spcAft>
                <a:spcPts val="350"/>
              </a:spcAft>
            </a:pPr>
            <a:r>
              <a:rPr sz="980" b="1">
                <a:solidFill>
                  <a:srgbClr val="EF4444"/>
                </a:solidFill>
                <a:latin typeface="Segoe UI"/>
              </a:rPr>
              <a:t>▸ </a:t>
            </a:r>
            <a:r>
              <a:rPr sz="980" b="1">
                <a:solidFill>
                  <a:srgbClr val="FFFFFF"/>
                </a:solidFill>
                <a:latin typeface="Segoe UI"/>
              </a:rPr>
              <a:t>3. DS03-012 Not Yet in Default DAG: </a:t>
            </a:r>
            <a:r>
              <a:rPr sz="919" b="0">
                <a:solidFill>
                  <a:srgbClr val="E2E8F0"/>
                </a:solidFill>
                <a:latin typeface="Segoe UI"/>
              </a:rPr>
              <a:t>DS03-012 (9.82M rows) is converted to Parquet on disk, but the Airflow DAG currently runs on DS01-005 by default.</a:t>
            </a:r>
          </a:p>
          <a:p>
            <a:pPr algn="l">
              <a:spcAft>
                <a:spcPts val="350"/>
              </a:spcAft>
            </a:pPr>
            <a:r>
              <a:rPr sz="980" b="1">
                <a:solidFill>
                  <a:srgbClr val="EF4444"/>
                </a:solidFill>
                <a:latin typeface="Segoe UI"/>
              </a:rPr>
              <a:t>▸ </a:t>
            </a:r>
            <a:r>
              <a:rPr sz="980" b="1">
                <a:solidFill>
                  <a:srgbClr val="FFFFFF"/>
                </a:solidFill>
                <a:latin typeface="Segoe UI"/>
              </a:rPr>
              <a:t>4. Replayed Data, Not Live Flight: </a:t>
            </a:r>
            <a:r>
              <a:rPr sz="919" b="0">
                <a:solidFill>
                  <a:srgbClr val="E2E8F0"/>
                </a:solidFill>
                <a:latin typeface="Segoe UI"/>
              </a:rPr>
              <a:t>Kafka streams historical NASA data rather than live sensors from a real airplane.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12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91695" cy="877824"/>
          </a:xfrm>
          <a:prstGeom prst="rect">
            <a:avLst/>
          </a:prstGeom>
          <a:solidFill>
            <a:srgbClr val="0D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32688"/>
            <a:ext cx="12191695" cy="13716"/>
          </a:xfrm>
          <a:prstGeom prst="rect">
            <a:avLst/>
          </a:prstGeom>
          <a:solidFill>
            <a:srgbClr val="233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5448"/>
            <a:ext cx="2103120" cy="219456"/>
          </a:xfrm>
          <a:prstGeom prst="roundRect">
            <a:avLst>
              <a:gd name="adj" fmla="val 2500"/>
            </a:avLst>
          </a:prstGeom>
          <a:solidFill>
            <a:srgbClr val="162440"/>
          </a:solidFill>
          <a:ln w="1270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55448"/>
            <a:ext cx="2103120" cy="219456"/>
          </a:xfrm>
          <a:prstGeom prst="rect">
            <a:avLst/>
          </a:prstGeom>
          <a:noFill/>
        </p:spPr>
        <p:txBody>
          <a:bodyPr wrap="square" anchor="ctr" lIns="45720" rIns="45720" tIns="27432" bIns="27432">
            <a:spAutoFit/>
          </a:bodyPr>
          <a:lstStyle/>
          <a:p>
            <a:pPr algn="ctr"/>
            <a:r>
              <a:rPr sz="850" b="1" i="0">
                <a:solidFill>
                  <a:srgbClr val="00D4FF"/>
                </a:solidFill>
                <a:latin typeface="Segoe UI"/>
              </a:rPr>
              <a:t>11. CONCLUSION &amp; NEXT STEPS</a:t>
            </a:r>
          </a:p>
        </p:txBody>
      </p:sp>
      <p:sp>
        <p:nvSpPr>
          <p:cNvPr id="7" name="TextBox 6"/>
          <p:cNvSpPr txBox="1"/>
          <p:nvPr/>
        </p:nvSpPr>
        <p:spPr>
          <a:xfrm>
            <a:off x="384048" y="384048"/>
            <a:ext cx="9875520" cy="329184"/>
          </a:xfrm>
          <a:prstGeom prst="rect">
            <a:avLst/>
          </a:prstGeom>
          <a:noFill/>
        </p:spPr>
        <p:txBody>
          <a:bodyPr wrap="square" anchor="t" lIns="45720" rIns="45720" tIns="27432" bIns="27432">
            <a:spAutoFit/>
          </a:bodyPr>
          <a:lstStyle/>
          <a:p>
            <a:pPr algn="l"/>
            <a:r>
              <a:rPr sz="2000" b="1" i="0">
                <a:solidFill>
                  <a:srgbClr val="FFFFFF"/>
                </a:solidFill>
                <a:latin typeface="Segoe UI"/>
              </a:rPr>
              <a:t>Conclusion, Verified Achievements &amp; Future Work</a:t>
            </a:r>
          </a:p>
        </p:txBody>
      </p:sp>
      <p:sp>
        <p:nvSpPr>
          <p:cNvPr id="8" name="TextBox 7"/>
          <p:cNvSpPr txBox="1"/>
          <p:nvPr/>
        </p:nvSpPr>
        <p:spPr>
          <a:xfrm>
            <a:off x="384048" y="685800"/>
            <a:ext cx="10515600" cy="219456"/>
          </a:xfrm>
          <a:prstGeom prst="rect">
            <a:avLst/>
          </a:prstGeom>
          <a:noFill/>
        </p:spPr>
        <p:txBody>
          <a:bodyPr wrap="square" anchor="t" lIns="45720" rIns="45720" tIns="27432" bIns="27432">
            <a:spAutoFit/>
          </a:bodyPr>
          <a:lstStyle/>
          <a:p>
            <a:pPr algn="l"/>
            <a:r>
              <a:rPr sz="1100" b="0" i="0">
                <a:solidFill>
                  <a:srgbClr val="94A3B8"/>
                </a:solidFill>
                <a:latin typeface="Segoe UI"/>
              </a:rPr>
              <a:t>Summary of what we built and tested, plus realistic next steps for the project</a:t>
            </a:r>
          </a:p>
        </p:txBody>
      </p:sp>
      <p:sp>
        <p:nvSpPr>
          <p:cNvPr id="9" name="Rounded Rectangle 8"/>
          <p:cNvSpPr/>
          <p:nvPr/>
        </p:nvSpPr>
        <p:spPr>
          <a:xfrm>
            <a:off x="11109960" y="219456"/>
            <a:ext cx="685800" cy="384048"/>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09960" y="219456"/>
            <a:ext cx="685800" cy="384048"/>
          </a:xfrm>
          <a:prstGeom prst="rect">
            <a:avLst/>
          </a:prstGeom>
          <a:noFill/>
        </p:spPr>
        <p:txBody>
          <a:bodyPr wrap="square" anchor="ctr" lIns="45720" rIns="45720" tIns="27432" bIns="27432">
            <a:spAutoFit/>
          </a:bodyPr>
          <a:lstStyle/>
          <a:p>
            <a:pPr algn="ctr"/>
            <a:r>
              <a:rPr sz="1000" b="1" i="0">
                <a:solidFill>
                  <a:srgbClr val="00D4FF"/>
                </a:solidFill>
                <a:latin typeface="Segoe UI"/>
              </a:rPr>
              <a:t>12 / 12</a:t>
            </a:r>
          </a:p>
        </p:txBody>
      </p:sp>
      <p:sp>
        <p:nvSpPr>
          <p:cNvPr id="11" name="Rectangle 10"/>
          <p:cNvSpPr/>
          <p:nvPr/>
        </p:nvSpPr>
        <p:spPr>
          <a:xfrm>
            <a:off x="0" y="6510528"/>
            <a:ext cx="12191695" cy="347472"/>
          </a:xfrm>
          <a:prstGeom prst="rect">
            <a:avLst/>
          </a:prstGeom>
          <a:solidFill>
            <a:srgbClr val="0D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501384"/>
            <a:ext cx="12191695" cy="9144"/>
          </a:xfrm>
          <a:prstGeom prst="rect">
            <a:avLst/>
          </a:prstGeom>
          <a:solidFill>
            <a:srgbClr val="233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6547104"/>
            <a:ext cx="8046720" cy="237744"/>
          </a:xfrm>
          <a:prstGeom prst="rect">
            <a:avLst/>
          </a:prstGeom>
          <a:noFill/>
        </p:spPr>
        <p:txBody>
          <a:bodyPr wrap="square" anchor="t" lIns="45720" rIns="45720" tIns="27432" bIns="27432">
            <a:spAutoFit/>
          </a:bodyPr>
          <a:lstStyle/>
          <a:p>
            <a:pPr algn="l"/>
            <a:r>
              <a:rPr sz="850" b="0" i="0">
                <a:solidFill>
                  <a:srgbClr val="94A3B8"/>
                </a:solidFill>
                <a:latin typeface="Segoe UI"/>
              </a:rPr>
              <a:t>Source: NASA N-CMAPSS Dataset &amp; Verified Project Pipeline Logs</a:t>
            </a:r>
          </a:p>
        </p:txBody>
      </p:sp>
      <p:sp>
        <p:nvSpPr>
          <p:cNvPr id="14" name="TextBox 13"/>
          <p:cNvSpPr txBox="1"/>
          <p:nvPr/>
        </p:nvSpPr>
        <p:spPr>
          <a:xfrm>
            <a:off x="8503920" y="6547104"/>
            <a:ext cx="3291840" cy="237744"/>
          </a:xfrm>
          <a:prstGeom prst="rect">
            <a:avLst/>
          </a:prstGeom>
          <a:noFill/>
        </p:spPr>
        <p:txBody>
          <a:bodyPr wrap="square" anchor="t" lIns="45720" rIns="45720" tIns="27432" bIns="27432">
            <a:spAutoFit/>
          </a:bodyPr>
          <a:lstStyle/>
          <a:p>
            <a:pPr algn="r"/>
            <a:r>
              <a:rPr sz="850" b="0" i="0">
                <a:solidFill>
                  <a:srgbClr val="94A3B8"/>
                </a:solidFill>
                <a:latin typeface="Segoe UI"/>
              </a:rPr>
              <a:t>Aircraft Engine Predictive Maintenance | Big Data Project</a:t>
            </a:r>
          </a:p>
        </p:txBody>
      </p:sp>
      <p:sp>
        <p:nvSpPr>
          <p:cNvPr id="15" name="Rounded Rectangle 14"/>
          <p:cNvSpPr/>
          <p:nvPr/>
        </p:nvSpPr>
        <p:spPr>
          <a:xfrm>
            <a:off x="384048" y="1078992"/>
            <a:ext cx="5623560" cy="3794760"/>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4048" y="1078992"/>
            <a:ext cx="562356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4048" y="1133856"/>
            <a:ext cx="5623560"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2064" y="1152144"/>
            <a:ext cx="5367528" cy="292608"/>
          </a:xfrm>
          <a:prstGeom prst="rect">
            <a:avLst/>
          </a:prstGeom>
          <a:noFill/>
        </p:spPr>
        <p:txBody>
          <a:bodyPr wrap="square" anchor="ctr" lIns="45720" rIns="45720" tIns="27432" bIns="27432">
            <a:spAutoFit/>
          </a:bodyPr>
          <a:lstStyle/>
          <a:p>
            <a:pPr algn="l"/>
            <a:r>
              <a:rPr sz="1150" b="1" i="0">
                <a:solidFill>
                  <a:srgbClr val="FFFFFF"/>
                </a:solidFill>
                <a:latin typeface="Segoe UI"/>
              </a:rPr>
              <a:t>WHAT WE SUCCESSFULLY ACHIEVED</a:t>
            </a:r>
          </a:p>
        </p:txBody>
      </p:sp>
      <p:sp>
        <p:nvSpPr>
          <p:cNvPr id="19" name="TextBox 18"/>
          <p:cNvSpPr txBox="1"/>
          <p:nvPr/>
        </p:nvSpPr>
        <p:spPr>
          <a:xfrm>
            <a:off x="493776" y="1536192"/>
            <a:ext cx="5394960" cy="3246120"/>
          </a:xfrm>
          <a:prstGeom prst="rect">
            <a:avLst/>
          </a:prstGeom>
          <a:noFill/>
        </p:spPr>
        <p:txBody>
          <a:bodyPr wrap="square" lIns="54864" rIns="54864" tIns="36576" bIns="36576">
            <a:spAutoFit/>
          </a:bodyPr>
          <a:lstStyle/>
          <a:p>
            <a:pPr algn="l">
              <a:spcAft>
                <a:spcPts val="500"/>
              </a:spcAft>
            </a:pPr>
            <a:r>
              <a:rPr sz="1019" b="1">
                <a:solidFill>
                  <a:srgbClr val="10B981"/>
                </a:solidFill>
                <a:latin typeface="Segoe UI"/>
              </a:rPr>
              <a:t>▸ </a:t>
            </a:r>
            <a:r>
              <a:rPr sz="1019" b="1">
                <a:solidFill>
                  <a:srgbClr val="FFFFFF"/>
                </a:solidFill>
                <a:latin typeface="Segoe UI"/>
              </a:rPr>
              <a:t>Complete End-to-End Big Data Pipeline: </a:t>
            </a:r>
            <a:r>
              <a:rPr sz="960" b="0">
                <a:solidFill>
                  <a:srgbClr val="E2E8F0"/>
                </a:solidFill>
                <a:latin typeface="Segoe UI"/>
              </a:rPr>
              <a:t>Connected NASA HDF5 data (6.12 GB, 17.46M rows) -&gt; Parquet -&gt; HDFS -&gt; Spark Batch &amp; Streaming -&gt; Spark MLlib -&gt; Airflow -&gt; ClickHouse -&gt; Superset.</a:t>
            </a:r>
          </a:p>
          <a:p>
            <a:pPr algn="l">
              <a:spcAft>
                <a:spcPts val="500"/>
              </a:spcAft>
            </a:pPr>
            <a:r>
              <a:rPr sz="1019" b="1">
                <a:solidFill>
                  <a:srgbClr val="10B981"/>
                </a:solidFill>
                <a:latin typeface="Segoe UI"/>
              </a:rPr>
              <a:t>▸ </a:t>
            </a:r>
            <a:r>
              <a:rPr sz="1019" b="1">
                <a:solidFill>
                  <a:srgbClr val="FFFFFF"/>
                </a:solidFill>
                <a:latin typeface="Segoe UI"/>
              </a:rPr>
              <a:t>Accurate RUL Prediction Without Leakage: </a:t>
            </a:r>
            <a:r>
              <a:rPr sz="960" b="0">
                <a:solidFill>
                  <a:srgbClr val="E2E8F0"/>
                </a:solidFill>
                <a:latin typeface="Segoe UI"/>
              </a:rPr>
              <a:t>Split engines by unit ID and trained 3 models. Random Forest won with RMSE = 6.36 (R² = 0.945) on unseen Engine 6 and RMSE = 7.51 (R² = 0.906) across 2.73M test rows.</a:t>
            </a:r>
          </a:p>
          <a:p>
            <a:pPr algn="l">
              <a:spcAft>
                <a:spcPts val="500"/>
              </a:spcAft>
            </a:pPr>
            <a:r>
              <a:rPr sz="1019" b="1">
                <a:solidFill>
                  <a:srgbClr val="10B981"/>
                </a:solidFill>
                <a:latin typeface="Segoe UI"/>
              </a:rPr>
              <a:t>▸ </a:t>
            </a:r>
            <a:r>
              <a:rPr sz="1019" b="1">
                <a:solidFill>
                  <a:srgbClr val="FFFFFF"/>
                </a:solidFill>
                <a:latin typeface="Segoe UI"/>
              </a:rPr>
              <a:t>Reliable Streaming with Quarantine (DLQ): </a:t>
            </a:r>
            <a:r>
              <a:rPr sz="960" b="0">
                <a:solidFill>
                  <a:srgbClr val="E2E8F0"/>
                </a:solidFill>
                <a:latin typeface="Segoe UI"/>
              </a:rPr>
              <a:t>Verified 41,010 Kafka messages, 30-second window stats, HDFS quarantine for bad JSON, and automatic critical alerts.</a:t>
            </a:r>
          </a:p>
          <a:p>
            <a:pPr algn="l">
              <a:spcAft>
                <a:spcPts val="500"/>
              </a:spcAft>
            </a:pPr>
            <a:r>
              <a:rPr sz="1019" b="1">
                <a:solidFill>
                  <a:srgbClr val="10B981"/>
                </a:solidFill>
                <a:latin typeface="Segoe UI"/>
              </a:rPr>
              <a:t>▸ </a:t>
            </a:r>
            <a:r>
              <a:rPr sz="1019" b="1">
                <a:solidFill>
                  <a:srgbClr val="FFFFFF"/>
                </a:solidFill>
                <a:latin typeface="Segoe UI"/>
              </a:rPr>
              <a:t>Interactive Dashboard in Superset: </a:t>
            </a:r>
            <a:r>
              <a:rPr sz="960" b="0">
                <a:solidFill>
                  <a:srgbClr val="E2E8F0"/>
                </a:solidFill>
                <a:latin typeface="Segoe UI"/>
              </a:rPr>
              <a:t>Loaded 600,000 predictions and live alerts into ClickHouse and built visual charts in Apache Superset.</a:t>
            </a:r>
          </a:p>
        </p:txBody>
      </p:sp>
      <p:sp>
        <p:nvSpPr>
          <p:cNvPr id="20" name="Rounded Rectangle 19"/>
          <p:cNvSpPr/>
          <p:nvPr/>
        </p:nvSpPr>
        <p:spPr>
          <a:xfrm>
            <a:off x="6172200" y="1078992"/>
            <a:ext cx="5632704" cy="3794760"/>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72200" y="1078992"/>
            <a:ext cx="5632704"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2200" y="1133856"/>
            <a:ext cx="5632704"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0216" y="1152144"/>
            <a:ext cx="5376672" cy="292608"/>
          </a:xfrm>
          <a:prstGeom prst="rect">
            <a:avLst/>
          </a:prstGeom>
          <a:noFill/>
        </p:spPr>
        <p:txBody>
          <a:bodyPr wrap="square" anchor="ctr" lIns="45720" rIns="45720" tIns="27432" bIns="27432">
            <a:spAutoFit/>
          </a:bodyPr>
          <a:lstStyle/>
          <a:p>
            <a:pPr algn="l"/>
            <a:r>
              <a:rPr sz="1150" b="1" i="0">
                <a:solidFill>
                  <a:srgbClr val="FFFFFF"/>
                </a:solidFill>
                <a:latin typeface="Segoe UI"/>
              </a:rPr>
              <a:t>REALISTIC FUTURE WORK</a:t>
            </a:r>
          </a:p>
        </p:txBody>
      </p:sp>
      <p:sp>
        <p:nvSpPr>
          <p:cNvPr id="24" name="TextBox 23"/>
          <p:cNvSpPr txBox="1"/>
          <p:nvPr/>
        </p:nvSpPr>
        <p:spPr>
          <a:xfrm>
            <a:off x="6281928" y="1536192"/>
            <a:ext cx="5394960" cy="3246120"/>
          </a:xfrm>
          <a:prstGeom prst="rect">
            <a:avLst/>
          </a:prstGeom>
          <a:noFill/>
        </p:spPr>
        <p:txBody>
          <a:bodyPr wrap="square" lIns="54864" rIns="54864" tIns="36576" bIns="36576">
            <a:spAutoFit/>
          </a:bodyPr>
          <a:lstStyle/>
          <a:p>
            <a:pPr algn="l">
              <a:spcAft>
                <a:spcPts val="500"/>
              </a:spcAft>
            </a:pPr>
            <a:r>
              <a:rPr sz="1019" b="1">
                <a:solidFill>
                  <a:srgbClr val="00D4FF"/>
                </a:solidFill>
                <a:latin typeface="Segoe UI"/>
              </a:rPr>
              <a:t>▸ </a:t>
            </a:r>
            <a:r>
              <a:rPr sz="1019" b="1">
                <a:solidFill>
                  <a:srgbClr val="FFFFFF"/>
                </a:solidFill>
                <a:latin typeface="Segoe UI"/>
              </a:rPr>
              <a:t>1. Train on Both DS01 &amp; DS03 Together: </a:t>
            </a:r>
            <a:r>
              <a:rPr sz="960" b="0">
                <a:solidFill>
                  <a:srgbClr val="E2E8F0"/>
                </a:solidFill>
                <a:latin typeface="Segoe UI"/>
              </a:rPr>
              <a:t>Update the Airflow DAG to train on 100% of both DS01-005 and DS03-012 across multiple Swarm machines.</a:t>
            </a:r>
          </a:p>
          <a:p>
            <a:pPr algn="l">
              <a:spcAft>
                <a:spcPts val="500"/>
              </a:spcAft>
            </a:pPr>
            <a:r>
              <a:rPr sz="1019" b="1">
                <a:solidFill>
                  <a:srgbClr val="00D4FF"/>
                </a:solidFill>
                <a:latin typeface="Segoe UI"/>
              </a:rPr>
              <a:t>▸ </a:t>
            </a:r>
            <a:r>
              <a:rPr sz="1019" b="1">
                <a:solidFill>
                  <a:srgbClr val="FFFFFF"/>
                </a:solidFill>
                <a:latin typeface="Segoe UI"/>
              </a:rPr>
              <a:t>2. Live ML Prediction Inside Spark Streaming: </a:t>
            </a:r>
            <a:r>
              <a:rPr sz="960" b="0">
                <a:solidFill>
                  <a:srgbClr val="E2E8F0"/>
                </a:solidFill>
                <a:latin typeface="Segoe UI"/>
              </a:rPr>
              <a:t>Load the saved Random Forest model inside `streaming_job.py` to predict RUL directly on incoming Kafka messages.</a:t>
            </a:r>
          </a:p>
          <a:p>
            <a:pPr algn="l">
              <a:spcAft>
                <a:spcPts val="500"/>
              </a:spcAft>
            </a:pPr>
            <a:r>
              <a:rPr sz="1019" b="1">
                <a:solidFill>
                  <a:srgbClr val="00D4FF"/>
                </a:solidFill>
                <a:latin typeface="Segoe UI"/>
              </a:rPr>
              <a:t>▸ </a:t>
            </a:r>
            <a:r>
              <a:rPr sz="1019" b="1">
                <a:solidFill>
                  <a:srgbClr val="FFFFFF"/>
                </a:solidFill>
                <a:latin typeface="Segoe UI"/>
              </a:rPr>
              <a:t>3. Fix Step 10 Network Auto-Detection: </a:t>
            </a:r>
            <a:r>
              <a:rPr sz="960" b="0">
                <a:solidFill>
                  <a:srgbClr val="E2E8F0"/>
                </a:solidFill>
                <a:latin typeface="Segoe UI"/>
              </a:rPr>
              <a:t>Update Step 10 in Airflow so it automatically detects `compose_default` vs. `aircraft_bigdata_swarm`.</a:t>
            </a:r>
          </a:p>
          <a:p>
            <a:pPr algn="l">
              <a:spcAft>
                <a:spcPts val="500"/>
              </a:spcAft>
            </a:pPr>
            <a:r>
              <a:rPr sz="1019" b="1">
                <a:solidFill>
                  <a:srgbClr val="00D4FF"/>
                </a:solidFill>
                <a:latin typeface="Segoe UI"/>
              </a:rPr>
              <a:t>▸ </a:t>
            </a:r>
            <a:r>
              <a:rPr sz="1019" b="1">
                <a:solidFill>
                  <a:srgbClr val="FFFFFF"/>
                </a:solidFill>
                <a:latin typeface="Segoe UI"/>
              </a:rPr>
              <a:t>4. Try Deep Learning (LSTM / GRU): </a:t>
            </a:r>
            <a:r>
              <a:rPr sz="960" b="0">
                <a:solidFill>
                  <a:srgbClr val="E2E8F0"/>
                </a:solidFill>
                <a:latin typeface="Segoe UI"/>
              </a:rPr>
              <a:t>Test sequence deep learning models to capture long-term sensor trends across flight cycles.</a:t>
            </a:r>
          </a:p>
        </p:txBody>
      </p:sp>
      <p:sp>
        <p:nvSpPr>
          <p:cNvPr id="25" name="Rounded Rectangle 24"/>
          <p:cNvSpPr/>
          <p:nvPr/>
        </p:nvSpPr>
        <p:spPr>
          <a:xfrm>
            <a:off x="384048" y="5010912"/>
            <a:ext cx="11420856" cy="1353312"/>
          </a:xfrm>
          <a:prstGeom prst="roundRect">
            <a:avLst>
              <a:gd name="adj" fmla="val 2500"/>
            </a:avLst>
          </a:prstGeom>
          <a:solidFill>
            <a:srgbClr val="111C33"/>
          </a:solidFill>
          <a:ln w="12700">
            <a:solidFill>
              <a:srgbClr val="233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84048" y="5010912"/>
            <a:ext cx="11420856"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4048" y="5065776"/>
            <a:ext cx="11420856" cy="329184"/>
          </a:xfrm>
          <a:prstGeom prst="rect">
            <a:avLst/>
          </a:prstGeom>
          <a:solidFill>
            <a:srgbClr val="16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2064" y="5084064"/>
            <a:ext cx="11164824" cy="292608"/>
          </a:xfrm>
          <a:prstGeom prst="rect">
            <a:avLst/>
          </a:prstGeom>
          <a:noFill/>
        </p:spPr>
        <p:txBody>
          <a:bodyPr wrap="square" anchor="ctr" lIns="45720" rIns="45720" tIns="27432" bIns="27432">
            <a:spAutoFit/>
          </a:bodyPr>
          <a:lstStyle/>
          <a:p>
            <a:pPr algn="l"/>
            <a:r>
              <a:rPr sz="1150" b="1" i="0">
                <a:solidFill>
                  <a:srgbClr val="FFFFFF"/>
                </a:solidFill>
                <a:latin typeface="Segoe UI"/>
              </a:rPr>
              <a:t>DATASET &amp; TECHNOLOGY REFERENCES</a:t>
            </a:r>
          </a:p>
        </p:txBody>
      </p:sp>
      <p:sp>
        <p:nvSpPr>
          <p:cNvPr id="29" name="TextBox 28"/>
          <p:cNvSpPr txBox="1"/>
          <p:nvPr/>
        </p:nvSpPr>
        <p:spPr>
          <a:xfrm>
            <a:off x="512064" y="5431536"/>
            <a:ext cx="11155680" cy="877824"/>
          </a:xfrm>
          <a:prstGeom prst="rect">
            <a:avLst/>
          </a:prstGeom>
          <a:noFill/>
        </p:spPr>
        <p:txBody>
          <a:bodyPr wrap="square" anchor="t" lIns="45720" rIns="45720" tIns="27432" bIns="27432">
            <a:spAutoFit/>
          </a:bodyPr>
          <a:lstStyle/>
          <a:p>
            <a:pPr algn="l"/>
            <a:r>
              <a:rPr sz="950" b="0" i="0">
                <a:solidFill>
                  <a:srgbClr val="E2E8F0"/>
                </a:solidFill>
                <a:latin typeface="Segoe UI"/>
              </a:rPr>
              <a:t>1. Dataset: Chao, M. A., Kulkarni, C., Goebel, K., &amp; Fink, O. (2021). "Aircraft Engine Run-to-Failure Dataset under Real Flight Conditions for Prognostics and Diagnostics." Data, 6(1), 5. NASA Ames Prognostics Data Repository (N-CMAPSS DS01-005 &amp; DS03-012).
2. Big Data Stack: Apache Spark 4.1.3 (SQL, Structured Streaming, MLlib), Apache Kafka 4.0.0 (KRaft), Hadoop HDFS 3.2.1, Apache Airflow 2.9.1, Apache Parquet, ClickHouse 26.9, &amp; Apache Superset 3.1.0.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